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7"/>
  </p:notesMasterIdLst>
  <p:sldIdLst>
    <p:sldId id="256" r:id="rId2"/>
    <p:sldId id="301" r:id="rId3"/>
    <p:sldId id="281" r:id="rId4"/>
    <p:sldId id="287" r:id="rId5"/>
    <p:sldId id="288" r:id="rId6"/>
    <p:sldId id="289" r:id="rId7"/>
    <p:sldId id="309" r:id="rId8"/>
    <p:sldId id="328" r:id="rId9"/>
    <p:sldId id="353" r:id="rId10"/>
    <p:sldId id="334" r:id="rId11"/>
    <p:sldId id="338" r:id="rId12"/>
    <p:sldId id="341" r:id="rId13"/>
    <p:sldId id="348" r:id="rId14"/>
    <p:sldId id="350" r:id="rId15"/>
    <p:sldId id="343" r:id="rId16"/>
    <p:sldId id="358" r:id="rId17"/>
    <p:sldId id="359" r:id="rId18"/>
    <p:sldId id="319" r:id="rId19"/>
    <p:sldId id="323" r:id="rId20"/>
    <p:sldId id="313" r:id="rId21"/>
    <p:sldId id="304" r:id="rId22"/>
    <p:sldId id="303" r:id="rId23"/>
    <p:sldId id="305" r:id="rId24"/>
    <p:sldId id="306" r:id="rId25"/>
    <p:sldId id="257" r:id="rId26"/>
    <p:sldId id="258" r:id="rId27"/>
    <p:sldId id="259" r:id="rId28"/>
    <p:sldId id="260" r:id="rId29"/>
    <p:sldId id="261" r:id="rId30"/>
    <p:sldId id="262" r:id="rId31"/>
    <p:sldId id="263" r:id="rId32"/>
    <p:sldId id="264" r:id="rId33"/>
    <p:sldId id="265" r:id="rId34"/>
    <p:sldId id="266" r:id="rId35"/>
    <p:sldId id="267" r:id="rId36"/>
  </p:sldIdLst>
  <p:sldSz cx="18288000" cy="10287000"/>
  <p:notesSz cx="6858000" cy="9144000"/>
  <p:embeddedFontLst>
    <p:embeddedFont>
      <p:font typeface="Agency FB" panose="020B0503020202020204" pitchFamily="34" charset="0"/>
      <p:regular r:id="rId38"/>
      <p:bold r:id="rId39"/>
    </p:embeddedFont>
    <p:embeddedFont>
      <p:font typeface="Anton" pitchFamily="2" charset="0"/>
      <p:regular r:id="rId40"/>
    </p:embeddedFont>
    <p:embeddedFont>
      <p:font typeface="Codec Pro" panose="020B0604020202020204" charset="0"/>
      <p:regular r:id="rId41"/>
    </p:embeddedFont>
    <p:embeddedFont>
      <p:font typeface="Codec Pro Bold" panose="020B0604020202020204" charset="0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8706"/>
    <a:srgbClr val="F7C6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03" autoAdjust="0"/>
    <p:restoredTop sz="94080" autoAdjust="0"/>
  </p:normalViewPr>
  <p:slideViewPr>
    <p:cSldViewPr>
      <p:cViewPr varScale="1">
        <p:scale>
          <a:sx n="40" d="100"/>
          <a:sy n="40" d="100"/>
        </p:scale>
        <p:origin x="84" y="-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F5271-D127-4C68-A4FA-88F442C2A583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CDE67-8E2C-4B76-BC74-17ED23E37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183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CDE67-8E2C-4B76-BC74-17ED23E37D4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7275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CCDE67-8E2C-4B76-BC74-17ED23E37D4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529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1.jpe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sv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7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svg"/><Relationship Id="rId4" Type="http://schemas.openxmlformats.org/officeDocument/2006/relationships/image" Target="../media/image1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svg"/><Relationship Id="rId4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22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16.svg"/><Relationship Id="rId4" Type="http://schemas.openxmlformats.org/officeDocument/2006/relationships/image" Target="../media/image30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4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1000" y="17023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181930" y="-1424914"/>
            <a:ext cx="8483403" cy="11741734"/>
          </a:xfrm>
          <a:custGeom>
            <a:avLst/>
            <a:gdLst/>
            <a:ahLst/>
            <a:cxnLst/>
            <a:rect l="l" t="t" r="r" b="b"/>
            <a:pathLst>
              <a:path w="8483403" h="11741734">
                <a:moveTo>
                  <a:pt x="0" y="0"/>
                </a:moveTo>
                <a:lnTo>
                  <a:pt x="8483402" y="0"/>
                </a:lnTo>
                <a:lnTo>
                  <a:pt x="8483402" y="11741734"/>
                </a:lnTo>
                <a:lnTo>
                  <a:pt x="0" y="117417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106869" y="7265865"/>
            <a:ext cx="820261" cy="837494"/>
          </a:xfrm>
          <a:custGeom>
            <a:avLst/>
            <a:gdLst/>
            <a:ahLst/>
            <a:cxnLst/>
            <a:rect l="l" t="t" r="r" b="b"/>
            <a:pathLst>
              <a:path w="820261" h="837494">
                <a:moveTo>
                  <a:pt x="0" y="0"/>
                </a:moveTo>
                <a:lnTo>
                  <a:pt x="820261" y="0"/>
                </a:lnTo>
                <a:lnTo>
                  <a:pt x="820261" y="837494"/>
                </a:lnTo>
                <a:lnTo>
                  <a:pt x="0" y="8374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1604980" y="9546489"/>
            <a:ext cx="6749373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en-US" sz="5400" b="1" dirty="0">
                <a:solidFill>
                  <a:srgbClr val="AA8706"/>
                </a:solidFill>
                <a:latin typeface="Agency FB" panose="020B0503020202020204" pitchFamily="34" charset="0"/>
                <a:ea typeface="Anton"/>
                <a:cs typeface="Aharoni" panose="020F0502020204030204" pitchFamily="2" charset="-79"/>
                <a:sym typeface="Anton"/>
              </a:rPr>
              <a:t>THESIS  PROPOSAL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11167" y="6468756"/>
            <a:ext cx="8611002" cy="653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948"/>
              </a:lnSpc>
            </a:pPr>
            <a:r>
              <a:rPr lang="en-US" sz="3534" b="1" spc="367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PRESENTATION BY TRAN AN KHOA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73761" y="7348949"/>
            <a:ext cx="3062439" cy="755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751" b="1" spc="13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INTERNATIONAL UNIVERSITY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159730" y="7523200"/>
            <a:ext cx="3062439" cy="412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751" b="1" spc="13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OCTOBER 2026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44D91E28-73F1-D8BB-440B-E8EA9B87E0E0}"/>
              </a:ext>
            </a:extLst>
          </p:cNvPr>
          <p:cNvSpPr txBox="1"/>
          <p:nvPr/>
        </p:nvSpPr>
        <p:spPr>
          <a:xfrm>
            <a:off x="3429000" y="1333500"/>
            <a:ext cx="14984790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000" spc="367" dirty="0">
                <a:solidFill>
                  <a:srgbClr val="0C3877"/>
                </a:solidFill>
                <a:latin typeface="Anton" pitchFamily="2" charset="0"/>
                <a:ea typeface="Codec Pro Bold"/>
                <a:cs typeface="Codec Pro Bold"/>
                <a:sym typeface="Codec Pro Bold"/>
              </a:rPr>
              <a:t>TRUTHFUL AUCTIONS FOR LAST-MILE </a:t>
            </a:r>
          </a:p>
          <a:p>
            <a:pPr algn="ctr"/>
            <a:r>
              <a:rPr lang="en-US" sz="8000" spc="367" dirty="0">
                <a:solidFill>
                  <a:srgbClr val="0C3877"/>
                </a:solidFill>
                <a:latin typeface="Anton" pitchFamily="2" charset="0"/>
                <a:ea typeface="Codec Pro Bold"/>
                <a:cs typeface="Codec Pro Bold"/>
                <a:sym typeface="Codec Pro Bold"/>
              </a:rPr>
              <a:t>DELIVERY WITH GIG WORKERS  AND </a:t>
            </a:r>
          </a:p>
          <a:p>
            <a:pPr algn="ctr"/>
            <a:r>
              <a:rPr lang="en-US" sz="8000" spc="367" dirty="0">
                <a:solidFill>
                  <a:srgbClr val="0C3877"/>
                </a:solidFill>
                <a:latin typeface="Anton" pitchFamily="2" charset="0"/>
                <a:ea typeface="Codec Pro Bold"/>
                <a:cs typeface="Codec Pro Bold"/>
                <a:sym typeface="Codec Pro Bold"/>
              </a:rPr>
              <a:t>OCCASIONAL DRIVERS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Freeform 9"/>
          <p:cNvSpPr/>
          <p:nvPr/>
        </p:nvSpPr>
        <p:spPr>
          <a:xfrm>
            <a:off x="-774700" y="8763000"/>
            <a:ext cx="4490914" cy="4114800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0" y="0"/>
                </a:moveTo>
                <a:lnTo>
                  <a:pt x="4490914" y="0"/>
                </a:lnTo>
                <a:lnTo>
                  <a:pt x="4490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447800" y="1549400"/>
            <a:ext cx="12319000" cy="88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Routing treated vehicles as resources. Mechanism design treated participants as strategic. </a:t>
            </a:r>
            <a:r>
              <a:rPr lang="en-US" sz="24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The two barely met.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47800" y="342900"/>
            <a:ext cx="12573000" cy="101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6000" dirty="0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TWO RESEARCH STREAMS, LONG KEPT APART</a:t>
            </a:r>
          </a:p>
        </p:txBody>
      </p:sp>
      <p:sp>
        <p:nvSpPr>
          <p:cNvPr id="16" name="Freeform 16"/>
          <p:cNvSpPr/>
          <p:nvPr/>
        </p:nvSpPr>
        <p:spPr>
          <a:xfrm flipH="1" flipV="1">
            <a:off x="14085445" y="-528284"/>
            <a:ext cx="4490914" cy="4114800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4490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90914" y="0"/>
                </a:lnTo>
                <a:lnTo>
                  <a:pt x="4490914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0" name="Axis"/>
          <p:cNvSpPr/>
          <p:nvPr/>
        </p:nvSpPr>
        <p:spPr>
          <a:xfrm>
            <a:off x="1810619" y="6382809"/>
            <a:ext cx="14732913" cy="590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201" name="Period 1"/>
          <p:cNvSpPr txBox="1"/>
          <p:nvPr/>
        </p:nvSpPr>
        <p:spPr>
          <a:xfrm>
            <a:off x="3089275" y="5912909"/>
            <a:ext cx="3082925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FF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1950–1980s</a:t>
            </a:r>
          </a:p>
        </p:txBody>
      </p:sp>
      <p:sp>
        <p:nvSpPr>
          <p:cNvPr id="202" name="Period 2"/>
          <p:cNvSpPr txBox="1"/>
          <p:nvPr/>
        </p:nvSpPr>
        <p:spPr>
          <a:xfrm>
            <a:off x="7162800" y="6592454"/>
            <a:ext cx="3082925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FF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1980s–2000s</a:t>
            </a:r>
          </a:p>
        </p:txBody>
      </p:sp>
      <p:sp>
        <p:nvSpPr>
          <p:cNvPr id="203" name="Period 3"/>
          <p:cNvSpPr txBox="1"/>
          <p:nvPr/>
        </p:nvSpPr>
        <p:spPr>
          <a:xfrm>
            <a:off x="11895421" y="5854085"/>
            <a:ext cx="3082925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FF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2000–2015</a:t>
            </a:r>
          </a:p>
        </p:txBody>
      </p:sp>
      <p:sp>
        <p:nvSpPr>
          <p:cNvPr id="204" name="Period 4"/>
          <p:cNvSpPr txBox="1"/>
          <p:nvPr/>
        </p:nvSpPr>
        <p:spPr>
          <a:xfrm>
            <a:off x="15925800" y="6644721"/>
            <a:ext cx="2028920" cy="4317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FF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2015–2026</a:t>
            </a:r>
          </a:p>
        </p:txBody>
      </p:sp>
      <p:sp>
        <p:nvSpPr>
          <p:cNvPr id="205" name="Routing lane label"/>
          <p:cNvSpPr/>
          <p:nvPr/>
        </p:nvSpPr>
        <p:spPr>
          <a:xfrm>
            <a:off x="76200" y="4306454"/>
            <a:ext cx="1564543" cy="889001"/>
          </a:xfrm>
          <a:prstGeom prst="roundRect">
            <a:avLst>
              <a:gd name="adj" fmla="val 8000"/>
            </a:avLst>
          </a:prstGeom>
          <a:solidFill>
            <a:srgbClr val="005990"/>
          </a:solidFill>
          <a:ln>
            <a:noFill/>
          </a:ln>
        </p:spPr>
        <p:txBody>
          <a:bodyPr wrap="square" lIns="203200" tIns="203200" rIns="203200" bIns="2032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OR</a:t>
            </a:r>
          </a:p>
        </p:txBody>
      </p:sp>
      <p:sp>
        <p:nvSpPr>
          <p:cNvPr id="206" name="Routing lane 1"/>
          <p:cNvSpPr/>
          <p:nvPr/>
        </p:nvSpPr>
        <p:spPr>
          <a:xfrm>
            <a:off x="2327275" y="4000500"/>
            <a:ext cx="3082925" cy="1650031"/>
          </a:xfrm>
          <a:prstGeom prst="roundRect">
            <a:avLst>
              <a:gd name="adj" fmla="val 8000"/>
            </a:avLst>
          </a:prstGeom>
          <a:solidFill>
            <a:srgbClr val="005990"/>
          </a:solidFill>
          <a:ln>
            <a:noFill/>
          </a:ln>
        </p:spPr>
        <p:txBody>
          <a:bodyPr wrap="square" lIns="177800" tIns="177800" rIns="177800" bIns="17780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Linear Programming, ILP, MILP, DP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VRP (1959), Solomon (1987)</a:t>
            </a:r>
          </a:p>
        </p:txBody>
      </p:sp>
      <p:sp>
        <p:nvSpPr>
          <p:cNvPr id="207" name="Routing lane 2"/>
          <p:cNvSpPr/>
          <p:nvPr/>
        </p:nvSpPr>
        <p:spPr>
          <a:xfrm>
            <a:off x="6553200" y="4415647"/>
            <a:ext cx="3235325" cy="1226023"/>
          </a:xfrm>
          <a:prstGeom prst="roundRect">
            <a:avLst>
              <a:gd name="adj" fmla="val 8000"/>
            </a:avLst>
          </a:prstGeom>
          <a:solidFill>
            <a:srgbClr val="005990"/>
          </a:solidFill>
          <a:ln>
            <a:noFill/>
          </a:ln>
        </p:spPr>
        <p:txBody>
          <a:bodyPr wrap="square" lIns="177800" tIns="177800" rIns="177800" bIns="17780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Metaheuristics &amp; branch-and-cut/price</a:t>
            </a:r>
          </a:p>
        </p:txBody>
      </p:sp>
      <p:sp>
        <p:nvSpPr>
          <p:cNvPr id="208" name="Routing lane 3"/>
          <p:cNvSpPr/>
          <p:nvPr/>
        </p:nvSpPr>
        <p:spPr>
          <a:xfrm>
            <a:off x="11090275" y="4495130"/>
            <a:ext cx="3235325" cy="1146540"/>
          </a:xfrm>
          <a:prstGeom prst="roundRect">
            <a:avLst>
              <a:gd name="adj" fmla="val 8000"/>
            </a:avLst>
          </a:prstGeom>
          <a:solidFill>
            <a:srgbClr val="005990"/>
          </a:solidFill>
          <a:ln>
            <a:noFill/>
          </a:ln>
        </p:spPr>
        <p:txBody>
          <a:bodyPr wrap="square" lIns="177800" tIns="177800" rIns="177800" bIns="17780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Hybrid methods &amp; </a:t>
            </a:r>
            <a:r>
              <a:rPr lang="en-US" sz="2000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Matheuristics</a:t>
            </a:r>
            <a:endParaRPr lang="en-US" sz="2000" dirty="0">
              <a:solidFill>
                <a:srgbClr val="FFFFFF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209" name="Routing lane 4"/>
          <p:cNvSpPr/>
          <p:nvPr/>
        </p:nvSpPr>
        <p:spPr>
          <a:xfrm>
            <a:off x="15011399" y="4466559"/>
            <a:ext cx="3082925" cy="1183972"/>
          </a:xfrm>
          <a:prstGeom prst="roundRect">
            <a:avLst>
              <a:gd name="adj" fmla="val 8000"/>
            </a:avLst>
          </a:prstGeom>
          <a:solidFill>
            <a:srgbClr val="005990"/>
          </a:solidFill>
          <a:ln>
            <a:noFill/>
          </a:ln>
        </p:spPr>
        <p:txBody>
          <a:bodyPr wrap="square" lIns="177800" tIns="177800" rIns="177800" bIns="17780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Learning-based Optimization</a:t>
            </a:r>
          </a:p>
        </p:txBody>
      </p:sp>
      <p:sp>
        <p:nvSpPr>
          <p:cNvPr id="210" name="Mechanism lane label"/>
          <p:cNvSpPr/>
          <p:nvPr/>
        </p:nvSpPr>
        <p:spPr>
          <a:xfrm>
            <a:off x="76200" y="7278254"/>
            <a:ext cx="1612900" cy="889000"/>
          </a:xfrm>
          <a:prstGeom prst="roundRect">
            <a:avLst>
              <a:gd name="adj" fmla="val 8000"/>
            </a:avLst>
          </a:prstGeom>
          <a:solidFill>
            <a:srgbClr val="FFDE59"/>
          </a:solidFill>
          <a:ln>
            <a:noFill/>
          </a:ln>
        </p:spPr>
        <p:txBody>
          <a:bodyPr wrap="square" lIns="203200" tIns="203200" rIns="203200" bIns="20320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Markets</a:t>
            </a:r>
          </a:p>
        </p:txBody>
      </p:sp>
      <p:sp>
        <p:nvSpPr>
          <p:cNvPr id="211" name="Mechanism lane 1"/>
          <p:cNvSpPr/>
          <p:nvPr/>
        </p:nvSpPr>
        <p:spPr>
          <a:xfrm>
            <a:off x="2308238" y="7095070"/>
            <a:ext cx="2949562" cy="1228836"/>
          </a:xfrm>
          <a:prstGeom prst="roundRect">
            <a:avLst>
              <a:gd name="adj" fmla="val 8000"/>
            </a:avLst>
          </a:prstGeom>
          <a:solidFill>
            <a:srgbClr val="FFDE59"/>
          </a:solidFill>
          <a:ln>
            <a:noFill/>
          </a:ln>
        </p:spPr>
        <p:txBody>
          <a:bodyPr wrap="square" lIns="177800" tIns="177800" rIns="177800" bIns="17780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Game theory &amp; Auction Theory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(Vickrey 1961) </a:t>
            </a:r>
          </a:p>
        </p:txBody>
      </p:sp>
      <p:sp>
        <p:nvSpPr>
          <p:cNvPr id="212" name="Mechanism lane 2"/>
          <p:cNvSpPr/>
          <p:nvPr/>
        </p:nvSpPr>
        <p:spPr>
          <a:xfrm>
            <a:off x="6477000" y="7095070"/>
            <a:ext cx="3311525" cy="1228836"/>
          </a:xfrm>
          <a:prstGeom prst="roundRect">
            <a:avLst>
              <a:gd name="adj" fmla="val 8000"/>
            </a:avLst>
          </a:prstGeom>
          <a:solidFill>
            <a:srgbClr val="FFDE59"/>
          </a:solidFill>
          <a:ln>
            <a:noFill/>
          </a:ln>
        </p:spPr>
        <p:txBody>
          <a:bodyPr wrap="square" lIns="177800" tIns="177800" rIns="177800" bIns="17780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Mechanism design &amp; Combinatorial Auctions</a:t>
            </a:r>
          </a:p>
        </p:txBody>
      </p:sp>
      <p:sp>
        <p:nvSpPr>
          <p:cNvPr id="213" name="Mechanism lane 3"/>
          <p:cNvSpPr/>
          <p:nvPr/>
        </p:nvSpPr>
        <p:spPr>
          <a:xfrm>
            <a:off x="11090275" y="7095070"/>
            <a:ext cx="3235325" cy="1228836"/>
          </a:xfrm>
          <a:prstGeom prst="roundRect">
            <a:avLst>
              <a:gd name="adj" fmla="val 8000"/>
            </a:avLst>
          </a:prstGeom>
          <a:solidFill>
            <a:srgbClr val="FFDE59"/>
          </a:solidFill>
          <a:ln>
            <a:noFill/>
          </a:ln>
        </p:spPr>
        <p:txBody>
          <a:bodyPr wrap="square" lIns="177800" tIns="177800" rIns="177800" bIns="17780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Market Design &amp; Online Markets</a:t>
            </a:r>
          </a:p>
        </p:txBody>
      </p:sp>
      <p:sp>
        <p:nvSpPr>
          <p:cNvPr id="214" name="Mechanism lane 4"/>
          <p:cNvSpPr/>
          <p:nvPr/>
        </p:nvSpPr>
        <p:spPr>
          <a:xfrm>
            <a:off x="15011400" y="7116218"/>
            <a:ext cx="3082925" cy="1228836"/>
          </a:xfrm>
          <a:prstGeom prst="roundRect">
            <a:avLst>
              <a:gd name="adj" fmla="val 8000"/>
            </a:avLst>
          </a:prstGeom>
          <a:solidFill>
            <a:srgbClr val="FFDE59"/>
          </a:solidFill>
          <a:ln>
            <a:noFill/>
          </a:ln>
        </p:spPr>
        <p:txBody>
          <a:bodyPr wrap="square" lIns="177800" tIns="177800" rIns="177800" bIns="17780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Platform &amp; gig economy markets</a:t>
            </a:r>
          </a:p>
        </p:txBody>
      </p:sp>
      <p:sp>
        <p:nvSpPr>
          <p:cNvPr id="215" name="Footnote"/>
          <p:cNvSpPr txBox="1"/>
          <p:nvPr/>
        </p:nvSpPr>
        <p:spPr>
          <a:xfrm>
            <a:off x="5338506" y="9923680"/>
            <a:ext cx="127889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i="1" dirty="0">
                <a:solidFill>
                  <a:srgbClr val="5A6B85"/>
                </a:solidFill>
                <a:latin typeface="Codec Pro"/>
                <a:ea typeface="Codec Pro"/>
                <a:cs typeface="Codec Pro"/>
                <a:sym typeface="Codec Pro"/>
              </a:rPr>
              <a:t>Representative landmarks, not a systematic survey. Dates are approximate.</a:t>
            </a: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6DAAEC8D-FB9B-8278-3551-323DBB8755B3}"/>
              </a:ext>
            </a:extLst>
          </p:cNvPr>
          <p:cNvSpPr/>
          <p:nvPr/>
        </p:nvSpPr>
        <p:spPr>
          <a:xfrm>
            <a:off x="3665733" y="6306609"/>
            <a:ext cx="144267" cy="144267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753AA246-564D-31C3-9FDC-0E6B9A70F0B5}"/>
              </a:ext>
            </a:extLst>
          </p:cNvPr>
          <p:cNvSpPr/>
          <p:nvPr/>
        </p:nvSpPr>
        <p:spPr>
          <a:xfrm>
            <a:off x="7924800" y="6340642"/>
            <a:ext cx="144267" cy="144267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5A3FCB34-7166-1F1F-8826-43D96D4CA59B}"/>
              </a:ext>
            </a:extLst>
          </p:cNvPr>
          <p:cNvSpPr/>
          <p:nvPr/>
        </p:nvSpPr>
        <p:spPr>
          <a:xfrm>
            <a:off x="12504933" y="6370833"/>
            <a:ext cx="144267" cy="144267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A33C27D1-7714-BD9B-5C0A-F540A4F25758}"/>
              </a:ext>
            </a:extLst>
          </p:cNvPr>
          <p:cNvSpPr/>
          <p:nvPr/>
        </p:nvSpPr>
        <p:spPr>
          <a:xfrm>
            <a:off x="16543533" y="6363854"/>
            <a:ext cx="144267" cy="144267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xis">
            <a:extLst>
              <a:ext uri="{FF2B5EF4-FFF2-40B4-BE49-F238E27FC236}">
                <a16:creationId xmlns:a16="http://schemas.microsoft.com/office/drawing/2014/main" id="{0F6C277F-175F-5501-DA9D-2EA0D9E1DD2C}"/>
              </a:ext>
            </a:extLst>
          </p:cNvPr>
          <p:cNvSpPr/>
          <p:nvPr/>
        </p:nvSpPr>
        <p:spPr>
          <a:xfrm>
            <a:off x="16687801" y="6438775"/>
            <a:ext cx="1455934" cy="9192"/>
          </a:xfrm>
          <a:prstGeom prst="line">
            <a:avLst/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lIns="0" tIns="0" rIns="0" bIns="0" rtlCol="0" anchor="t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252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Freeform 5"/>
          <p:cNvSpPr/>
          <p:nvPr/>
        </p:nvSpPr>
        <p:spPr>
          <a:xfrm>
            <a:off x="-62926" y="7594147"/>
            <a:ext cx="3074523" cy="3328306"/>
          </a:xfrm>
          <a:custGeom>
            <a:avLst/>
            <a:gdLst/>
            <a:ahLst/>
            <a:cxnLst/>
            <a:rect l="l" t="t" r="r" b="b"/>
            <a:pathLst>
              <a:path w="3074523" h="3328306">
                <a:moveTo>
                  <a:pt x="0" y="0"/>
                </a:moveTo>
                <a:lnTo>
                  <a:pt x="3074523" y="0"/>
                </a:lnTo>
                <a:lnTo>
                  <a:pt x="3074523" y="3328306"/>
                </a:lnTo>
                <a:lnTo>
                  <a:pt x="0" y="33283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15213477" y="0"/>
            <a:ext cx="3074523" cy="3328306"/>
          </a:xfrm>
          <a:custGeom>
            <a:avLst/>
            <a:gdLst/>
            <a:ahLst/>
            <a:cxnLst/>
            <a:rect l="l" t="t" r="r" b="b"/>
            <a:pathLst>
              <a:path w="3074523" h="3328306">
                <a:moveTo>
                  <a:pt x="3074523" y="3328306"/>
                </a:moveTo>
                <a:lnTo>
                  <a:pt x="0" y="3328306"/>
                </a:lnTo>
                <a:lnTo>
                  <a:pt x="0" y="0"/>
                </a:lnTo>
                <a:lnTo>
                  <a:pt x="3074523" y="0"/>
                </a:lnTo>
                <a:lnTo>
                  <a:pt x="3074523" y="332830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435100" y="6283600"/>
            <a:ext cx="9182100" cy="2669900"/>
            <a:chOff x="0" y="-38100"/>
            <a:chExt cx="2670417" cy="7830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670417" cy="744989"/>
            </a:xfrm>
            <a:custGeom>
              <a:avLst/>
              <a:gdLst/>
              <a:ahLst/>
              <a:cxnLst/>
              <a:rect l="l" t="t" r="r" b="b"/>
              <a:pathLst>
                <a:path w="2670417" h="744989">
                  <a:moveTo>
                    <a:pt x="19089" y="0"/>
                  </a:moveTo>
                  <a:lnTo>
                    <a:pt x="2651328" y="0"/>
                  </a:lnTo>
                  <a:cubicBezTo>
                    <a:pt x="2656391" y="0"/>
                    <a:pt x="2661246" y="2011"/>
                    <a:pt x="2664826" y="5591"/>
                  </a:cubicBezTo>
                  <a:cubicBezTo>
                    <a:pt x="2668406" y="9171"/>
                    <a:pt x="2670417" y="14026"/>
                    <a:pt x="2670417" y="19089"/>
                  </a:cubicBezTo>
                  <a:lnTo>
                    <a:pt x="2670417" y="725900"/>
                  </a:lnTo>
                  <a:cubicBezTo>
                    <a:pt x="2670417" y="730963"/>
                    <a:pt x="2668406" y="735818"/>
                    <a:pt x="2664826" y="739398"/>
                  </a:cubicBezTo>
                  <a:cubicBezTo>
                    <a:pt x="2661246" y="742978"/>
                    <a:pt x="2656391" y="744989"/>
                    <a:pt x="2651328" y="744989"/>
                  </a:cubicBezTo>
                  <a:lnTo>
                    <a:pt x="19089" y="744989"/>
                  </a:lnTo>
                  <a:cubicBezTo>
                    <a:pt x="14026" y="744989"/>
                    <a:pt x="9171" y="742978"/>
                    <a:pt x="5591" y="739398"/>
                  </a:cubicBezTo>
                  <a:cubicBezTo>
                    <a:pt x="2011" y="735818"/>
                    <a:pt x="0" y="730963"/>
                    <a:pt x="0" y="725900"/>
                  </a:cubicBezTo>
                  <a:lnTo>
                    <a:pt x="0" y="19089"/>
                  </a:lnTo>
                  <a:cubicBezTo>
                    <a:pt x="0" y="14026"/>
                    <a:pt x="2011" y="9171"/>
                    <a:pt x="5591" y="5591"/>
                  </a:cubicBezTo>
                  <a:cubicBezTo>
                    <a:pt x="9171" y="2011"/>
                    <a:pt x="14026" y="0"/>
                    <a:pt x="19089" y="0"/>
                  </a:cubicBezTo>
                  <a:close/>
                </a:path>
              </a:pathLst>
            </a:custGeom>
            <a:solidFill>
              <a:srgbClr val="00599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670417" cy="783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778000" y="67056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92481" h="692481">
                <a:moveTo>
                  <a:pt x="0" y="0"/>
                </a:moveTo>
                <a:lnTo>
                  <a:pt x="692481" y="0"/>
                </a:lnTo>
                <a:lnTo>
                  <a:pt x="692481" y="692481"/>
                </a:lnTo>
                <a:lnTo>
                  <a:pt x="0" y="69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473200" y="2766566"/>
            <a:ext cx="8890000" cy="2757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Why Did the Two Streams Converge After 2020?</a:t>
            </a: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E-commerce growth, accelerated by COVID-19.</a:t>
            </a: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Consumers maintain their online shopping habits.</a:t>
            </a: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B2C e-commerce expansion </a:t>
            </a:r>
            <a:r>
              <a:rPr lang="en-US" sz="24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Wingdings" panose="05000000000000000000" pitchFamily="2" charset="2"/>
              </a:rPr>
              <a:t> Rising demand for delivery services such as Grab, Amazon, Meituan, …</a:t>
            </a:r>
            <a:endParaRPr lang="en-US" sz="2400" dirty="0">
              <a:solidFill>
                <a:srgbClr val="0C3877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435100" y="412522"/>
            <a:ext cx="13462000" cy="101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6000" dirty="0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2021 ONWARD: THE TWO STREAMS CONVERGE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16200" y="6731000"/>
            <a:ext cx="762000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FFDE5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This thesis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78000" y="7493000"/>
            <a:ext cx="8509000" cy="857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FFFFFF"/>
                </a:solidFill>
                <a:latin typeface="Codec Pro"/>
                <a:sym typeface="Codec Pro"/>
              </a:rPr>
              <a:t>Why the combination of Market Design &amp; OR can coordinate transportation capacity ?</a:t>
            </a:r>
          </a:p>
        </p:txBody>
      </p:sp>
      <p:sp>
        <p:nvSpPr>
          <p:cNvPr id="300" name="Bridge"/>
          <p:cNvSpPr txBox="1"/>
          <p:nvPr/>
        </p:nvSpPr>
        <p:spPr>
          <a:xfrm>
            <a:off x="1473200" y="5600700"/>
            <a:ext cx="9398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r>
              <a:rPr lang="en-US" sz="2200" b="1" dirty="0">
                <a:solidFill>
                  <a:srgbClr val="0071B3"/>
                </a:solidFill>
                <a:latin typeface="Codec Pro Bold"/>
                <a:sym typeface="Wingdings" panose="05000000000000000000" pitchFamily="2" charset="2"/>
              </a:rPr>
              <a:t></a:t>
            </a:r>
            <a:r>
              <a:rPr lang="en-US" sz="2200" b="1" dirty="0">
                <a:solidFill>
                  <a:srgbClr val="0071B3"/>
                </a:solidFill>
                <a:latin typeface="Codec Pro Bold"/>
                <a:sym typeface="Codec Pro Bold"/>
              </a:rPr>
              <a:t> </a:t>
            </a:r>
            <a:r>
              <a:rPr lang="en-US" sz="2400" dirty="0">
                <a:solidFill>
                  <a:srgbClr val="0C3877"/>
                </a:solidFill>
                <a:latin typeface="Codec Pro"/>
              </a:rPr>
              <a:t>Delivery platforms need new ways to expand transportation capacity.</a:t>
            </a:r>
            <a:endParaRPr lang="en-US" sz="2400" dirty="0">
              <a:solidFill>
                <a:srgbClr val="0C3877"/>
              </a:solidFill>
              <a:latin typeface="Codec Pro"/>
              <a:sym typeface="Codec Pro Bold"/>
            </a:endParaRPr>
          </a:p>
        </p:txBody>
      </p:sp>
      <p:sp>
        <p:nvSpPr>
          <p:cNvPr id="301" name="Works card"/>
          <p:cNvSpPr/>
          <p:nvPr/>
        </p:nvSpPr>
        <p:spPr>
          <a:xfrm>
            <a:off x="11176000" y="2895600"/>
            <a:ext cx="5651500" cy="599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1B3"/>
            </a:solidFill>
          </a:ln>
        </p:spPr>
        <p:txBody>
          <a:bodyPr wrap="square" lIns="355600" tIns="355600" rIns="355600" bIns="3556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Representative works</a:t>
            </a:r>
          </a:p>
          <a:p>
            <a:pPr marL="342900" indent="-342900" algn="l">
              <a:lnSpc>
                <a:spcPct val="100000"/>
              </a:lnSpc>
              <a:spcBef>
                <a:spcPts val="1800"/>
              </a:spcBef>
              <a:buClr>
                <a:srgbClr val="0071B3"/>
              </a:buClr>
              <a:buFont typeface="Arial"/>
              <a:buChar char="▪"/>
            </a:pPr>
            <a:r>
              <a:rPr lang="en-US" sz="24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Xiao (2021)</a:t>
            </a:r>
          </a:p>
          <a:p>
            <a:pPr marL="342900" indent="-342900" algn="l">
              <a:lnSpc>
                <a:spcPct val="100000"/>
              </a:lnSpc>
              <a:spcBef>
                <a:spcPts val="1500"/>
              </a:spcBef>
              <a:buClr>
                <a:srgbClr val="0071B3"/>
              </a:buClr>
              <a:buFont typeface="Arial"/>
              <a:buChar char="▪"/>
            </a:pPr>
            <a:r>
              <a:rPr lang="en-US" sz="24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Triki (2021)</a:t>
            </a:r>
          </a:p>
          <a:p>
            <a:pPr marL="342900" indent="-342900" algn="l">
              <a:lnSpc>
                <a:spcPct val="100000"/>
              </a:lnSpc>
              <a:spcBef>
                <a:spcPts val="1500"/>
              </a:spcBef>
              <a:buClr>
                <a:srgbClr val="0071B3"/>
              </a:buClr>
              <a:buFont typeface="Arial"/>
              <a:buChar char="▪"/>
            </a:pPr>
            <a:r>
              <a:rPr lang="en-US" sz="24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Zou &amp; Kafle (2022)</a:t>
            </a:r>
          </a:p>
          <a:p>
            <a:pPr marL="342900" indent="-342900" algn="l">
              <a:lnSpc>
                <a:spcPct val="100000"/>
              </a:lnSpc>
              <a:spcBef>
                <a:spcPts val="1500"/>
              </a:spcBef>
              <a:buClr>
                <a:srgbClr val="0071B3"/>
              </a:buClr>
              <a:buFont typeface="Arial"/>
              <a:buChar char="▪"/>
            </a:pPr>
            <a:r>
              <a:rPr lang="en-US" sz="24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Mancini &amp; Gansterer (2022)</a:t>
            </a:r>
          </a:p>
          <a:p>
            <a:pPr marL="342900" indent="-342900" algn="l">
              <a:lnSpc>
                <a:spcPct val="100000"/>
              </a:lnSpc>
              <a:spcBef>
                <a:spcPts val="1500"/>
              </a:spcBef>
              <a:buClr>
                <a:srgbClr val="0071B3"/>
              </a:buClr>
              <a:buFont typeface="Arial"/>
              <a:buChar char="▪"/>
            </a:pPr>
            <a:r>
              <a:rPr lang="en-US" sz="24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Chen et al. (2023)</a:t>
            </a:r>
          </a:p>
          <a:p>
            <a:pPr marL="342900" indent="-342900" algn="l">
              <a:lnSpc>
                <a:spcPct val="100000"/>
              </a:lnSpc>
              <a:spcBef>
                <a:spcPts val="1500"/>
              </a:spcBef>
              <a:buClr>
                <a:srgbClr val="0071B3"/>
              </a:buClr>
              <a:buFont typeface="Arial"/>
              <a:buChar char="▪"/>
            </a:pPr>
            <a:r>
              <a:rPr lang="en-US" sz="24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Luy et al. (2024)</a:t>
            </a:r>
          </a:p>
          <a:p>
            <a:pPr marL="342900" indent="-342900" algn="l">
              <a:lnSpc>
                <a:spcPct val="100000"/>
              </a:lnSpc>
              <a:spcBef>
                <a:spcPts val="1500"/>
              </a:spcBef>
              <a:buClr>
                <a:srgbClr val="0071B3"/>
              </a:buClr>
              <a:buFont typeface="Arial"/>
              <a:buChar char="▪"/>
            </a:pPr>
            <a:r>
              <a:rPr lang="en-US" sz="24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Li &amp; Zhang (2026)</a:t>
            </a:r>
          </a:p>
        </p:txBody>
      </p:sp>
      <p:sp>
        <p:nvSpPr>
          <p:cNvPr id="4" name="Axis">
            <a:extLst>
              <a:ext uri="{FF2B5EF4-FFF2-40B4-BE49-F238E27FC236}">
                <a16:creationId xmlns:a16="http://schemas.microsoft.com/office/drawing/2014/main" id="{152A9167-F95B-D35E-AD12-EA94ADCA602D}"/>
              </a:ext>
            </a:extLst>
          </p:cNvPr>
          <p:cNvSpPr/>
          <p:nvPr/>
        </p:nvSpPr>
        <p:spPr>
          <a:xfrm>
            <a:off x="1435100" y="1980843"/>
            <a:ext cx="6261100" cy="25095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5" name="Multiplication Sign 14">
            <a:extLst>
              <a:ext uri="{FF2B5EF4-FFF2-40B4-BE49-F238E27FC236}">
                <a16:creationId xmlns:a16="http://schemas.microsoft.com/office/drawing/2014/main" id="{4B0D8538-9E26-441A-4714-33FDBE67A874}"/>
              </a:ext>
            </a:extLst>
          </p:cNvPr>
          <p:cNvSpPr/>
          <p:nvPr/>
        </p:nvSpPr>
        <p:spPr>
          <a:xfrm>
            <a:off x="3124200" y="1691548"/>
            <a:ext cx="533400" cy="603684"/>
          </a:xfrm>
          <a:prstGeom prst="mathMultiply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eriod 4">
            <a:extLst>
              <a:ext uri="{FF2B5EF4-FFF2-40B4-BE49-F238E27FC236}">
                <a16:creationId xmlns:a16="http://schemas.microsoft.com/office/drawing/2014/main" id="{A047FEFD-18E7-786C-8476-F315BAF33DCC}"/>
              </a:ext>
            </a:extLst>
          </p:cNvPr>
          <p:cNvSpPr txBox="1"/>
          <p:nvPr/>
        </p:nvSpPr>
        <p:spPr>
          <a:xfrm>
            <a:off x="1361980" y="2070102"/>
            <a:ext cx="2028920" cy="4317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FF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2015</a:t>
            </a:r>
          </a:p>
        </p:txBody>
      </p:sp>
      <p:sp>
        <p:nvSpPr>
          <p:cNvPr id="19" name="Period 4">
            <a:extLst>
              <a:ext uri="{FF2B5EF4-FFF2-40B4-BE49-F238E27FC236}">
                <a16:creationId xmlns:a16="http://schemas.microsoft.com/office/drawing/2014/main" id="{FEF8C73A-DF6C-0065-5D17-5F7E62173B66}"/>
              </a:ext>
            </a:extLst>
          </p:cNvPr>
          <p:cNvSpPr txBox="1"/>
          <p:nvPr/>
        </p:nvSpPr>
        <p:spPr>
          <a:xfrm>
            <a:off x="3036997" y="2350165"/>
            <a:ext cx="2028920" cy="4317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FF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2021</a:t>
            </a:r>
          </a:p>
        </p:txBody>
      </p:sp>
      <p:sp>
        <p:nvSpPr>
          <p:cNvPr id="21" name="Period 4">
            <a:extLst>
              <a:ext uri="{FF2B5EF4-FFF2-40B4-BE49-F238E27FC236}">
                <a16:creationId xmlns:a16="http://schemas.microsoft.com/office/drawing/2014/main" id="{76402544-5B69-E0B8-7D76-73F0E0A864BD}"/>
              </a:ext>
            </a:extLst>
          </p:cNvPr>
          <p:cNvSpPr txBox="1"/>
          <p:nvPr/>
        </p:nvSpPr>
        <p:spPr>
          <a:xfrm>
            <a:off x="6781800" y="2119574"/>
            <a:ext cx="747760" cy="4317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FF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2026</a:t>
            </a: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3EFCF4F4-E53D-1D79-AD48-1401FD745582}"/>
              </a:ext>
            </a:extLst>
          </p:cNvPr>
          <p:cNvSpPr/>
          <p:nvPr/>
        </p:nvSpPr>
        <p:spPr>
          <a:xfrm rot="16200000">
            <a:off x="3400539" y="1654064"/>
            <a:ext cx="419100" cy="438378"/>
          </a:xfrm>
          <a:prstGeom prst="arc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Period 4">
            <a:extLst>
              <a:ext uri="{FF2B5EF4-FFF2-40B4-BE49-F238E27FC236}">
                <a16:creationId xmlns:a16="http://schemas.microsoft.com/office/drawing/2014/main" id="{AEDC22D0-D0B3-0A0A-519D-E37C35657599}"/>
              </a:ext>
            </a:extLst>
          </p:cNvPr>
          <p:cNvSpPr txBox="1"/>
          <p:nvPr/>
        </p:nvSpPr>
        <p:spPr>
          <a:xfrm>
            <a:off x="3657600" y="1577912"/>
            <a:ext cx="2028920" cy="4317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B05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 streams combined</a:t>
            </a:r>
          </a:p>
        </p:txBody>
      </p:sp>
    </p:spTree>
    <p:extLst>
      <p:ext uri="{BB962C8B-B14F-4D97-AF65-F5344CB8AC3E}">
        <p14:creationId xmlns:p14="http://schemas.microsoft.com/office/powerpoint/2010/main" val="1109419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685800" y="2895600"/>
            <a:ext cx="5600700" cy="5232400"/>
            <a:chOff x="0" y="0"/>
            <a:chExt cx="1473843" cy="156180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73843" cy="1561809"/>
            </a:xfrm>
            <a:custGeom>
              <a:avLst/>
              <a:gdLst/>
              <a:ahLst/>
              <a:cxnLst/>
              <a:rect l="l" t="t" r="r" b="b"/>
              <a:pathLst>
                <a:path w="1473843" h="1561809">
                  <a:moveTo>
                    <a:pt x="34587" y="0"/>
                  </a:moveTo>
                  <a:lnTo>
                    <a:pt x="1439256" y="0"/>
                  </a:lnTo>
                  <a:cubicBezTo>
                    <a:pt x="1458357" y="0"/>
                    <a:pt x="1473843" y="15485"/>
                    <a:pt x="1473843" y="34587"/>
                  </a:cubicBezTo>
                  <a:lnTo>
                    <a:pt x="1473843" y="1527222"/>
                  </a:lnTo>
                  <a:cubicBezTo>
                    <a:pt x="1473843" y="1546324"/>
                    <a:pt x="1458357" y="1561809"/>
                    <a:pt x="1439256" y="1561809"/>
                  </a:cubicBezTo>
                  <a:lnTo>
                    <a:pt x="34587" y="1561809"/>
                  </a:lnTo>
                  <a:cubicBezTo>
                    <a:pt x="15485" y="1561809"/>
                    <a:pt x="0" y="1546324"/>
                    <a:pt x="0" y="1527222"/>
                  </a:cubicBezTo>
                  <a:lnTo>
                    <a:pt x="0" y="34587"/>
                  </a:lnTo>
                  <a:cubicBezTo>
                    <a:pt x="0" y="15485"/>
                    <a:pt x="15485" y="0"/>
                    <a:pt x="34587" y="0"/>
                  </a:cubicBezTo>
                  <a:close/>
                </a:path>
              </a:pathLst>
            </a:custGeom>
            <a:solidFill>
              <a:srgbClr val="00599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73843" cy="1599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50000" y="2895600"/>
            <a:ext cx="5600700" cy="5232400"/>
            <a:chOff x="0" y="0"/>
            <a:chExt cx="1473843" cy="156180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73843" cy="1561809"/>
            </a:xfrm>
            <a:custGeom>
              <a:avLst/>
              <a:gdLst/>
              <a:ahLst/>
              <a:cxnLst/>
              <a:rect l="l" t="t" r="r" b="b"/>
              <a:pathLst>
                <a:path w="1473843" h="1561809">
                  <a:moveTo>
                    <a:pt x="34587" y="0"/>
                  </a:moveTo>
                  <a:lnTo>
                    <a:pt x="1439256" y="0"/>
                  </a:lnTo>
                  <a:cubicBezTo>
                    <a:pt x="1458357" y="0"/>
                    <a:pt x="1473843" y="15485"/>
                    <a:pt x="1473843" y="34587"/>
                  </a:cubicBezTo>
                  <a:lnTo>
                    <a:pt x="1473843" y="1527222"/>
                  </a:lnTo>
                  <a:cubicBezTo>
                    <a:pt x="1473843" y="1546324"/>
                    <a:pt x="1458357" y="1561809"/>
                    <a:pt x="1439256" y="1561809"/>
                  </a:cubicBezTo>
                  <a:lnTo>
                    <a:pt x="34587" y="1561809"/>
                  </a:lnTo>
                  <a:cubicBezTo>
                    <a:pt x="15485" y="1561809"/>
                    <a:pt x="0" y="1546324"/>
                    <a:pt x="0" y="1527222"/>
                  </a:cubicBezTo>
                  <a:lnTo>
                    <a:pt x="0" y="34587"/>
                  </a:lnTo>
                  <a:cubicBezTo>
                    <a:pt x="0" y="15485"/>
                    <a:pt x="15485" y="0"/>
                    <a:pt x="34587" y="0"/>
                  </a:cubicBezTo>
                  <a:close/>
                </a:path>
              </a:pathLst>
            </a:custGeom>
            <a:solidFill>
              <a:srgbClr val="F7C61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73843" cy="1599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>
            <a:grpSpLocks noGrp="1" noUngrp="1" noRot="1" noMove="1" noResize="1"/>
          </p:cNvGrpSpPr>
          <p:nvPr/>
        </p:nvGrpSpPr>
        <p:grpSpPr>
          <a:xfrm>
            <a:off x="12014200" y="2767957"/>
            <a:ext cx="5600700" cy="5360043"/>
            <a:chOff x="0" y="-38100"/>
            <a:chExt cx="1473843" cy="1599909"/>
          </a:xfrm>
        </p:grpSpPr>
        <p:sp>
          <p:nvSpPr>
            <p:cNvPr id="10" name="Freeform 10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473843" cy="1561809"/>
            </a:xfrm>
            <a:custGeom>
              <a:avLst/>
              <a:gdLst/>
              <a:ahLst/>
              <a:cxnLst/>
              <a:rect l="l" t="t" r="r" b="b"/>
              <a:pathLst>
                <a:path w="1473843" h="1561809">
                  <a:moveTo>
                    <a:pt x="34587" y="0"/>
                  </a:moveTo>
                  <a:lnTo>
                    <a:pt x="1439256" y="0"/>
                  </a:lnTo>
                  <a:cubicBezTo>
                    <a:pt x="1458357" y="0"/>
                    <a:pt x="1473843" y="15485"/>
                    <a:pt x="1473843" y="34587"/>
                  </a:cubicBezTo>
                  <a:lnTo>
                    <a:pt x="1473843" y="1527222"/>
                  </a:lnTo>
                  <a:cubicBezTo>
                    <a:pt x="1473843" y="1546324"/>
                    <a:pt x="1458357" y="1561809"/>
                    <a:pt x="1439256" y="1561809"/>
                  </a:cubicBezTo>
                  <a:lnTo>
                    <a:pt x="34587" y="1561809"/>
                  </a:lnTo>
                  <a:cubicBezTo>
                    <a:pt x="15485" y="1561809"/>
                    <a:pt x="0" y="1546324"/>
                    <a:pt x="0" y="1527222"/>
                  </a:cubicBezTo>
                  <a:lnTo>
                    <a:pt x="0" y="34587"/>
                  </a:lnTo>
                  <a:cubicBezTo>
                    <a:pt x="0" y="15485"/>
                    <a:pt x="15485" y="0"/>
                    <a:pt x="34587" y="0"/>
                  </a:cubicBezTo>
                  <a:close/>
                </a:path>
              </a:pathLst>
            </a:custGeom>
            <a:solidFill>
              <a:srgbClr val="00599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TextBox 11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38100"/>
              <a:ext cx="1473843" cy="1599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-266700" y="9652000"/>
            <a:ext cx="7315200" cy="1347216"/>
          </a:xfrm>
          <a:custGeom>
            <a:avLst/>
            <a:gdLst/>
            <a:ahLst/>
            <a:cxnLst/>
            <a:rect l="l" t="t" r="r" b="b"/>
            <a:pathLst>
              <a:path w="7315200" h="1347216">
                <a:moveTo>
                  <a:pt x="0" y="0"/>
                </a:moveTo>
                <a:lnTo>
                  <a:pt x="7315200" y="0"/>
                </a:lnTo>
                <a:lnTo>
                  <a:pt x="7315200" y="1347216"/>
                </a:lnTo>
                <a:lnTo>
                  <a:pt x="0" y="13472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685800" y="1587500"/>
            <a:ext cx="16929100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WHEN DEMAND FLUCTUATES, FIXED CAPACITY BECOMES COSTLY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6800" y="3175000"/>
            <a:ext cx="482600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Off-peak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66800" y="6350000"/>
            <a:ext cx="4889500" cy="152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→ Much of the fleet is under-utilized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22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→ Operating costs still remain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31000" y="3175000"/>
            <a:ext cx="482600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Peak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31000" y="6350000"/>
            <a:ext cx="4889500" cy="152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→ Existing capacity may become insufficient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95200" y="3175000"/>
            <a:ext cx="4953000" cy="127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dirty="0">
                <a:solidFill>
                  <a:srgbClr val="FFDE5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Demand = variable.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Capacity = relatively fixed.</a:t>
            </a:r>
          </a:p>
        </p:txBody>
      </p:sp>
      <p:sp>
        <p:nvSpPr>
          <p:cNvPr id="20" name="Freeform 20"/>
          <p:cNvSpPr/>
          <p:nvPr/>
        </p:nvSpPr>
        <p:spPr>
          <a:xfrm flipH="1" flipV="1">
            <a:off x="11149071" y="0"/>
            <a:ext cx="7315200" cy="1347216"/>
          </a:xfrm>
          <a:custGeom>
            <a:avLst/>
            <a:gdLst/>
            <a:ahLst/>
            <a:cxnLst/>
            <a:rect l="l" t="t" r="r" b="b"/>
            <a:pathLst>
              <a:path w="7315200" h="1347216">
                <a:moveTo>
                  <a:pt x="7315200" y="1347216"/>
                </a:moveTo>
                <a:lnTo>
                  <a:pt x="0" y="1347216"/>
                </a:lnTo>
                <a:lnTo>
                  <a:pt x="0" y="0"/>
                </a:lnTo>
                <a:lnTo>
                  <a:pt x="7315200" y="0"/>
                </a:lnTo>
                <a:lnTo>
                  <a:pt x="7315200" y="13472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0" name="Label"/>
          <p:cNvSpPr txBox="1"/>
          <p:nvPr/>
        </p:nvSpPr>
        <p:spPr>
          <a:xfrm>
            <a:off x="1066800" y="38735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Demand</a:t>
            </a:r>
          </a:p>
        </p:txBody>
      </p:sp>
      <p:sp>
        <p:nvSpPr>
          <p:cNvPr id="301" name="Label"/>
          <p:cNvSpPr txBox="1"/>
          <p:nvPr/>
        </p:nvSpPr>
        <p:spPr>
          <a:xfrm>
            <a:off x="1066800" y="50165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Fixed fleet</a:t>
            </a:r>
          </a:p>
        </p:txBody>
      </p:sp>
      <p:sp>
        <p:nvSpPr>
          <p:cNvPr id="302" name="Label"/>
          <p:cNvSpPr txBox="1"/>
          <p:nvPr/>
        </p:nvSpPr>
        <p:spPr>
          <a:xfrm>
            <a:off x="6731000" y="38735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Demand</a:t>
            </a:r>
          </a:p>
        </p:txBody>
      </p:sp>
      <p:sp>
        <p:nvSpPr>
          <p:cNvPr id="303" name="Label"/>
          <p:cNvSpPr txBox="1"/>
          <p:nvPr/>
        </p:nvSpPr>
        <p:spPr>
          <a:xfrm>
            <a:off x="6731000" y="50165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Fixed fleet</a:t>
            </a:r>
          </a:p>
        </p:txBody>
      </p:sp>
      <p:sp>
        <p:nvSpPr>
          <p:cNvPr id="304" name="Takeaway banner"/>
          <p:cNvSpPr/>
          <p:nvPr/>
        </p:nvSpPr>
        <p:spPr>
          <a:xfrm>
            <a:off x="685800" y="8382000"/>
            <a:ext cx="16929100" cy="965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0071B3"/>
            </a:solidFill>
          </a:ln>
        </p:spPr>
        <p:txBody>
          <a:bodyPr wrap="square" lIns="203200" tIns="203200" rIns="203200" bIns="2032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Fixed capacity is reliable and controllable, but costly to maintain when demand fluctuates.</a:t>
            </a:r>
          </a:p>
        </p:txBody>
      </p:sp>
      <p:pic>
        <p:nvPicPr>
          <p:cNvPr id="305" name="Graphic 305" descr="Tru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5461000"/>
            <a:ext cx="635000" cy="635000"/>
          </a:xfrm>
          <a:prstGeom prst="rect">
            <a:avLst/>
          </a:prstGeom>
        </p:spPr>
      </p:pic>
      <p:pic>
        <p:nvPicPr>
          <p:cNvPr id="306" name="Graphic 306" descr="Pack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4318000"/>
            <a:ext cx="558800" cy="558800"/>
          </a:xfrm>
          <a:prstGeom prst="rect">
            <a:avLst/>
          </a:prstGeom>
        </p:spPr>
      </p:pic>
      <p:pic>
        <p:nvPicPr>
          <p:cNvPr id="307" name="Graphic 307" descr="Tru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1000" y="5461000"/>
            <a:ext cx="635000" cy="635000"/>
          </a:xfrm>
          <a:prstGeom prst="rect">
            <a:avLst/>
          </a:prstGeom>
        </p:spPr>
      </p:pic>
      <p:pic>
        <p:nvPicPr>
          <p:cNvPr id="308" name="Graphic 308" descr="Pack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31000" y="4318000"/>
            <a:ext cx="558800" cy="558800"/>
          </a:xfrm>
          <a:prstGeom prst="rect">
            <a:avLst/>
          </a:prstGeom>
        </p:spPr>
      </p:pic>
      <p:pic>
        <p:nvPicPr>
          <p:cNvPr id="400" name="Graphic 305" descr="Tru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54200" y="5461000"/>
            <a:ext cx="635000" cy="635000"/>
          </a:xfrm>
          <a:prstGeom prst="rect">
            <a:avLst/>
          </a:prstGeom>
        </p:spPr>
      </p:pic>
      <p:pic>
        <p:nvPicPr>
          <p:cNvPr id="401" name="Graphic 305" descr="Truck"/>
          <p:cNvPicPr>
            <a:picLocks noChangeAspect="1"/>
          </p:cNvPicPr>
          <p:nvPr/>
        </p:nvPicPr>
        <p:blipFill>
          <a:blip>
            <a:alphaModFix amt="3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41600" y="5461000"/>
            <a:ext cx="635000" cy="635000"/>
          </a:xfrm>
          <a:prstGeom prst="rect">
            <a:avLst/>
          </a:prstGeom>
        </p:spPr>
      </p:pic>
      <p:pic>
        <p:nvPicPr>
          <p:cNvPr id="402" name="Graphic 305" descr="Truck"/>
          <p:cNvPicPr>
            <a:picLocks noChangeAspect="1"/>
          </p:cNvPicPr>
          <p:nvPr/>
        </p:nvPicPr>
        <p:blipFill>
          <a:blip>
            <a:alphaModFix amt="3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9000" y="5461000"/>
            <a:ext cx="635000" cy="635000"/>
          </a:xfrm>
          <a:prstGeom prst="rect">
            <a:avLst/>
          </a:prstGeom>
        </p:spPr>
      </p:pic>
      <p:pic>
        <p:nvPicPr>
          <p:cNvPr id="403" name="Graphic 305" descr="Truck"/>
          <p:cNvPicPr>
            <a:picLocks noChangeAspect="1"/>
          </p:cNvPicPr>
          <p:nvPr/>
        </p:nvPicPr>
        <p:blipFill>
          <a:blip>
            <a:alphaModFix amt="3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16400" y="5461000"/>
            <a:ext cx="635000" cy="635000"/>
          </a:xfrm>
          <a:prstGeom prst="rect">
            <a:avLst/>
          </a:prstGeom>
        </p:spPr>
      </p:pic>
      <p:pic>
        <p:nvPicPr>
          <p:cNvPr id="404" name="Graphic 306" descr="Pack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52600" y="4318000"/>
            <a:ext cx="558800" cy="558800"/>
          </a:xfrm>
          <a:prstGeom prst="rect">
            <a:avLst/>
          </a:prstGeom>
        </p:spPr>
      </p:pic>
      <p:pic>
        <p:nvPicPr>
          <p:cNvPr id="405" name="Graphic 307" descr="Tru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18400" y="5461000"/>
            <a:ext cx="635000" cy="635000"/>
          </a:xfrm>
          <a:prstGeom prst="rect">
            <a:avLst/>
          </a:prstGeom>
        </p:spPr>
      </p:pic>
      <p:pic>
        <p:nvPicPr>
          <p:cNvPr id="406" name="Graphic 307" descr="Tru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5800" y="5461000"/>
            <a:ext cx="635000" cy="635000"/>
          </a:xfrm>
          <a:prstGeom prst="rect">
            <a:avLst/>
          </a:prstGeom>
        </p:spPr>
      </p:pic>
      <p:pic>
        <p:nvPicPr>
          <p:cNvPr id="407" name="Graphic 307" descr="Tru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93200" y="5461000"/>
            <a:ext cx="635000" cy="635000"/>
          </a:xfrm>
          <a:prstGeom prst="rect">
            <a:avLst/>
          </a:prstGeom>
        </p:spPr>
      </p:pic>
      <p:pic>
        <p:nvPicPr>
          <p:cNvPr id="408" name="Graphic 307" descr="Tru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80600" y="5461000"/>
            <a:ext cx="635000" cy="635000"/>
          </a:xfrm>
          <a:prstGeom prst="rect">
            <a:avLst/>
          </a:prstGeom>
        </p:spPr>
      </p:pic>
      <p:pic>
        <p:nvPicPr>
          <p:cNvPr id="409" name="Graphic 308" descr="Pack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16800" y="4318000"/>
            <a:ext cx="558800" cy="558800"/>
          </a:xfrm>
          <a:prstGeom prst="rect">
            <a:avLst/>
          </a:prstGeom>
        </p:spPr>
      </p:pic>
      <p:pic>
        <p:nvPicPr>
          <p:cNvPr id="410" name="Graphic 308" descr="Pack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02600" y="4318000"/>
            <a:ext cx="558800" cy="558800"/>
          </a:xfrm>
          <a:prstGeom prst="rect">
            <a:avLst/>
          </a:prstGeom>
        </p:spPr>
      </p:pic>
      <p:pic>
        <p:nvPicPr>
          <p:cNvPr id="411" name="Graphic 308" descr="Pack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88400" y="4318000"/>
            <a:ext cx="558800" cy="558800"/>
          </a:xfrm>
          <a:prstGeom prst="rect">
            <a:avLst/>
          </a:prstGeom>
        </p:spPr>
      </p:pic>
      <p:pic>
        <p:nvPicPr>
          <p:cNvPr id="412" name="Graphic 308" descr="Pack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74200" y="4318000"/>
            <a:ext cx="558800" cy="558800"/>
          </a:xfrm>
          <a:prstGeom prst="rect">
            <a:avLst/>
          </a:prstGeom>
        </p:spPr>
      </p:pic>
      <p:pic>
        <p:nvPicPr>
          <p:cNvPr id="413" name="Graphic 308" descr="Pack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0" y="4318000"/>
            <a:ext cx="558800" cy="558800"/>
          </a:xfrm>
          <a:prstGeom prst="rect">
            <a:avLst/>
          </a:prstGeom>
        </p:spPr>
      </p:pic>
      <p:pic>
        <p:nvPicPr>
          <p:cNvPr id="414" name="Graphic 308" descr="Pack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45800" y="4318000"/>
            <a:ext cx="558800" cy="558800"/>
          </a:xfrm>
          <a:prstGeom prst="rect">
            <a:avLst/>
          </a:prstGeom>
        </p:spPr>
      </p:pic>
      <p:pic>
        <p:nvPicPr>
          <p:cNvPr id="22" name="Graphic 306" descr="Package">
            <a:extLst>
              <a:ext uri="{FF2B5EF4-FFF2-40B4-BE49-F238E27FC236}">
                <a16:creationId xmlns:a16="http://schemas.microsoft.com/office/drawing/2014/main" id="{11FBD069-474B-317F-BCFC-D45DBC8F32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217400" y="4323443"/>
            <a:ext cx="558800" cy="558800"/>
          </a:xfrm>
          <a:prstGeom prst="rect">
            <a:avLst/>
          </a:prstGeom>
        </p:spPr>
      </p:pic>
      <p:pic>
        <p:nvPicPr>
          <p:cNvPr id="24" name="Graphic 306" descr="Package">
            <a:extLst>
              <a:ext uri="{FF2B5EF4-FFF2-40B4-BE49-F238E27FC236}">
                <a16:creationId xmlns:a16="http://schemas.microsoft.com/office/drawing/2014/main" id="{6C19CFDD-49C1-99EE-74A0-72903E0A30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877800" y="4318000"/>
            <a:ext cx="558800" cy="558800"/>
          </a:xfrm>
          <a:prstGeom prst="rect">
            <a:avLst/>
          </a:prstGeom>
        </p:spPr>
      </p:pic>
      <p:pic>
        <p:nvPicPr>
          <p:cNvPr id="26" name="Graphic 306" descr="Package">
            <a:extLst>
              <a:ext uri="{FF2B5EF4-FFF2-40B4-BE49-F238E27FC236}">
                <a16:creationId xmlns:a16="http://schemas.microsoft.com/office/drawing/2014/main" id="{C71F481B-1DBB-13B3-29E4-D85471445E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544550" y="4305808"/>
            <a:ext cx="558800" cy="558800"/>
          </a:xfrm>
          <a:prstGeom prst="rect">
            <a:avLst/>
          </a:prstGeom>
        </p:spPr>
      </p:pic>
      <p:pic>
        <p:nvPicPr>
          <p:cNvPr id="28" name="Graphic 306" descr="Package">
            <a:extLst>
              <a:ext uri="{FF2B5EF4-FFF2-40B4-BE49-F238E27FC236}">
                <a16:creationId xmlns:a16="http://schemas.microsoft.com/office/drawing/2014/main" id="{94ED7AD9-2731-C905-659D-DC8828B79C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90111" y="4311251"/>
            <a:ext cx="558800" cy="558800"/>
          </a:xfrm>
          <a:prstGeom prst="rect">
            <a:avLst/>
          </a:prstGeom>
        </p:spPr>
      </p:pic>
      <p:pic>
        <p:nvPicPr>
          <p:cNvPr id="30" name="Graphic 306" descr="Package">
            <a:extLst>
              <a:ext uri="{FF2B5EF4-FFF2-40B4-BE49-F238E27FC236}">
                <a16:creationId xmlns:a16="http://schemas.microsoft.com/office/drawing/2014/main" id="{B1B1261B-558E-356F-0D3B-614C8FC882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850511" y="4305808"/>
            <a:ext cx="558800" cy="558800"/>
          </a:xfrm>
          <a:prstGeom prst="rect">
            <a:avLst/>
          </a:prstGeom>
        </p:spPr>
      </p:pic>
      <p:pic>
        <p:nvPicPr>
          <p:cNvPr id="32" name="Graphic 306" descr="Package">
            <a:extLst>
              <a:ext uri="{FF2B5EF4-FFF2-40B4-BE49-F238E27FC236}">
                <a16:creationId xmlns:a16="http://schemas.microsoft.com/office/drawing/2014/main" id="{CF4E2C8D-AA3D-6EE4-3B10-4725081344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468600" y="4293616"/>
            <a:ext cx="558800" cy="558800"/>
          </a:xfrm>
          <a:prstGeom prst="rect">
            <a:avLst/>
          </a:prstGeom>
        </p:spPr>
      </p:pic>
      <p:pic>
        <p:nvPicPr>
          <p:cNvPr id="34" name="Graphic 306" descr="Package">
            <a:extLst>
              <a:ext uri="{FF2B5EF4-FFF2-40B4-BE49-F238E27FC236}">
                <a16:creationId xmlns:a16="http://schemas.microsoft.com/office/drawing/2014/main" id="{38BB4300-71A9-5F71-14B4-5CC83398D6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130805" y="4285354"/>
            <a:ext cx="558800" cy="558800"/>
          </a:xfrm>
          <a:prstGeom prst="rect">
            <a:avLst/>
          </a:prstGeom>
        </p:spPr>
      </p:pic>
      <p:pic>
        <p:nvPicPr>
          <p:cNvPr id="36" name="Graphic 306" descr="Package">
            <a:extLst>
              <a:ext uri="{FF2B5EF4-FFF2-40B4-BE49-F238E27FC236}">
                <a16:creationId xmlns:a16="http://schemas.microsoft.com/office/drawing/2014/main" id="{5F9B3559-CDB5-0999-8AC2-F97FDE938A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791205" y="4279911"/>
            <a:ext cx="558800" cy="558800"/>
          </a:xfrm>
          <a:prstGeom prst="rect">
            <a:avLst/>
          </a:prstGeom>
        </p:spPr>
      </p:pic>
      <p:sp>
        <p:nvSpPr>
          <p:cNvPr id="40" name="Label">
            <a:extLst>
              <a:ext uri="{FF2B5EF4-FFF2-40B4-BE49-F238E27FC236}">
                <a16:creationId xmlns:a16="http://schemas.microsoft.com/office/drawing/2014/main" id="{5DB45278-A569-6FCB-0968-5C6620CA9316}"/>
              </a:ext>
            </a:extLst>
          </p:cNvPr>
          <p:cNvSpPr txBox="1"/>
          <p:nvPr/>
        </p:nvSpPr>
        <p:spPr>
          <a:xfrm>
            <a:off x="13236880" y="5306832"/>
            <a:ext cx="136464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Fixed fleet</a:t>
            </a:r>
          </a:p>
        </p:txBody>
      </p:sp>
      <p:pic>
        <p:nvPicPr>
          <p:cNvPr id="46" name="Graphic 305" descr="Truck">
            <a:extLst>
              <a:ext uri="{FF2B5EF4-FFF2-40B4-BE49-F238E27FC236}">
                <a16:creationId xmlns:a16="http://schemas.microsoft.com/office/drawing/2014/main" id="{910A00FD-4B82-4DFD-4083-7841BE2264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01600" y="5605145"/>
            <a:ext cx="635000" cy="635000"/>
          </a:xfrm>
          <a:prstGeom prst="rect">
            <a:avLst/>
          </a:prstGeom>
        </p:spPr>
      </p:pic>
      <p:pic>
        <p:nvPicPr>
          <p:cNvPr id="48" name="Graphic 305" descr="Truck">
            <a:extLst>
              <a:ext uri="{FF2B5EF4-FFF2-40B4-BE49-F238E27FC236}">
                <a16:creationId xmlns:a16="http://schemas.microsoft.com/office/drawing/2014/main" id="{56C17D9E-6592-6255-18AC-5741C363A8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01700" y="5605145"/>
            <a:ext cx="635000" cy="635000"/>
          </a:xfrm>
          <a:prstGeom prst="rect">
            <a:avLst/>
          </a:prstGeom>
        </p:spPr>
      </p:pic>
      <p:pic>
        <p:nvPicPr>
          <p:cNvPr id="50" name="Graphic 305" descr="Truck">
            <a:extLst>
              <a:ext uri="{FF2B5EF4-FFF2-40B4-BE49-F238E27FC236}">
                <a16:creationId xmlns:a16="http://schemas.microsoft.com/office/drawing/2014/main" id="{3E1E80FF-CDDD-846E-EA27-D5EC2BA25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56811" y="5605145"/>
            <a:ext cx="635000" cy="635000"/>
          </a:xfrm>
          <a:prstGeom prst="rect">
            <a:avLst/>
          </a:prstGeom>
        </p:spPr>
      </p:pic>
      <p:sp>
        <p:nvSpPr>
          <p:cNvPr id="52" name="Right Brace 51">
            <a:extLst>
              <a:ext uri="{FF2B5EF4-FFF2-40B4-BE49-F238E27FC236}">
                <a16:creationId xmlns:a16="http://schemas.microsoft.com/office/drawing/2014/main" id="{A0453EDD-0759-571A-BEEA-4471CE73B494}"/>
              </a:ext>
            </a:extLst>
          </p:cNvPr>
          <p:cNvSpPr/>
          <p:nvPr/>
        </p:nvSpPr>
        <p:spPr>
          <a:xfrm rot="5400000">
            <a:off x="13659303" y="3662636"/>
            <a:ext cx="316592" cy="2844800"/>
          </a:xfrm>
          <a:prstGeom prst="rightBrace">
            <a:avLst/>
          </a:prstGeom>
          <a:ln w="28575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ight Brace 53">
            <a:extLst>
              <a:ext uri="{FF2B5EF4-FFF2-40B4-BE49-F238E27FC236}">
                <a16:creationId xmlns:a16="http://schemas.microsoft.com/office/drawing/2014/main" id="{9EA17522-5AF5-6594-3400-6FEAB5647C2B}"/>
              </a:ext>
            </a:extLst>
          </p:cNvPr>
          <p:cNvSpPr/>
          <p:nvPr/>
        </p:nvSpPr>
        <p:spPr>
          <a:xfrm rot="5400000">
            <a:off x="16209430" y="4174070"/>
            <a:ext cx="316592" cy="1798253"/>
          </a:xfrm>
          <a:prstGeom prst="rightBrace">
            <a:avLst/>
          </a:prstGeom>
          <a:ln w="28575">
            <a:solidFill>
              <a:schemeClr val="bg1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Label">
            <a:extLst>
              <a:ext uri="{FF2B5EF4-FFF2-40B4-BE49-F238E27FC236}">
                <a16:creationId xmlns:a16="http://schemas.microsoft.com/office/drawing/2014/main" id="{F18560B1-1A83-7DC2-389B-C03176620E45}"/>
              </a:ext>
            </a:extLst>
          </p:cNvPr>
          <p:cNvSpPr txBox="1"/>
          <p:nvPr/>
        </p:nvSpPr>
        <p:spPr>
          <a:xfrm>
            <a:off x="15773400" y="5336328"/>
            <a:ext cx="136464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Outsource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E4D9B940-3472-B1E0-91B6-FE23BF7E2AA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5455899" y="5699549"/>
            <a:ext cx="635001" cy="526441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BD572D93-697B-50CA-7014-F6213398D30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5360462" y="6317963"/>
            <a:ext cx="775076" cy="653914"/>
          </a:xfrm>
          <a:prstGeom prst="rect">
            <a:avLst/>
          </a:prstGeom>
        </p:spPr>
      </p:pic>
      <p:sp>
        <p:nvSpPr>
          <p:cNvPr id="62" name="Label">
            <a:extLst>
              <a:ext uri="{FF2B5EF4-FFF2-40B4-BE49-F238E27FC236}">
                <a16:creationId xmlns:a16="http://schemas.microsoft.com/office/drawing/2014/main" id="{51F23AD0-FCA4-18EB-2DFA-84943CE33E2A}"/>
              </a:ext>
            </a:extLst>
          </p:cNvPr>
          <p:cNvSpPr txBox="1"/>
          <p:nvPr/>
        </p:nvSpPr>
        <p:spPr>
          <a:xfrm>
            <a:off x="16078200" y="5829311"/>
            <a:ext cx="1479282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Occasional driver</a:t>
            </a:r>
          </a:p>
        </p:txBody>
      </p:sp>
      <p:sp>
        <p:nvSpPr>
          <p:cNvPr id="256" name="Label">
            <a:extLst>
              <a:ext uri="{FF2B5EF4-FFF2-40B4-BE49-F238E27FC236}">
                <a16:creationId xmlns:a16="http://schemas.microsoft.com/office/drawing/2014/main" id="{A9FB2076-A5FA-EB71-CCFE-5D7693313804}"/>
              </a:ext>
            </a:extLst>
          </p:cNvPr>
          <p:cNvSpPr txBox="1"/>
          <p:nvPr/>
        </p:nvSpPr>
        <p:spPr>
          <a:xfrm>
            <a:off x="16122918" y="6552777"/>
            <a:ext cx="1479282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Gig worker</a:t>
            </a:r>
          </a:p>
        </p:txBody>
      </p:sp>
    </p:spTree>
    <p:extLst>
      <p:ext uri="{BB962C8B-B14F-4D97-AF65-F5344CB8AC3E}">
        <p14:creationId xmlns:p14="http://schemas.microsoft.com/office/powerpoint/2010/main" val="3293746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73200" y="3022600"/>
            <a:ext cx="15354300" cy="50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i="1" dirty="0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“What if part of this transportation capacity did not have to be maintained by the company?”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73200" y="1905000"/>
            <a:ext cx="14605000" cy="101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6000" dirty="0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FROM OWNING CAPACITY TO ACCESSING CAPACITY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890000" y="6502400"/>
            <a:ext cx="7937500" cy="2667000"/>
            <a:chOff x="0" y="0"/>
            <a:chExt cx="4167236" cy="7746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167236" cy="774628"/>
            </a:xfrm>
            <a:custGeom>
              <a:avLst/>
              <a:gdLst/>
              <a:ahLst/>
              <a:cxnLst/>
              <a:rect l="l" t="t" r="r" b="b"/>
              <a:pathLst>
                <a:path w="4167236" h="774628">
                  <a:moveTo>
                    <a:pt x="12232" y="0"/>
                  </a:moveTo>
                  <a:lnTo>
                    <a:pt x="4155003" y="0"/>
                  </a:lnTo>
                  <a:cubicBezTo>
                    <a:pt x="4158248" y="0"/>
                    <a:pt x="4161359" y="1289"/>
                    <a:pt x="4163653" y="3583"/>
                  </a:cubicBezTo>
                  <a:cubicBezTo>
                    <a:pt x="4165947" y="5877"/>
                    <a:pt x="4167236" y="8988"/>
                    <a:pt x="4167236" y="12232"/>
                  </a:cubicBezTo>
                  <a:lnTo>
                    <a:pt x="4167236" y="762395"/>
                  </a:lnTo>
                  <a:cubicBezTo>
                    <a:pt x="4167236" y="765639"/>
                    <a:pt x="4165947" y="768751"/>
                    <a:pt x="4163653" y="771045"/>
                  </a:cubicBezTo>
                  <a:cubicBezTo>
                    <a:pt x="4161359" y="773339"/>
                    <a:pt x="4158248" y="774628"/>
                    <a:pt x="4155003" y="774628"/>
                  </a:cubicBezTo>
                  <a:lnTo>
                    <a:pt x="12232" y="774628"/>
                  </a:lnTo>
                  <a:cubicBezTo>
                    <a:pt x="8988" y="774628"/>
                    <a:pt x="5877" y="773339"/>
                    <a:pt x="3583" y="771045"/>
                  </a:cubicBezTo>
                  <a:cubicBezTo>
                    <a:pt x="1289" y="768751"/>
                    <a:pt x="0" y="765639"/>
                    <a:pt x="0" y="762395"/>
                  </a:cubicBezTo>
                  <a:lnTo>
                    <a:pt x="0" y="12232"/>
                  </a:lnTo>
                  <a:cubicBezTo>
                    <a:pt x="0" y="8988"/>
                    <a:pt x="1289" y="5877"/>
                    <a:pt x="3583" y="3583"/>
                  </a:cubicBezTo>
                  <a:cubicBezTo>
                    <a:pt x="5877" y="1289"/>
                    <a:pt x="8988" y="0"/>
                    <a:pt x="12232" y="0"/>
                  </a:cubicBezTo>
                  <a:close/>
                </a:path>
              </a:pathLst>
            </a:custGeom>
            <a:solidFill>
              <a:srgbClr val="00599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167236" cy="812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176658" y="6678116"/>
            <a:ext cx="7650842" cy="400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rgbClr val="FFDE5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The Question Changing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76658" y="7331287"/>
            <a:ext cx="7366000" cy="79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From </a:t>
            </a:r>
            <a:r>
              <a:rPr lang="en-US" sz="22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“How much capacity should we maintain?”</a:t>
            </a:r>
          </a:p>
          <a:p>
            <a:pPr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n-US" sz="22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to </a:t>
            </a:r>
            <a:r>
              <a:rPr lang="en-US" sz="22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“How should we procure additional capacity?”</a:t>
            </a:r>
          </a:p>
        </p:txBody>
      </p:sp>
      <p:sp>
        <p:nvSpPr>
          <p:cNvPr id="12" name="Freeform 12"/>
          <p:cNvSpPr/>
          <p:nvPr/>
        </p:nvSpPr>
        <p:spPr>
          <a:xfrm>
            <a:off x="11125200" y="152400"/>
            <a:ext cx="7315200" cy="1792224"/>
          </a:xfrm>
          <a:custGeom>
            <a:avLst/>
            <a:gdLst/>
            <a:ahLst/>
            <a:cxnLst/>
            <a:rect l="l" t="t" r="r" b="b"/>
            <a:pathLst>
              <a:path w="7315200" h="1792224">
                <a:moveTo>
                  <a:pt x="0" y="0"/>
                </a:moveTo>
                <a:lnTo>
                  <a:pt x="7315200" y="0"/>
                </a:lnTo>
                <a:lnTo>
                  <a:pt x="7315200" y="1792224"/>
                </a:lnTo>
                <a:lnTo>
                  <a:pt x="0" y="1792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flipH="1" flipV="1">
            <a:off x="0" y="9461500"/>
            <a:ext cx="7315200" cy="1792224"/>
          </a:xfrm>
          <a:custGeom>
            <a:avLst/>
            <a:gdLst/>
            <a:ahLst/>
            <a:cxnLst/>
            <a:rect l="l" t="t" r="r" b="b"/>
            <a:pathLst>
              <a:path w="7315200" h="1792224">
                <a:moveTo>
                  <a:pt x="7315200" y="1792224"/>
                </a:moveTo>
                <a:lnTo>
                  <a:pt x="0" y="1792224"/>
                </a:lnTo>
                <a:lnTo>
                  <a:pt x="0" y="0"/>
                </a:lnTo>
                <a:lnTo>
                  <a:pt x="7315200" y="0"/>
                </a:lnTo>
                <a:lnTo>
                  <a:pt x="7315200" y="179222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0" name="Flow label"/>
          <p:cNvSpPr txBox="1"/>
          <p:nvPr/>
        </p:nvSpPr>
        <p:spPr>
          <a:xfrm>
            <a:off x="1473200" y="3810000"/>
            <a:ext cx="27305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Traditional model</a:t>
            </a:r>
          </a:p>
        </p:txBody>
      </p:sp>
      <p:sp>
        <p:nvSpPr>
          <p:cNvPr id="301" name="Flow node"/>
          <p:cNvSpPr/>
          <p:nvPr/>
        </p:nvSpPr>
        <p:spPr>
          <a:xfrm>
            <a:off x="4381500" y="3810000"/>
            <a:ext cx="2496403" cy="711200"/>
          </a:xfrm>
          <a:prstGeom prst="roundRect">
            <a:avLst>
              <a:gd name="adj" fmla="val 15000"/>
            </a:avLst>
          </a:prstGeom>
          <a:solidFill>
            <a:srgbClr val="005990"/>
          </a:solidFill>
          <a:ln>
            <a:noFill/>
          </a:ln>
        </p:spPr>
        <p:txBody>
          <a:bodyPr wrap="square" lIns="101600" tIns="101600" rIns="101600" bIns="1016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Company</a:t>
            </a:r>
          </a:p>
        </p:txBody>
      </p:sp>
      <p:sp>
        <p:nvSpPr>
          <p:cNvPr id="302" name="Flow arrow"/>
          <p:cNvSpPr/>
          <p:nvPr/>
        </p:nvSpPr>
        <p:spPr>
          <a:xfrm>
            <a:off x="6954103" y="4025900"/>
            <a:ext cx="279400" cy="279400"/>
          </a:xfrm>
          <a:prstGeom prst="rightArrow">
            <a:avLst/>
          </a:prstGeom>
          <a:solidFill>
            <a:srgbClr val="0071B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303" name="Flow node"/>
          <p:cNvSpPr/>
          <p:nvPr/>
        </p:nvSpPr>
        <p:spPr>
          <a:xfrm>
            <a:off x="7309703" y="3810000"/>
            <a:ext cx="3328537" cy="711200"/>
          </a:xfrm>
          <a:prstGeom prst="roundRect">
            <a:avLst>
              <a:gd name="adj" fmla="val 15000"/>
            </a:avLst>
          </a:prstGeom>
          <a:solidFill>
            <a:srgbClr val="005990"/>
          </a:solidFill>
          <a:ln>
            <a:noFill/>
          </a:ln>
        </p:spPr>
        <p:txBody>
          <a:bodyPr wrap="square" lIns="101600" tIns="101600" rIns="101600" bIns="1016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Own / maintain</a:t>
            </a:r>
          </a:p>
        </p:txBody>
      </p:sp>
      <p:sp>
        <p:nvSpPr>
          <p:cNvPr id="304" name="Flow arrow"/>
          <p:cNvSpPr/>
          <p:nvPr/>
        </p:nvSpPr>
        <p:spPr>
          <a:xfrm>
            <a:off x="10714440" y="4025900"/>
            <a:ext cx="279400" cy="279400"/>
          </a:xfrm>
          <a:prstGeom prst="rightArrow">
            <a:avLst/>
          </a:prstGeom>
          <a:solidFill>
            <a:srgbClr val="0071B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305" name="Flow node"/>
          <p:cNvSpPr/>
          <p:nvPr/>
        </p:nvSpPr>
        <p:spPr>
          <a:xfrm>
            <a:off x="11070040" y="3810000"/>
            <a:ext cx="2829257" cy="711200"/>
          </a:xfrm>
          <a:prstGeom prst="roundRect">
            <a:avLst>
              <a:gd name="adj" fmla="val 15000"/>
            </a:avLst>
          </a:prstGeom>
          <a:solidFill>
            <a:srgbClr val="005990"/>
          </a:solidFill>
          <a:ln>
            <a:noFill/>
          </a:ln>
        </p:spPr>
        <p:txBody>
          <a:bodyPr wrap="square" lIns="101600" tIns="101600" rIns="101600" bIns="1016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Fixed fleet</a:t>
            </a:r>
          </a:p>
        </p:txBody>
      </p:sp>
      <p:sp>
        <p:nvSpPr>
          <p:cNvPr id="306" name="Flow arrow"/>
          <p:cNvSpPr/>
          <p:nvPr/>
        </p:nvSpPr>
        <p:spPr>
          <a:xfrm>
            <a:off x="13975497" y="4025900"/>
            <a:ext cx="279400" cy="279400"/>
          </a:xfrm>
          <a:prstGeom prst="rightArrow">
            <a:avLst/>
          </a:prstGeom>
          <a:solidFill>
            <a:srgbClr val="0071B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307" name="Flow node"/>
          <p:cNvSpPr/>
          <p:nvPr/>
        </p:nvSpPr>
        <p:spPr>
          <a:xfrm>
            <a:off x="14331097" y="3810000"/>
            <a:ext cx="2496403" cy="711200"/>
          </a:xfrm>
          <a:prstGeom prst="roundRect">
            <a:avLst>
              <a:gd name="adj" fmla="val 15000"/>
            </a:avLst>
          </a:prstGeom>
          <a:solidFill>
            <a:srgbClr val="0C3877"/>
          </a:solidFill>
          <a:ln>
            <a:noFill/>
          </a:ln>
        </p:spPr>
        <p:txBody>
          <a:bodyPr wrap="square" lIns="101600" tIns="101600" rIns="101600" bIns="1016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Delivery</a:t>
            </a:r>
          </a:p>
        </p:txBody>
      </p:sp>
      <p:sp>
        <p:nvSpPr>
          <p:cNvPr id="308" name="Flow label"/>
          <p:cNvSpPr txBox="1"/>
          <p:nvPr/>
        </p:nvSpPr>
        <p:spPr>
          <a:xfrm>
            <a:off x="1473200" y="4673600"/>
            <a:ext cx="27305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Gig-based model</a:t>
            </a:r>
          </a:p>
        </p:txBody>
      </p:sp>
      <p:sp>
        <p:nvSpPr>
          <p:cNvPr id="309" name="Flow node"/>
          <p:cNvSpPr/>
          <p:nvPr/>
        </p:nvSpPr>
        <p:spPr>
          <a:xfrm>
            <a:off x="4381500" y="4673600"/>
            <a:ext cx="1592943" cy="711200"/>
          </a:xfrm>
          <a:prstGeom prst="roundRect">
            <a:avLst>
              <a:gd name="adj" fmla="val 15000"/>
            </a:avLst>
          </a:prstGeom>
          <a:solidFill>
            <a:srgbClr val="FFDE59"/>
          </a:solidFill>
          <a:ln>
            <a:noFill/>
          </a:ln>
        </p:spPr>
        <p:txBody>
          <a:bodyPr wrap="square" lIns="101600" tIns="101600" rIns="101600" bIns="1016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Platform</a:t>
            </a:r>
          </a:p>
        </p:txBody>
      </p:sp>
      <p:sp>
        <p:nvSpPr>
          <p:cNvPr id="310" name="Flow arrow"/>
          <p:cNvSpPr/>
          <p:nvPr/>
        </p:nvSpPr>
        <p:spPr>
          <a:xfrm>
            <a:off x="6050643" y="4889500"/>
            <a:ext cx="279400" cy="279400"/>
          </a:xfrm>
          <a:prstGeom prst="rightArrow">
            <a:avLst/>
          </a:prstGeom>
          <a:solidFill>
            <a:srgbClr val="0071B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311" name="Flow node"/>
          <p:cNvSpPr/>
          <p:nvPr/>
        </p:nvSpPr>
        <p:spPr>
          <a:xfrm>
            <a:off x="6406243" y="4673600"/>
            <a:ext cx="3185886" cy="711200"/>
          </a:xfrm>
          <a:prstGeom prst="roundRect">
            <a:avLst>
              <a:gd name="adj" fmla="val 15000"/>
            </a:avLst>
          </a:prstGeom>
          <a:solidFill>
            <a:srgbClr val="FFDE59"/>
          </a:solidFill>
          <a:ln>
            <a:noFill/>
          </a:ln>
        </p:spPr>
        <p:txBody>
          <a:bodyPr wrap="square" lIns="101600" tIns="101600" rIns="101600" bIns="1016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Access external capacity</a:t>
            </a:r>
          </a:p>
        </p:txBody>
      </p:sp>
      <p:sp>
        <p:nvSpPr>
          <p:cNvPr id="312" name="Flow arrow"/>
          <p:cNvSpPr/>
          <p:nvPr/>
        </p:nvSpPr>
        <p:spPr>
          <a:xfrm>
            <a:off x="9668329" y="4889500"/>
            <a:ext cx="279400" cy="279400"/>
          </a:xfrm>
          <a:prstGeom prst="rightArrow">
            <a:avLst/>
          </a:prstGeom>
          <a:solidFill>
            <a:srgbClr val="0071B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313" name="Flow node"/>
          <p:cNvSpPr/>
          <p:nvPr/>
        </p:nvSpPr>
        <p:spPr>
          <a:xfrm>
            <a:off x="10023929" y="4673600"/>
            <a:ext cx="4778829" cy="711200"/>
          </a:xfrm>
          <a:prstGeom prst="roundRect">
            <a:avLst>
              <a:gd name="adj" fmla="val 15000"/>
            </a:avLst>
          </a:prstGeom>
          <a:solidFill>
            <a:srgbClr val="FFDE59"/>
          </a:solidFill>
          <a:ln>
            <a:noFill/>
          </a:ln>
        </p:spPr>
        <p:txBody>
          <a:bodyPr wrap="square" lIns="101600" tIns="101600" rIns="101600" bIns="1016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Gig workers (own vehicles + spare time)</a:t>
            </a:r>
          </a:p>
        </p:txBody>
      </p:sp>
      <p:sp>
        <p:nvSpPr>
          <p:cNvPr id="314" name="Flow arrow"/>
          <p:cNvSpPr/>
          <p:nvPr/>
        </p:nvSpPr>
        <p:spPr>
          <a:xfrm>
            <a:off x="14878957" y="4889500"/>
            <a:ext cx="279400" cy="279400"/>
          </a:xfrm>
          <a:prstGeom prst="rightArrow">
            <a:avLst/>
          </a:prstGeom>
          <a:solidFill>
            <a:srgbClr val="0071B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315" name="Flow node"/>
          <p:cNvSpPr/>
          <p:nvPr/>
        </p:nvSpPr>
        <p:spPr>
          <a:xfrm>
            <a:off x="15234557" y="4673600"/>
            <a:ext cx="1592943" cy="711200"/>
          </a:xfrm>
          <a:prstGeom prst="roundRect">
            <a:avLst>
              <a:gd name="adj" fmla="val 15000"/>
            </a:avLst>
          </a:prstGeom>
          <a:solidFill>
            <a:srgbClr val="0C3877"/>
          </a:solidFill>
          <a:ln>
            <a:noFill/>
          </a:ln>
        </p:spPr>
        <p:txBody>
          <a:bodyPr wrap="square" lIns="101600" tIns="101600" rIns="101600" bIns="1016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Delivery</a:t>
            </a:r>
          </a:p>
        </p:txBody>
      </p:sp>
      <p:sp>
        <p:nvSpPr>
          <p:cNvPr id="316" name="Flow label"/>
          <p:cNvSpPr txBox="1"/>
          <p:nvPr/>
        </p:nvSpPr>
        <p:spPr>
          <a:xfrm>
            <a:off x="1473200" y="5537200"/>
            <a:ext cx="27305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Combined: a hybrid fleet</a:t>
            </a:r>
          </a:p>
        </p:txBody>
      </p:sp>
      <p:sp>
        <p:nvSpPr>
          <p:cNvPr id="317" name="Flow node"/>
          <p:cNvSpPr/>
          <p:nvPr/>
        </p:nvSpPr>
        <p:spPr>
          <a:xfrm>
            <a:off x="4381500" y="5537200"/>
            <a:ext cx="2517913" cy="711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71B3"/>
            </a:solidFill>
          </a:ln>
        </p:spPr>
        <p:txBody>
          <a:bodyPr wrap="square" lIns="101600" tIns="101600" rIns="101600" bIns="1016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Platform</a:t>
            </a:r>
          </a:p>
        </p:txBody>
      </p:sp>
      <p:sp>
        <p:nvSpPr>
          <p:cNvPr id="318" name="Flow arrow"/>
          <p:cNvSpPr/>
          <p:nvPr/>
        </p:nvSpPr>
        <p:spPr>
          <a:xfrm>
            <a:off x="6975613" y="5753100"/>
            <a:ext cx="279400" cy="279400"/>
          </a:xfrm>
          <a:prstGeom prst="rightArrow">
            <a:avLst/>
          </a:prstGeom>
          <a:solidFill>
            <a:srgbClr val="0071B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319" name="Flow node"/>
          <p:cNvSpPr/>
          <p:nvPr/>
        </p:nvSpPr>
        <p:spPr>
          <a:xfrm>
            <a:off x="7331213" y="5537200"/>
            <a:ext cx="5203687" cy="711200"/>
          </a:xfrm>
          <a:prstGeom prst="roundRect">
            <a:avLst>
              <a:gd name="adj" fmla="val 15000"/>
            </a:avLst>
          </a:prstGeom>
          <a:solidFill>
            <a:srgbClr val="E8EEF5"/>
          </a:solidFill>
          <a:ln w="15875">
            <a:solidFill>
              <a:srgbClr val="0071B3"/>
            </a:solidFill>
          </a:ln>
        </p:spPr>
        <p:txBody>
          <a:bodyPr wrap="square" lIns="101600" tIns="101600" rIns="101600" bIns="1016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Fixed fleet + Gig workers</a:t>
            </a:r>
          </a:p>
        </p:txBody>
      </p:sp>
      <p:sp>
        <p:nvSpPr>
          <p:cNvPr id="320" name="Flow arrow"/>
          <p:cNvSpPr/>
          <p:nvPr/>
        </p:nvSpPr>
        <p:spPr>
          <a:xfrm>
            <a:off x="12611100" y="5753100"/>
            <a:ext cx="279400" cy="279400"/>
          </a:xfrm>
          <a:prstGeom prst="rightArrow">
            <a:avLst/>
          </a:prstGeom>
          <a:solidFill>
            <a:srgbClr val="0071B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321" name="Flow node"/>
          <p:cNvSpPr/>
          <p:nvPr/>
        </p:nvSpPr>
        <p:spPr>
          <a:xfrm>
            <a:off x="12966700" y="5537200"/>
            <a:ext cx="3860800" cy="711200"/>
          </a:xfrm>
          <a:prstGeom prst="roundRect">
            <a:avLst>
              <a:gd name="adj" fmla="val 15000"/>
            </a:avLst>
          </a:prstGeom>
          <a:solidFill>
            <a:srgbClr val="0C3877"/>
          </a:solidFill>
          <a:ln>
            <a:noFill/>
          </a:ln>
        </p:spPr>
        <p:txBody>
          <a:bodyPr wrap="square" lIns="101600" tIns="101600" rIns="101600" bIns="1016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Delivery capacity</a:t>
            </a:r>
          </a:p>
        </p:txBody>
      </p:sp>
      <p:sp>
        <p:nvSpPr>
          <p:cNvPr id="322" name="Attractive card"/>
          <p:cNvSpPr/>
          <p:nvPr/>
        </p:nvSpPr>
        <p:spPr>
          <a:xfrm>
            <a:off x="1473200" y="6502400"/>
            <a:ext cx="7112000" cy="266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1B3"/>
            </a:solidFill>
          </a:ln>
        </p:spPr>
        <p:txBody>
          <a:bodyPr wrap="square" lIns="254000" tIns="254000" rIns="254000" bIns="2540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Why this is attractive</a:t>
            </a:r>
          </a:p>
          <a:p>
            <a:pPr marL="342900" indent="-342900" algn="l">
              <a:lnSpc>
                <a:spcPct val="100000"/>
              </a:lnSpc>
              <a:spcBef>
                <a:spcPts val="600"/>
              </a:spcBef>
              <a:buClr>
                <a:srgbClr val="0071B3"/>
              </a:buClr>
              <a:buFont typeface="Arial"/>
              <a:buChar char="•"/>
            </a:pPr>
            <a:r>
              <a:rPr lang="en-US" sz="21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More flexible capacity</a:t>
            </a:r>
          </a:p>
          <a:p>
            <a:pPr marL="342900" indent="-342900" algn="l">
              <a:lnSpc>
                <a:spcPct val="100000"/>
              </a:lnSpc>
              <a:spcBef>
                <a:spcPts val="300"/>
              </a:spcBef>
              <a:buClr>
                <a:srgbClr val="0071B3"/>
              </a:buClr>
              <a:buFont typeface="Arial"/>
              <a:buChar char="•"/>
            </a:pPr>
            <a:r>
              <a:rPr lang="en-US" sz="21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Better scalability when demand fluctuates</a:t>
            </a:r>
          </a:p>
          <a:p>
            <a:pPr marL="342900" indent="-342900" algn="l">
              <a:lnSpc>
                <a:spcPct val="100000"/>
              </a:lnSpc>
              <a:spcBef>
                <a:spcPts val="300"/>
              </a:spcBef>
              <a:buClr>
                <a:srgbClr val="0071B3"/>
              </a:buClr>
              <a:buFont typeface="Arial"/>
              <a:buChar char="•"/>
            </a:pPr>
            <a:r>
              <a:rPr lang="en-US" sz="21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Less cost to maintain a large permanent fleet</a:t>
            </a:r>
          </a:p>
          <a:p>
            <a:pPr algn="l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800" i="1" dirty="0">
                <a:solidFill>
                  <a:srgbClr val="5A6B85"/>
                </a:solidFill>
                <a:latin typeface="Codec Pro"/>
                <a:ea typeface="Codec Pro"/>
                <a:cs typeface="Codec Pro"/>
                <a:sym typeface="Codec Pro"/>
              </a:rPr>
              <a:t>Gig capacity can reduce the need to maintain all transportation capacity in-house.</a:t>
            </a:r>
          </a:p>
        </p:txBody>
      </p:sp>
    </p:spTree>
    <p:extLst>
      <p:ext uri="{BB962C8B-B14F-4D97-AF65-F5344CB8AC3E}">
        <p14:creationId xmlns:p14="http://schemas.microsoft.com/office/powerpoint/2010/main" val="342293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663700" y="3585994"/>
            <a:ext cx="7937500" cy="5080000"/>
            <a:chOff x="0" y="0"/>
            <a:chExt cx="2670417" cy="10398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70417" cy="1039811"/>
            </a:xfrm>
            <a:custGeom>
              <a:avLst/>
              <a:gdLst/>
              <a:ahLst/>
              <a:cxnLst/>
              <a:rect l="l" t="t" r="r" b="b"/>
              <a:pathLst>
                <a:path w="2670417" h="1039811">
                  <a:moveTo>
                    <a:pt x="19089" y="0"/>
                  </a:moveTo>
                  <a:lnTo>
                    <a:pt x="2651328" y="0"/>
                  </a:lnTo>
                  <a:cubicBezTo>
                    <a:pt x="2656391" y="0"/>
                    <a:pt x="2661246" y="2011"/>
                    <a:pt x="2664826" y="5591"/>
                  </a:cubicBezTo>
                  <a:cubicBezTo>
                    <a:pt x="2668406" y="9171"/>
                    <a:pt x="2670417" y="14026"/>
                    <a:pt x="2670417" y="19089"/>
                  </a:cubicBezTo>
                  <a:lnTo>
                    <a:pt x="2670417" y="1020722"/>
                  </a:lnTo>
                  <a:cubicBezTo>
                    <a:pt x="2670417" y="1025785"/>
                    <a:pt x="2668406" y="1030640"/>
                    <a:pt x="2664826" y="1034220"/>
                  </a:cubicBezTo>
                  <a:cubicBezTo>
                    <a:pt x="2661246" y="1037800"/>
                    <a:pt x="2656391" y="1039811"/>
                    <a:pt x="2651328" y="1039811"/>
                  </a:cubicBezTo>
                  <a:lnTo>
                    <a:pt x="19089" y="1039811"/>
                  </a:lnTo>
                  <a:cubicBezTo>
                    <a:pt x="14026" y="1039811"/>
                    <a:pt x="9171" y="1037800"/>
                    <a:pt x="5591" y="1034220"/>
                  </a:cubicBezTo>
                  <a:cubicBezTo>
                    <a:pt x="2011" y="1030640"/>
                    <a:pt x="0" y="1025785"/>
                    <a:pt x="0" y="1020722"/>
                  </a:cubicBezTo>
                  <a:lnTo>
                    <a:pt x="0" y="19089"/>
                  </a:lnTo>
                  <a:cubicBezTo>
                    <a:pt x="0" y="14026"/>
                    <a:pt x="2011" y="9171"/>
                    <a:pt x="5591" y="5591"/>
                  </a:cubicBezTo>
                  <a:cubicBezTo>
                    <a:pt x="9171" y="2011"/>
                    <a:pt x="14026" y="0"/>
                    <a:pt x="19089" y="0"/>
                  </a:cubicBezTo>
                  <a:close/>
                </a:path>
              </a:pathLst>
            </a:custGeom>
            <a:solidFill>
              <a:srgbClr val="00599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670417" cy="10779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88900" y="8128000"/>
            <a:ext cx="3820500" cy="5454611"/>
          </a:xfrm>
          <a:custGeom>
            <a:avLst/>
            <a:gdLst/>
            <a:ahLst/>
            <a:cxnLst/>
            <a:rect l="l" t="t" r="r" b="b"/>
            <a:pathLst>
              <a:path w="3820500" h="5454611">
                <a:moveTo>
                  <a:pt x="0" y="0"/>
                </a:moveTo>
                <a:lnTo>
                  <a:pt x="3820501" y="0"/>
                </a:lnTo>
                <a:lnTo>
                  <a:pt x="3820501" y="5454611"/>
                </a:lnTo>
                <a:lnTo>
                  <a:pt x="0" y="54546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flipH="1">
            <a:off x="13731295" y="9447807"/>
            <a:ext cx="4556705" cy="839193"/>
          </a:xfrm>
          <a:custGeom>
            <a:avLst/>
            <a:gdLst/>
            <a:ahLst/>
            <a:cxnLst/>
            <a:rect l="l" t="t" r="r" b="b"/>
            <a:pathLst>
              <a:path w="4556705" h="839193">
                <a:moveTo>
                  <a:pt x="4556705" y="0"/>
                </a:moveTo>
                <a:lnTo>
                  <a:pt x="0" y="0"/>
                </a:lnTo>
                <a:lnTo>
                  <a:pt x="0" y="839193"/>
                </a:lnTo>
                <a:lnTo>
                  <a:pt x="4556705" y="839193"/>
                </a:lnTo>
                <a:lnTo>
                  <a:pt x="45567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0252683" y="3475477"/>
            <a:ext cx="6604000" cy="190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The basic idea: </a:t>
            </a:r>
            <a:r>
              <a:rPr lang="en-US" sz="22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let multiple potential suppliers compete to provide the service.</a:t>
            </a:r>
          </a:p>
          <a:p>
            <a:pPr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n-US" sz="22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The platform asks: </a:t>
            </a:r>
            <a:r>
              <a:rPr lang="en-US" sz="22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“Who is willing to perform this delivery, and at what cost?”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73200" y="1397000"/>
            <a:ext cx="13970000" cy="101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6000" dirty="0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WHY AN AUCTION?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44700" y="3839994"/>
            <a:ext cx="7239000" cy="48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FFDE5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Fixed driver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44700" y="4347994"/>
            <a:ext cx="71120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The company controls the capacity</a:t>
            </a:r>
          </a:p>
        </p:txBody>
      </p:sp>
      <p:sp>
        <p:nvSpPr>
          <p:cNvPr id="300" name="Quote"/>
          <p:cNvSpPr txBox="1"/>
          <p:nvPr/>
        </p:nvSpPr>
        <p:spPr>
          <a:xfrm>
            <a:off x="1473200" y="2603500"/>
            <a:ext cx="153543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i="1" dirty="0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“We now have external capacity. But how should the platform allocate delivery tasks among independent workers?”</a:t>
            </a:r>
          </a:p>
        </p:txBody>
      </p:sp>
      <p:graphicFrame>
        <p:nvGraphicFramePr>
          <p:cNvPr id="301" name="Worke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979408"/>
              </p:ext>
            </p:extLst>
          </p:nvPr>
        </p:nvGraphicFramePr>
        <p:xfrm>
          <a:off x="10252683" y="5507477"/>
          <a:ext cx="6604000" cy="2921000"/>
        </p:xfrm>
        <a:graphic>
          <a:graphicData uri="http://schemas.openxmlformats.org/drawingml/2006/table">
            <a:tbl>
              <a:tblPr firstRow="1"/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Worker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Their cost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Their bid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1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$8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$9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2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$6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b="0" dirty="0">
                          <a:solidFill>
                            <a:srgbClr val="0C3877"/>
                          </a:solidFill>
                          <a:latin typeface="Codec Pro" panose="020B0604020202020204" charset="0"/>
                          <a:ea typeface="Codec Pro"/>
                          <a:cs typeface="Codec Pro"/>
                          <a:sym typeface="Codec Pro"/>
                        </a:rPr>
                        <a:t>$7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3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$10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$10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4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$5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$8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2" name="Assignment box"/>
          <p:cNvSpPr/>
          <p:nvPr/>
        </p:nvSpPr>
        <p:spPr>
          <a:xfrm>
            <a:off x="2044700" y="4855994"/>
            <a:ext cx="7175500" cy="736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wrap="square" lIns="177800" tIns="177800" rIns="177800" bIns="17780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ASSIGNMENT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i="1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“Driver 3, you deliver this order.”</a:t>
            </a:r>
          </a:p>
        </p:txBody>
      </p:sp>
      <p:sp>
        <p:nvSpPr>
          <p:cNvPr id="303" name="Transform arrow"/>
          <p:cNvSpPr/>
          <p:nvPr/>
        </p:nvSpPr>
        <p:spPr>
          <a:xfrm>
            <a:off x="5346700" y="5930900"/>
            <a:ext cx="584200" cy="508000"/>
          </a:xfrm>
          <a:prstGeom prst="downArrow">
            <a:avLst/>
          </a:prstGeom>
          <a:solidFill>
            <a:srgbClr val="FFDE5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304" name="Gig head"/>
          <p:cNvSpPr txBox="1"/>
          <p:nvPr/>
        </p:nvSpPr>
        <p:spPr>
          <a:xfrm>
            <a:off x="2044700" y="6316494"/>
            <a:ext cx="7239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FFDE5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Gig worker</a:t>
            </a:r>
          </a:p>
        </p:txBody>
      </p:sp>
      <p:sp>
        <p:nvSpPr>
          <p:cNvPr id="305" name="Gig sub"/>
          <p:cNvSpPr txBox="1"/>
          <p:nvPr/>
        </p:nvSpPr>
        <p:spPr>
          <a:xfrm>
            <a:off x="2044700" y="6824494"/>
            <a:ext cx="711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The capacity belongs to an independent worker</a:t>
            </a:r>
          </a:p>
        </p:txBody>
      </p:sp>
      <p:sp>
        <p:nvSpPr>
          <p:cNvPr id="306" name="Procurement box"/>
          <p:cNvSpPr/>
          <p:nvPr/>
        </p:nvSpPr>
        <p:spPr>
          <a:xfrm>
            <a:off x="2044700" y="7332494"/>
            <a:ext cx="7175500" cy="1041400"/>
          </a:xfrm>
          <a:prstGeom prst="roundRect">
            <a:avLst>
              <a:gd name="adj" fmla="val 12000"/>
            </a:avLst>
          </a:prstGeom>
          <a:solidFill>
            <a:srgbClr val="FFDE59"/>
          </a:solidFill>
          <a:ln>
            <a:noFill/>
          </a:ln>
        </p:spPr>
        <p:txBody>
          <a:bodyPr wrap="square" lIns="177800" tIns="177800" rIns="177800" bIns="17780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PROCUREMENT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i="1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“Who is willing to provide it, and at what cost?”</a:t>
            </a:r>
          </a:p>
        </p:txBody>
      </p:sp>
      <p:sp>
        <p:nvSpPr>
          <p:cNvPr id="307" name="Takeaway banner"/>
          <p:cNvSpPr/>
          <p:nvPr/>
        </p:nvSpPr>
        <p:spPr>
          <a:xfrm>
            <a:off x="4064000" y="8890000"/>
            <a:ext cx="12763500" cy="88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071B3"/>
            </a:solidFill>
          </a:ln>
        </p:spPr>
        <p:txBody>
          <a:bodyPr wrap="square" lIns="203200" tIns="203200" rIns="203200" bIns="20320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When transportation capacity becomes external and independently supplied, allocation becomes a procurement problem, and an auction is a natural way for workers to compete for delivery tasks.</a:t>
            </a:r>
          </a:p>
        </p:txBody>
      </p:sp>
      <p:pic>
        <p:nvPicPr>
          <p:cNvPr id="8" name="Graphic 306" descr="Package">
            <a:extLst>
              <a:ext uri="{FF2B5EF4-FFF2-40B4-BE49-F238E27FC236}">
                <a16:creationId xmlns:a16="http://schemas.microsoft.com/office/drawing/2014/main" id="{F56AA99A-22B6-2311-1290-318F61C294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2395" y="3475477"/>
            <a:ext cx="914061" cy="914061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7ABF15D-1CDB-9368-3E1A-32E9499FD2ED}"/>
              </a:ext>
            </a:extLst>
          </p:cNvPr>
          <p:cNvCxnSpPr>
            <a:cxnSpLocks/>
          </p:cNvCxnSpPr>
          <p:nvPr/>
        </p:nvCxnSpPr>
        <p:spPr>
          <a:xfrm>
            <a:off x="769426" y="4756331"/>
            <a:ext cx="0" cy="2576163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B8D21D21-D8AC-E7FD-F029-92CD4D775FB2}"/>
              </a:ext>
            </a:extLst>
          </p:cNvPr>
          <p:cNvSpPr/>
          <p:nvPr/>
        </p:nvSpPr>
        <p:spPr>
          <a:xfrm>
            <a:off x="693228" y="4703598"/>
            <a:ext cx="152396" cy="152396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928F177E-BAF0-ED3A-36C0-BB3F28E10384}"/>
              </a:ext>
            </a:extLst>
          </p:cNvPr>
          <p:cNvSpPr/>
          <p:nvPr/>
        </p:nvSpPr>
        <p:spPr>
          <a:xfrm>
            <a:off x="693228" y="7256296"/>
            <a:ext cx="152396" cy="152396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C70993-299D-D210-69E8-309FF04E2EEC}"/>
              </a:ext>
            </a:extLst>
          </p:cNvPr>
          <p:cNvSpPr txBox="1"/>
          <p:nvPr/>
        </p:nvSpPr>
        <p:spPr>
          <a:xfrm>
            <a:off x="921822" y="4566602"/>
            <a:ext cx="91875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480E5E-E4A7-15B6-1972-6695423B435E}"/>
              </a:ext>
            </a:extLst>
          </p:cNvPr>
          <p:cNvSpPr txBox="1"/>
          <p:nvPr/>
        </p:nvSpPr>
        <p:spPr>
          <a:xfrm>
            <a:off x="976407" y="7120235"/>
            <a:ext cx="91875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C3877"/>
                </a:solidFill>
                <a:latin typeface="Codec Pro Bold"/>
                <a:sym typeface="Codec Pro Bold"/>
              </a:rPr>
              <a:t>B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4DA7BD7-54B9-51D5-E12D-DA77A2D37934}"/>
              </a:ext>
            </a:extLst>
          </p:cNvPr>
          <p:cNvSpPr/>
          <p:nvPr/>
        </p:nvSpPr>
        <p:spPr>
          <a:xfrm>
            <a:off x="13284200" y="5625406"/>
            <a:ext cx="1905000" cy="292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Private Information</a:t>
            </a:r>
          </a:p>
        </p:txBody>
      </p:sp>
    </p:spTree>
    <p:extLst>
      <p:ext uri="{BB962C8B-B14F-4D97-AF65-F5344CB8AC3E}">
        <p14:creationId xmlns:p14="http://schemas.microsoft.com/office/powerpoint/2010/main" val="40718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88900" y="8128000"/>
            <a:ext cx="3820500" cy="5454611"/>
          </a:xfrm>
          <a:custGeom>
            <a:avLst/>
            <a:gdLst/>
            <a:ahLst/>
            <a:cxnLst/>
            <a:rect l="l" t="t" r="r" b="b"/>
            <a:pathLst>
              <a:path w="3820500" h="5454611">
                <a:moveTo>
                  <a:pt x="0" y="0"/>
                </a:moveTo>
                <a:lnTo>
                  <a:pt x="3820501" y="0"/>
                </a:lnTo>
                <a:lnTo>
                  <a:pt x="3820501" y="5454611"/>
                </a:lnTo>
                <a:lnTo>
                  <a:pt x="0" y="54546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flipH="1">
            <a:off x="13731295" y="9447807"/>
            <a:ext cx="4556705" cy="839193"/>
          </a:xfrm>
          <a:custGeom>
            <a:avLst/>
            <a:gdLst/>
            <a:ahLst/>
            <a:cxnLst/>
            <a:rect l="l" t="t" r="r" b="b"/>
            <a:pathLst>
              <a:path w="4556705" h="839193">
                <a:moveTo>
                  <a:pt x="4556705" y="0"/>
                </a:moveTo>
                <a:lnTo>
                  <a:pt x="0" y="0"/>
                </a:lnTo>
                <a:lnTo>
                  <a:pt x="0" y="839193"/>
                </a:lnTo>
                <a:lnTo>
                  <a:pt x="4556705" y="839193"/>
                </a:lnTo>
                <a:lnTo>
                  <a:pt x="45567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473200" y="1397000"/>
            <a:ext cx="13970000" cy="101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6000" dirty="0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GIG 2 WINS WITH A $7 BID AND EARNS $1</a:t>
            </a:r>
          </a:p>
        </p:txBody>
      </p:sp>
      <p:sp>
        <p:nvSpPr>
          <p:cNvPr id="300" name="Quote"/>
          <p:cNvSpPr txBox="1"/>
          <p:nvPr/>
        </p:nvSpPr>
        <p:spPr>
          <a:xfrm>
            <a:off x="1473200" y="2603500"/>
            <a:ext cx="153543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i="1" dirty="0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Rule: the lowest bid wins, and the winner is paid its own bid.</a:t>
            </a:r>
          </a:p>
        </p:txBody>
      </p:sp>
      <p:sp>
        <p:nvSpPr>
          <p:cNvPr id="307" name="Takeaway banner"/>
          <p:cNvSpPr/>
          <p:nvPr/>
        </p:nvSpPr>
        <p:spPr>
          <a:xfrm>
            <a:off x="4064000" y="8890000"/>
            <a:ext cx="12763500" cy="88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071B3"/>
            </a:solidFill>
          </a:ln>
        </p:spPr>
        <p:txBody>
          <a:bodyPr wrap="square" lIns="203200" tIns="203200" rIns="203200" bIns="2032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GIG 2 is paid $1 more than its true cost. Could it ask for even more?</a:t>
            </a:r>
          </a:p>
        </p:txBody>
      </p:sp>
      <p:sp>
        <p:nvSpPr>
          <p:cNvPr id="400" name="Winner card"/>
          <p:cNvSpPr/>
          <p:nvPr/>
        </p:nvSpPr>
        <p:spPr>
          <a:xfrm>
            <a:off x="1473200" y="3556000"/>
            <a:ext cx="6604000" cy="4318000"/>
          </a:xfrm>
          <a:prstGeom prst="roundRect">
            <a:avLst>
              <a:gd name="adj" fmla="val 8000"/>
            </a:avLst>
          </a:prstGeom>
          <a:solidFill>
            <a:srgbClr val="005990"/>
          </a:solidFill>
          <a:ln>
            <a:noFill/>
          </a:ln>
        </p:spPr>
        <p:txBody>
          <a:bodyPr wrap="square" lIns="355600" tIns="330200" rIns="355600" bIns="3302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rgbClr val="FFDE5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Who wins?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22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GIG 2 submits the lowest bid ($7).</a:t>
            </a:r>
          </a:p>
          <a:p>
            <a:pPr algn="l">
              <a:lnSpc>
                <a:spcPct val="100000"/>
              </a:lnSpc>
              <a:spcBef>
                <a:spcPts val="3000"/>
              </a:spcBef>
              <a:buNone/>
            </a:pPr>
            <a:r>
              <a:rPr lang="en-US" sz="2600" b="1" dirty="0">
                <a:solidFill>
                  <a:srgbClr val="FFDE5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What does GIG 2 earn?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22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Profit = payment − true cost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$7 − $6 = $1</a:t>
            </a:r>
          </a:p>
        </p:txBody>
      </p:sp>
      <p:graphicFrame>
        <p:nvGraphicFramePr>
          <p:cNvPr id="401" name="Profi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267508"/>
              </p:ext>
            </p:extLst>
          </p:nvPr>
        </p:nvGraphicFramePr>
        <p:xfrm>
          <a:off x="8763000" y="3556000"/>
          <a:ext cx="8255000" cy="3683000"/>
        </p:xfrm>
        <a:graphic>
          <a:graphicData uri="http://schemas.openxmlformats.org/drawingml/2006/table">
            <a:tbl>
              <a:tblPr firstRow="1"/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Worker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Their cost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Their bid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Profit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1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$8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$9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2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$6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b="1" dirty="0">
                          <a:solidFill>
                            <a:srgbClr val="FF0000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$7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$1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3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$10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$10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4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$5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$8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2" name="Table note"/>
          <p:cNvSpPr/>
          <p:nvPr/>
        </p:nvSpPr>
        <p:spPr>
          <a:xfrm>
            <a:off x="8763000" y="7366000"/>
            <a:ext cx="8255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44546A"/>
                </a:solidFill>
                <a:latin typeface="Codec Pro"/>
                <a:ea typeface="Codec Pro"/>
                <a:cs typeface="Codec Pro"/>
                <a:sym typeface="Codec Pro"/>
              </a:rPr>
              <a:t>Only the winner earns a profit. Costs stay private: the platform sees only the bids.</a:t>
            </a:r>
          </a:p>
        </p:txBody>
      </p:sp>
    </p:spTree>
    <p:extLst>
      <p:ext uri="{BB962C8B-B14F-4D97-AF65-F5344CB8AC3E}">
        <p14:creationId xmlns:p14="http://schemas.microsoft.com/office/powerpoint/2010/main" val="2894762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88900" y="8128000"/>
            <a:ext cx="3820500" cy="5454611"/>
          </a:xfrm>
          <a:custGeom>
            <a:avLst/>
            <a:gdLst/>
            <a:ahLst/>
            <a:cxnLst/>
            <a:rect l="l" t="t" r="r" b="b"/>
            <a:pathLst>
              <a:path w="3820500" h="5454611">
                <a:moveTo>
                  <a:pt x="0" y="0"/>
                </a:moveTo>
                <a:lnTo>
                  <a:pt x="3820501" y="0"/>
                </a:lnTo>
                <a:lnTo>
                  <a:pt x="3820501" y="5454611"/>
                </a:lnTo>
                <a:lnTo>
                  <a:pt x="0" y="54546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flipH="1">
            <a:off x="13731295" y="9447807"/>
            <a:ext cx="4556705" cy="839193"/>
          </a:xfrm>
          <a:custGeom>
            <a:avLst/>
            <a:gdLst/>
            <a:ahLst/>
            <a:cxnLst/>
            <a:rect l="l" t="t" r="r" b="b"/>
            <a:pathLst>
              <a:path w="4556705" h="839193">
                <a:moveTo>
                  <a:pt x="4556705" y="0"/>
                </a:moveTo>
                <a:lnTo>
                  <a:pt x="0" y="0"/>
                </a:lnTo>
                <a:lnTo>
                  <a:pt x="0" y="839193"/>
                </a:lnTo>
                <a:lnTo>
                  <a:pt x="4556705" y="839193"/>
                </a:lnTo>
                <a:lnTo>
                  <a:pt x="45567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473200" y="1397000"/>
            <a:ext cx="13970000" cy="101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6000" dirty="0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GIG 2 CAN BID $7.99 AND STILL WIN</a:t>
            </a:r>
          </a:p>
        </p:txBody>
      </p:sp>
      <p:sp>
        <p:nvSpPr>
          <p:cNvPr id="300" name="Quote"/>
          <p:cNvSpPr txBox="1"/>
          <p:nvPr/>
        </p:nvSpPr>
        <p:spPr>
          <a:xfrm>
            <a:off x="1473200" y="2603500"/>
            <a:ext cx="153543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i="1" dirty="0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What if GIG 2 raises its bid? Any bid below GIG 4's $8 still wins.</a:t>
            </a:r>
          </a:p>
        </p:txBody>
      </p:sp>
      <p:sp>
        <p:nvSpPr>
          <p:cNvPr id="500" name="Left label"/>
          <p:cNvSpPr/>
          <p:nvPr/>
        </p:nvSpPr>
        <p:spPr>
          <a:xfrm>
            <a:off x="1473200" y="3276600"/>
            <a:ext cx="7493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GIG 2 bids $7</a:t>
            </a:r>
          </a:p>
        </p:txBody>
      </p:sp>
      <p:sp>
        <p:nvSpPr>
          <p:cNvPr id="501" name="Right label"/>
          <p:cNvSpPr/>
          <p:nvPr/>
        </p:nvSpPr>
        <p:spPr>
          <a:xfrm>
            <a:off x="9906000" y="3276600"/>
            <a:ext cx="711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C039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GIG 2 raises its bid to $7.99</a:t>
            </a:r>
          </a:p>
        </p:txBody>
      </p:sp>
      <p:sp>
        <p:nvSpPr>
          <p:cNvPr id="504" name="Compare arrow"/>
          <p:cNvSpPr/>
          <p:nvPr/>
        </p:nvSpPr>
        <p:spPr>
          <a:xfrm>
            <a:off x="9017000" y="5384800"/>
            <a:ext cx="508000" cy="406400"/>
          </a:xfrm>
          <a:prstGeom prst="rightArrow">
            <a:avLst/>
          </a:prstGeom>
          <a:solidFill>
            <a:srgbClr val="0071B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505" name="Left note"/>
          <p:cNvSpPr/>
          <p:nvPr/>
        </p:nvSpPr>
        <p:spPr>
          <a:xfrm>
            <a:off x="1473200" y="7493000"/>
            <a:ext cx="7112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GIG 2 wins. The platform pays </a:t>
            </a:r>
            <a:r>
              <a:rPr lang="en-US" sz="20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$7</a:t>
            </a:r>
            <a:r>
              <a:rPr lang="en-US" sz="20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, and GIG 2 earns $1.</a:t>
            </a:r>
          </a:p>
        </p:txBody>
      </p:sp>
      <p:sp>
        <p:nvSpPr>
          <p:cNvPr id="506" name="Right note"/>
          <p:cNvSpPr/>
          <p:nvPr/>
        </p:nvSpPr>
        <p:spPr>
          <a:xfrm>
            <a:off x="9906000" y="7493000"/>
            <a:ext cx="7112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$7.99 &lt; $8, so GIG 2 still wins. </a:t>
            </a:r>
            <a:r>
              <a:rPr lang="en-US" sz="20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The platform now pays </a:t>
            </a:r>
            <a:r>
              <a:rPr lang="en-US" sz="2000" b="1" dirty="0">
                <a:solidFill>
                  <a:srgbClr val="C039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$7.99</a:t>
            </a:r>
            <a:r>
              <a:rPr lang="en-US" sz="20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</p:txBody>
      </p:sp>
      <p:sp>
        <p:nvSpPr>
          <p:cNvPr id="507" name="Problem banner"/>
          <p:cNvSpPr/>
          <p:nvPr/>
        </p:nvSpPr>
        <p:spPr>
          <a:xfrm>
            <a:off x="3524250" y="8673107"/>
            <a:ext cx="12763500" cy="91440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txBody>
          <a:bodyPr wrap="square" lIns="254000" tIns="254000" rIns="254000" bIns="25400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FFDE59"/>
                </a:solidFill>
                <a:latin typeface="Anton"/>
                <a:ea typeface="Anton"/>
                <a:cs typeface="Anton"/>
                <a:sym typeface="Anton"/>
              </a:rPr>
              <a:t>PROBLEM   </a:t>
            </a:r>
            <a:r>
              <a:rPr lang="en-US" sz="21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The rule is loose: the winner can raise its bid and still win.</a:t>
            </a:r>
          </a:p>
        </p:txBody>
      </p:sp>
      <p:graphicFrame>
        <p:nvGraphicFramePr>
          <p:cNvPr id="950" name="Table bid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325160"/>
              </p:ext>
            </p:extLst>
          </p:nvPr>
        </p:nvGraphicFramePr>
        <p:xfrm>
          <a:off x="1473200" y="3873500"/>
          <a:ext cx="7112000" cy="3429000"/>
        </p:xfrm>
        <a:graphic>
          <a:graphicData uri="http://schemas.openxmlformats.org/drawingml/2006/table">
            <a:tbl>
              <a:tblPr firstRow="1"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Worker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Their cost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Their bid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Profit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Payment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1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$8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$9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071B3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2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$6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$7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$1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$7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0071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3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$10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$10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071B3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4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$5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$8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071B3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1" name="Table bid 799"/>
          <p:cNvGraphicFramePr>
            <a:graphicFrameLocks noGrp="1"/>
          </p:cNvGraphicFramePr>
          <p:nvPr/>
        </p:nvGraphicFramePr>
        <p:xfrm>
          <a:off x="9906000" y="3873500"/>
          <a:ext cx="7112000" cy="3429000"/>
        </p:xfrm>
        <a:graphic>
          <a:graphicData uri="http://schemas.openxmlformats.org/drawingml/2006/table">
            <a:tbl>
              <a:tblPr firstRow="1"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Worker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Their cost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Their bid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Profit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Payment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1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$8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$9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071B3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2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$6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C0392B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$7.99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C0392B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$1.99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$7.99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0071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3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$10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$10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071B3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4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$5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$8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071B3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7330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88900" y="8128000"/>
            <a:ext cx="3820500" cy="5454611"/>
          </a:xfrm>
          <a:custGeom>
            <a:avLst/>
            <a:gdLst/>
            <a:ahLst/>
            <a:cxnLst/>
            <a:rect l="l" t="t" r="r" b="b"/>
            <a:pathLst>
              <a:path w="3820500" h="5454611">
                <a:moveTo>
                  <a:pt x="0" y="0"/>
                </a:moveTo>
                <a:lnTo>
                  <a:pt x="3820501" y="0"/>
                </a:lnTo>
                <a:lnTo>
                  <a:pt x="3820501" y="5454611"/>
                </a:lnTo>
                <a:lnTo>
                  <a:pt x="0" y="54546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flipH="1">
            <a:off x="13731295" y="9447807"/>
            <a:ext cx="4556705" cy="839193"/>
          </a:xfrm>
          <a:custGeom>
            <a:avLst/>
            <a:gdLst/>
            <a:ahLst/>
            <a:cxnLst/>
            <a:rect l="l" t="t" r="r" b="b"/>
            <a:pathLst>
              <a:path w="4556705" h="839193">
                <a:moveTo>
                  <a:pt x="4556705" y="0"/>
                </a:moveTo>
                <a:lnTo>
                  <a:pt x="0" y="0"/>
                </a:lnTo>
                <a:lnTo>
                  <a:pt x="0" y="839193"/>
                </a:lnTo>
                <a:lnTo>
                  <a:pt x="4556705" y="839193"/>
                </a:lnTo>
                <a:lnTo>
                  <a:pt x="45567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473200" y="1397000"/>
            <a:ext cx="13970000" cy="101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6000" dirty="0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RAISING THE BID CANNOT RAISE THE PAYMENT</a:t>
            </a:r>
          </a:p>
        </p:txBody>
      </p:sp>
      <p:sp>
        <p:nvSpPr>
          <p:cNvPr id="300" name="Quote"/>
          <p:cNvSpPr txBox="1"/>
          <p:nvPr/>
        </p:nvSpPr>
        <p:spPr>
          <a:xfrm>
            <a:off x="1473200" y="2603500"/>
            <a:ext cx="153543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i="1" dirty="0">
                <a:solidFill>
                  <a:srgbClr val="0071B3"/>
                </a:solidFill>
                <a:highlight>
                  <a:srgbClr val="FFFF00"/>
                </a:highlight>
                <a:latin typeface="Codec Pro"/>
                <a:ea typeface="Codec Pro"/>
                <a:cs typeface="Codec Pro"/>
                <a:sym typeface="Codec Pro"/>
              </a:rPr>
              <a:t>Payment = bid + margin,  where  margin = W without the driver − W</a:t>
            </a:r>
          </a:p>
        </p:txBody>
      </p:sp>
      <p:sp>
        <p:nvSpPr>
          <p:cNvPr id="500" name="Left label"/>
          <p:cNvSpPr/>
          <p:nvPr/>
        </p:nvSpPr>
        <p:spPr>
          <a:xfrm>
            <a:off x="1473200" y="3276600"/>
            <a:ext cx="685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Every driver, when GIG 2 bids $7 (W = $7)</a:t>
            </a:r>
          </a:p>
        </p:txBody>
      </p:sp>
      <p:sp>
        <p:nvSpPr>
          <p:cNvPr id="501" name="Right label"/>
          <p:cNvSpPr/>
          <p:nvPr/>
        </p:nvSpPr>
        <p:spPr>
          <a:xfrm>
            <a:off x="8636000" y="3276600"/>
            <a:ext cx="838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GIG 2 tries different bids</a:t>
            </a:r>
          </a:p>
        </p:txBody>
      </p:sp>
      <p:sp>
        <p:nvSpPr>
          <p:cNvPr id="505" name="Left note"/>
          <p:cNvSpPr/>
          <p:nvPr/>
        </p:nvSpPr>
        <p:spPr>
          <a:xfrm>
            <a:off x="1473200" y="7620000"/>
            <a:ext cx="660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Only GIG 2 saves the platform money, so only it is paid.</a:t>
            </a:r>
          </a:p>
        </p:txBody>
      </p:sp>
      <p:sp>
        <p:nvSpPr>
          <p:cNvPr id="506" name="Right note"/>
          <p:cNvSpPr/>
          <p:nvPr/>
        </p:nvSpPr>
        <p:spPr>
          <a:xfrm>
            <a:off x="8636000" y="7620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Each extra $ in the bid comes off the margin. </a:t>
            </a:r>
            <a:r>
              <a:rPr lang="en-US" sz="19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Payment stays $8; bidding above $8 loses the job.</a:t>
            </a:r>
          </a:p>
        </p:txBody>
      </p:sp>
      <p:sp>
        <p:nvSpPr>
          <p:cNvPr id="507" name="Problem banner"/>
          <p:cNvSpPr/>
          <p:nvPr/>
        </p:nvSpPr>
        <p:spPr>
          <a:xfrm>
            <a:off x="4064000" y="8788400"/>
            <a:ext cx="12763500" cy="914400"/>
          </a:xfrm>
          <a:prstGeom prst="roundRect">
            <a:avLst>
              <a:gd name="adj" fmla="val 8000"/>
            </a:avLst>
          </a:prstGeom>
          <a:solidFill>
            <a:srgbClr val="0C3877"/>
          </a:solidFill>
          <a:ln>
            <a:noFill/>
          </a:ln>
        </p:spPr>
        <p:txBody>
          <a:bodyPr wrap="square" lIns="254000" tIns="254000" rIns="254000" bIns="25400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FFDE59"/>
                </a:solidFill>
                <a:latin typeface="Anton"/>
                <a:ea typeface="Anton"/>
                <a:cs typeface="Anton"/>
                <a:sym typeface="Anton"/>
              </a:rPr>
              <a:t>SOLVED   </a:t>
            </a:r>
            <a:r>
              <a:rPr lang="en-US" sz="20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Bidding the true cost is a dominant strategy: no bid earns GIG 2 more than $2.</a:t>
            </a:r>
          </a:p>
        </p:txBody>
      </p:sp>
      <p:graphicFrame>
        <p:nvGraphicFramePr>
          <p:cNvPr id="900" name="VCG all drivers"/>
          <p:cNvGraphicFramePr>
            <a:graphicFrameLocks noGrp="1"/>
          </p:cNvGraphicFramePr>
          <p:nvPr/>
        </p:nvGraphicFramePr>
        <p:xfrm>
          <a:off x="1473200" y="3873500"/>
          <a:ext cx="6604000" cy="3556000"/>
        </p:xfrm>
        <a:graphic>
          <a:graphicData uri="http://schemas.openxmlformats.org/drawingml/2006/table">
            <a:tbl>
              <a:tblPr firstRow="1"/>
              <a:tblGrid>
                <a:gridCol w="120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Worker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Bid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W without them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Margin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Payment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1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$9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$7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dirty="0">
                          <a:solidFill>
                            <a:srgbClr val="0071B3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2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$7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$8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$1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$8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0071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3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$10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$7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dirty="0">
                          <a:solidFill>
                            <a:srgbClr val="0071B3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4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$8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$7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dirty="0">
                          <a:solidFill>
                            <a:srgbClr val="0071B3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01" name="VCG bid scenarios"/>
          <p:cNvGraphicFramePr>
            <a:graphicFrameLocks noGrp="1"/>
          </p:cNvGraphicFramePr>
          <p:nvPr/>
        </p:nvGraphicFramePr>
        <p:xfrm>
          <a:off x="8636000" y="3949700"/>
          <a:ext cx="8382000" cy="355600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2 bids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W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W without GIG 2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Margin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Profit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Payment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$6 (truth)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$6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$8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$2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$2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$8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0071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$7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$7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$8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$1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$2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$8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0071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$7.99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$7.99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$8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$0.01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$2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$8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0071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$8.50 (loses)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$8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$8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071B3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50" name="Nobel badge"/>
          <p:cNvSpPr/>
          <p:nvPr/>
        </p:nvSpPr>
        <p:spPr>
          <a:xfrm>
            <a:off x="11493500" y="279400"/>
            <a:ext cx="5334000" cy="787400"/>
          </a:xfrm>
          <a:prstGeom prst="roundRect">
            <a:avLst>
              <a:gd name="adj" fmla="val 20000"/>
            </a:avLst>
          </a:prstGeom>
          <a:solidFill>
            <a:srgbClr val="0C3877"/>
          </a:solidFill>
          <a:ln>
            <a:noFill/>
          </a:ln>
        </p:spPr>
        <p:txBody>
          <a:bodyPr wrap="square" lIns="838200" tIns="76200" rIns="177800" bIns="76200" rtlCol="0" anchor="ctr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FDE59"/>
                </a:solidFill>
                <a:latin typeface="Anton"/>
                <a:ea typeface="Anton"/>
                <a:cs typeface="Anton"/>
                <a:sym typeface="Anton"/>
              </a:rPr>
              <a:t>MECHANISM DESIGN</a:t>
            </a:r>
          </a:p>
          <a:p>
            <a:pPr algn="l">
              <a:lnSpc>
                <a:spcPct val="9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Nobel Prize 2007 · Hurwicz, Maskin, Myerson</a:t>
            </a:r>
          </a:p>
        </p:txBody>
      </p:sp>
      <p:pic>
        <p:nvPicPr>
          <p:cNvPr id="951" name="Graphic 951" descr="Nobel med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71300" y="3937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971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88900" y="8128000"/>
            <a:ext cx="3820500" cy="5454611"/>
          </a:xfrm>
          <a:custGeom>
            <a:avLst/>
            <a:gdLst/>
            <a:ahLst/>
            <a:cxnLst/>
            <a:rect l="l" t="t" r="r" b="b"/>
            <a:pathLst>
              <a:path w="3820500" h="5454611">
                <a:moveTo>
                  <a:pt x="0" y="0"/>
                </a:moveTo>
                <a:lnTo>
                  <a:pt x="3820501" y="0"/>
                </a:lnTo>
                <a:lnTo>
                  <a:pt x="3820501" y="5454611"/>
                </a:lnTo>
                <a:lnTo>
                  <a:pt x="0" y="54546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flipH="1">
            <a:off x="13731295" y="9447807"/>
            <a:ext cx="4556705" cy="839193"/>
          </a:xfrm>
          <a:custGeom>
            <a:avLst/>
            <a:gdLst/>
            <a:ahLst/>
            <a:cxnLst/>
            <a:rect l="l" t="t" r="r" b="b"/>
            <a:pathLst>
              <a:path w="4556705" h="839193">
                <a:moveTo>
                  <a:pt x="4556705" y="0"/>
                </a:moveTo>
                <a:lnTo>
                  <a:pt x="0" y="0"/>
                </a:lnTo>
                <a:lnTo>
                  <a:pt x="0" y="839193"/>
                </a:lnTo>
                <a:lnTo>
                  <a:pt x="4556705" y="839193"/>
                </a:lnTo>
                <a:lnTo>
                  <a:pt x="45567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473200" y="1397000"/>
            <a:ext cx="13970000" cy="101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6000" dirty="0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WDP: A SET PARTITIONING PROBLEM</a:t>
            </a:r>
          </a:p>
        </p:txBody>
      </p:sp>
      <p:sp>
        <p:nvSpPr>
          <p:cNvPr id="300" name="Quote"/>
          <p:cNvSpPr txBox="1"/>
          <p:nvPr/>
        </p:nvSpPr>
        <p:spPr>
          <a:xfrm>
            <a:off x="1473200" y="2603500"/>
            <a:ext cx="153543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i="1" dirty="0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Given all bids, which driver delivers which bundle, so every order is served once at minimum cost?</a:t>
            </a:r>
          </a:p>
        </p:txBody>
      </p:sp>
      <p:sp>
        <p:nvSpPr>
          <p:cNvPr id="507" name="Problem banner"/>
          <p:cNvSpPr/>
          <p:nvPr/>
        </p:nvSpPr>
        <p:spPr>
          <a:xfrm>
            <a:off x="4064000" y="8788400"/>
            <a:ext cx="12763500" cy="914400"/>
          </a:xfrm>
          <a:prstGeom prst="roundRect">
            <a:avLst>
              <a:gd name="adj" fmla="val 8000"/>
            </a:avLst>
          </a:prstGeom>
          <a:solidFill>
            <a:srgbClr val="0C3877"/>
          </a:solidFill>
          <a:ln>
            <a:noFill/>
          </a:ln>
        </p:spPr>
        <p:txBody>
          <a:bodyPr wrap="square" lIns="254000" tIns="254000" rIns="254000" bIns="25400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FFDE59"/>
                </a:solidFill>
                <a:latin typeface="Anton"/>
                <a:ea typeface="Anton"/>
                <a:cs typeface="Anton"/>
                <a:sym typeface="Anton"/>
              </a:rPr>
              <a:t>LINK TO VCG   </a:t>
            </a:r>
            <a:r>
              <a:rPr lang="en-US" sz="19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 is the WDP optimum; each winner's payment needs the WDP re-solved without it.</a:t>
            </a:r>
          </a:p>
        </p:txBody>
      </p:sp>
      <p:sp>
        <p:nvSpPr>
          <p:cNvPr id="1000" name="WDP model"/>
          <p:cNvSpPr/>
          <p:nvPr/>
        </p:nvSpPr>
        <p:spPr>
          <a:xfrm>
            <a:off x="1473200" y="3175000"/>
            <a:ext cx="8763000" cy="533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1B3"/>
            </a:solidFill>
          </a:ln>
        </p:spPr>
        <p:txBody>
          <a:bodyPr wrap="square" lIns="381000" tIns="304800" rIns="381000" bIns="3048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endParaRPr/>
          </a:p>
        </p:txBody>
      </p:sp>
      <p:sp>
        <p:nvSpPr>
          <p:cNvPr id="1001" name="Hard card"/>
          <p:cNvSpPr/>
          <p:nvPr/>
        </p:nvSpPr>
        <p:spPr>
          <a:xfrm>
            <a:off x="10668000" y="3175000"/>
            <a:ext cx="6146800" cy="2413000"/>
          </a:xfrm>
          <a:prstGeom prst="roundRect">
            <a:avLst>
              <a:gd name="adj" fmla="val 8000"/>
            </a:avLst>
          </a:prstGeom>
          <a:solidFill>
            <a:srgbClr val="0C3877"/>
          </a:solidFill>
          <a:ln>
            <a:noFill/>
          </a:ln>
        </p:spPr>
        <p:txBody>
          <a:bodyPr wrap="square" lIns="304800" tIns="254000" rIns="304800" bIns="2540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FFDE5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Why it is hard</a:t>
            </a:r>
          </a:p>
          <a:p>
            <a:pPr marL="342900" indent="-342900" algn="l">
              <a:lnSpc>
                <a:spcPct val="100000"/>
              </a:lnSpc>
              <a:spcBef>
                <a:spcPts val="700"/>
              </a:spcBef>
              <a:buClr>
                <a:srgbClr val="FFDE59"/>
              </a:buClr>
              <a:buFont typeface="Arial"/>
              <a:buChar char="•"/>
            </a:pPr>
            <a:r>
              <a:rPr lang="en-US" sz="22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Set partitioning is NP-hard.</a:t>
            </a:r>
          </a:p>
          <a:p>
            <a:pPr marL="342900" indent="-342900" algn="l">
              <a:lnSpc>
                <a:spcPct val="100000"/>
              </a:lnSpc>
              <a:spcBef>
                <a:spcPts val="500"/>
              </a:spcBef>
              <a:buClr>
                <a:srgbClr val="FFDE59"/>
              </a:buClr>
              <a:buFont typeface="Arial"/>
              <a:buChar char="•"/>
            </a:pPr>
            <a:r>
              <a:rPr lang="en-US" sz="22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Bundles grow exponentially with the number of orders.</a:t>
            </a:r>
          </a:p>
        </p:txBody>
      </p:sp>
      <p:sp>
        <p:nvSpPr>
          <p:cNvPr id="1002" name="Notation card"/>
          <p:cNvSpPr/>
          <p:nvPr/>
        </p:nvSpPr>
        <p:spPr>
          <a:xfrm>
            <a:off x="10668000" y="5816600"/>
            <a:ext cx="6146800" cy="2692400"/>
          </a:xfrm>
          <a:prstGeom prst="roundRect">
            <a:avLst>
              <a:gd name="adj" fmla="val 8000"/>
            </a:avLst>
          </a:prstGeom>
          <a:solidFill>
            <a:srgbClr val="FFDE59"/>
          </a:solidFill>
          <a:ln>
            <a:noFill/>
          </a:ln>
        </p:spPr>
        <p:txBody>
          <a:bodyPr wrap="square" lIns="304800" tIns="228600" rIns="304800" bIns="2286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Notation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x</a:t>
            </a:r>
            <a:r>
              <a:rPr lang="en-US" sz="1800" b="1" baseline="-25000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kb</a:t>
            </a:r>
            <a:r>
              <a:rPr lang="en-US" sz="18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 = 1 if driver k gets bundle b</a:t>
            </a:r>
          </a:p>
          <a:p>
            <a:pPr algn="l">
              <a:lnSpc>
                <a:spcPct val="100000"/>
              </a:lnSpc>
              <a:spcBef>
                <a:spcPts val="150"/>
              </a:spcBef>
              <a:buNone/>
            </a:pPr>
            <a:r>
              <a:rPr lang="en-US" sz="18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</a:t>
            </a:r>
            <a:r>
              <a:rPr lang="en-US" sz="1800" b="1" baseline="-25000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kb</a:t>
            </a:r>
            <a:r>
              <a:rPr lang="en-US" sz="18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 = driver k's bid for bundle b</a:t>
            </a:r>
          </a:p>
          <a:p>
            <a:pPr algn="l">
              <a:lnSpc>
                <a:spcPct val="100000"/>
              </a:lnSpc>
              <a:spcBef>
                <a:spcPts val="150"/>
              </a:spcBef>
              <a:buNone/>
            </a:pPr>
            <a:r>
              <a:rPr lang="en-US" sz="18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sz="1800" b="1" baseline="-25000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ib</a:t>
            </a:r>
            <a:r>
              <a:rPr lang="en-US" sz="18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 = 1 if bundle b contains order i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sz="18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(1) each order served exactly once</a:t>
            </a:r>
          </a:p>
          <a:p>
            <a:pPr algn="l">
              <a:lnSpc>
                <a:spcPct val="100000"/>
              </a:lnSpc>
              <a:spcBef>
                <a:spcPts val="150"/>
              </a:spcBef>
              <a:buNone/>
            </a:pPr>
            <a:r>
              <a:rPr lang="en-US" sz="18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(2) each driver wins at most one bundle</a:t>
            </a:r>
          </a:p>
        </p:txBody>
      </p:sp>
      <p:pic>
        <p:nvPicPr>
          <p:cNvPr id="4" name="WDP model (LaTeX)">
            <a:extLst>
              <a:ext uri="{FF2B5EF4-FFF2-40B4-BE49-F238E27FC236}">
                <a16:creationId xmlns:a16="http://schemas.microsoft.com/office/drawing/2014/main" id="{232BBCF7-6DE1-B4EC-9E19-EE7E548D49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5800"/>
          <a:stretch>
            <a:fillRect/>
          </a:stretch>
        </p:blipFill>
        <p:spPr>
          <a:xfrm>
            <a:off x="1854200" y="3454400"/>
            <a:ext cx="8001000" cy="3326503"/>
          </a:xfrm>
          <a:prstGeom prst="rect">
            <a:avLst/>
          </a:prstGeom>
        </p:spPr>
      </p:pic>
      <p:pic>
        <p:nvPicPr>
          <p:cNvPr id="5" name="WDP constraint 3 (LaTeX)">
            <a:extLst>
              <a:ext uri="{FF2B5EF4-FFF2-40B4-BE49-F238E27FC236}">
                <a16:creationId xmlns:a16="http://schemas.microsoft.com/office/drawing/2014/main" id="{39CF6691-DA40-F654-EB3C-59DCE80F12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4200" y="6934200"/>
            <a:ext cx="8001000" cy="41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41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88900" y="8128000"/>
            <a:ext cx="3820500" cy="5454611"/>
          </a:xfrm>
          <a:custGeom>
            <a:avLst/>
            <a:gdLst/>
            <a:ahLst/>
            <a:cxnLst/>
            <a:rect l="l" t="t" r="r" b="b"/>
            <a:pathLst>
              <a:path w="3820500" h="5454611">
                <a:moveTo>
                  <a:pt x="0" y="0"/>
                </a:moveTo>
                <a:lnTo>
                  <a:pt x="3820501" y="0"/>
                </a:lnTo>
                <a:lnTo>
                  <a:pt x="3820501" y="5454611"/>
                </a:lnTo>
                <a:lnTo>
                  <a:pt x="0" y="54546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flipH="1">
            <a:off x="13731295" y="9447807"/>
            <a:ext cx="4556705" cy="839193"/>
          </a:xfrm>
          <a:custGeom>
            <a:avLst/>
            <a:gdLst/>
            <a:ahLst/>
            <a:cxnLst/>
            <a:rect l="l" t="t" r="r" b="b"/>
            <a:pathLst>
              <a:path w="4556705" h="839193">
                <a:moveTo>
                  <a:pt x="4556705" y="0"/>
                </a:moveTo>
                <a:lnTo>
                  <a:pt x="0" y="0"/>
                </a:lnTo>
                <a:lnTo>
                  <a:pt x="0" y="839193"/>
                </a:lnTo>
                <a:lnTo>
                  <a:pt x="4556705" y="839193"/>
                </a:lnTo>
                <a:lnTo>
                  <a:pt x="45567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473200" y="1397000"/>
            <a:ext cx="13970000" cy="101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6000" dirty="0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PDPTW: THE COST OF EACH BUNDLE</a:t>
            </a:r>
          </a:p>
        </p:txBody>
      </p:sp>
      <p:sp>
        <p:nvSpPr>
          <p:cNvPr id="300" name="Quote"/>
          <p:cNvSpPr txBox="1"/>
          <p:nvPr/>
        </p:nvSpPr>
        <p:spPr>
          <a:xfrm>
            <a:off x="1473200" y="2603500"/>
            <a:ext cx="153543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i="1" dirty="0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For one driver and one bundle: the cheapest route that picks up and delivers every order on time.</a:t>
            </a:r>
          </a:p>
        </p:txBody>
      </p:sp>
      <p:sp>
        <p:nvSpPr>
          <p:cNvPr id="1000" name="WDP model"/>
          <p:cNvSpPr/>
          <p:nvPr/>
        </p:nvSpPr>
        <p:spPr>
          <a:xfrm>
            <a:off x="1473200" y="3175000"/>
            <a:ext cx="7213600" cy="400050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1B3"/>
            </a:solidFill>
          </a:ln>
        </p:spPr>
        <p:txBody>
          <a:bodyPr wrap="square" lIns="381000" tIns="304800" rIns="381000" bIns="3048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endParaRPr/>
          </a:p>
        </p:txBody>
      </p:sp>
      <p:sp>
        <p:nvSpPr>
          <p:cNvPr id="1001" name="Hard card"/>
          <p:cNvSpPr/>
          <p:nvPr/>
        </p:nvSpPr>
        <p:spPr>
          <a:xfrm>
            <a:off x="1505856" y="7285532"/>
            <a:ext cx="7213599" cy="1972767"/>
          </a:xfrm>
          <a:prstGeom prst="roundRect">
            <a:avLst>
              <a:gd name="adj" fmla="val 8000"/>
            </a:avLst>
          </a:prstGeom>
          <a:solidFill>
            <a:srgbClr val="0C3877"/>
          </a:solidFill>
          <a:ln>
            <a:noFill/>
          </a:ln>
        </p:spPr>
        <p:txBody>
          <a:bodyPr wrap="square" lIns="304800" tIns="254000" rIns="304800" bIns="2540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FFDE5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Constraint groups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sz="1700" b="1" dirty="0">
                <a:solidFill>
                  <a:srgbClr val="FFDE5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(1)–(4) </a:t>
            </a:r>
            <a:r>
              <a:rPr lang="en-US" sz="17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route starts, ends, visits each stop once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700" b="1" dirty="0">
                <a:solidFill>
                  <a:srgbClr val="FFDE5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(5)–(7) </a:t>
            </a:r>
            <a:r>
              <a:rPr lang="en-US" sz="17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time windows, pickup before delivery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700" b="1" dirty="0">
                <a:solidFill>
                  <a:srgbClr val="FFDE5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(8)–(9) </a:t>
            </a:r>
            <a:r>
              <a:rPr lang="en-US" sz="17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vehicle load within capacity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700" b="1" dirty="0">
                <a:solidFill>
                  <a:srgbClr val="FFDE5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(10) </a:t>
            </a:r>
            <a:r>
              <a:rPr lang="en-US" sz="17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OD driver's detour limit</a:t>
            </a:r>
          </a:p>
        </p:txBody>
      </p:sp>
      <p:sp>
        <p:nvSpPr>
          <p:cNvPr id="1002" name="Notation card"/>
          <p:cNvSpPr/>
          <p:nvPr/>
        </p:nvSpPr>
        <p:spPr>
          <a:xfrm>
            <a:off x="9302801" y="6057900"/>
            <a:ext cx="7935111" cy="3200399"/>
          </a:xfrm>
          <a:prstGeom prst="roundRect">
            <a:avLst>
              <a:gd name="adj" fmla="val 8000"/>
            </a:avLst>
          </a:prstGeom>
          <a:solidFill>
            <a:srgbClr val="FFDE59"/>
          </a:solidFill>
          <a:ln>
            <a:noFill/>
          </a:ln>
        </p:spPr>
        <p:txBody>
          <a:bodyPr wrap="square" lIns="304800" tIns="228600" rIns="304800" bIns="228600" numCol="2" spcCol="1778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Notation</a:t>
            </a:r>
          </a:p>
          <a:p>
            <a:pPr algn="l">
              <a:lnSpc>
                <a:spcPct val="100000"/>
              </a:lnSpc>
              <a:spcBef>
                <a:spcPts val="110"/>
              </a:spcBef>
              <a:buNone/>
            </a:pPr>
            <a:r>
              <a:rPr lang="en-US" sz="15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</a:t>
            </a:r>
            <a:r>
              <a:rPr lang="en-US" sz="15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: nodes, 0 = start, c = end</a:t>
            </a:r>
          </a:p>
          <a:p>
            <a:pPr algn="l">
              <a:lnSpc>
                <a:spcPct val="100000"/>
              </a:lnSpc>
              <a:spcBef>
                <a:spcPts val="110"/>
              </a:spcBef>
              <a:buNone/>
            </a:pPr>
            <a:r>
              <a:rPr lang="en-US" sz="15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P, D</a:t>
            </a:r>
            <a:r>
              <a:rPr lang="en-US" sz="15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: pickup, delivery nodes</a:t>
            </a:r>
          </a:p>
          <a:p>
            <a:pPr algn="l">
              <a:lnSpc>
                <a:spcPct val="100000"/>
              </a:lnSpc>
              <a:spcBef>
                <a:spcPts val="110"/>
              </a:spcBef>
              <a:buNone/>
            </a:pPr>
            <a:r>
              <a:rPr lang="en-US" sz="15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</a:t>
            </a:r>
            <a:r>
              <a:rPr lang="en-US" sz="15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: requests, o = (p</a:t>
            </a:r>
            <a:r>
              <a:rPr lang="en-US" sz="1500" baseline="-250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o</a:t>
            </a:r>
            <a:r>
              <a:rPr lang="en-US" sz="15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, d</a:t>
            </a:r>
            <a:r>
              <a:rPr lang="en-US" sz="1500" baseline="-250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o</a:t>
            </a:r>
            <a:r>
              <a:rPr lang="en-US" sz="15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110"/>
              </a:spcBef>
              <a:buNone/>
            </a:pPr>
            <a:r>
              <a:rPr lang="en-US" sz="15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sz="15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: arcs (a, b)</a:t>
            </a:r>
          </a:p>
          <a:p>
            <a:pPr algn="l">
              <a:lnSpc>
                <a:spcPct val="100000"/>
              </a:lnSpc>
              <a:spcBef>
                <a:spcPts val="110"/>
              </a:spcBef>
              <a:buNone/>
            </a:pPr>
            <a:r>
              <a:rPr lang="en-US" sz="15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x</a:t>
            </a:r>
            <a:r>
              <a:rPr lang="en-US" sz="1500" b="1" baseline="-25000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ab</a:t>
            </a:r>
            <a:r>
              <a:rPr lang="en-US" sz="15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 = 1 if route uses arc (a, b)</a:t>
            </a:r>
          </a:p>
          <a:p>
            <a:pPr algn="l">
              <a:lnSpc>
                <a:spcPct val="100000"/>
              </a:lnSpc>
              <a:spcBef>
                <a:spcPts val="110"/>
              </a:spcBef>
              <a:buNone/>
            </a:pPr>
            <a:r>
              <a:rPr lang="en-US" sz="15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</a:t>
            </a:r>
            <a:r>
              <a:rPr lang="en-US" sz="1500" b="1" baseline="-25000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ab</a:t>
            </a:r>
            <a:r>
              <a:rPr lang="en-US" sz="15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, </a:t>
            </a:r>
            <a:r>
              <a:rPr lang="en-US" sz="15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</a:t>
            </a:r>
            <a:r>
              <a:rPr lang="en-US" sz="1500" b="1" baseline="-25000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ab</a:t>
            </a:r>
            <a:r>
              <a:rPr lang="en-US" sz="15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: arc cost, travel time</a:t>
            </a:r>
          </a:p>
          <a:p>
            <a:pPr algn="l">
              <a:lnSpc>
                <a:spcPct val="100000"/>
              </a:lnSpc>
              <a:spcBef>
                <a:spcPts val="110"/>
              </a:spcBef>
              <a:buNone/>
            </a:pPr>
            <a:r>
              <a:rPr lang="en-US" sz="15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</a:t>
            </a:r>
            <a:r>
              <a:rPr lang="en-US" sz="1500" b="1" baseline="-25000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sz="15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: arrival time at a</a:t>
            </a:r>
          </a:p>
          <a:p>
            <a:pPr algn="l">
              <a:lnSpc>
                <a:spcPct val="100000"/>
              </a:lnSpc>
              <a:spcBef>
                <a:spcPts val="110"/>
              </a:spcBef>
              <a:buNone/>
            </a:pPr>
            <a:r>
              <a:rPr lang="en-US" sz="15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</a:t>
            </a:r>
            <a:r>
              <a:rPr lang="en-US" sz="1500" b="1" baseline="-25000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sz="15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: service time at a</a:t>
            </a:r>
          </a:p>
          <a:p>
            <a:pPr algn="l">
              <a:lnSpc>
                <a:spcPct val="100000"/>
              </a:lnSpc>
              <a:spcBef>
                <a:spcPts val="110"/>
              </a:spcBef>
              <a:buNone/>
            </a:pPr>
            <a:r>
              <a:rPr lang="en-US" sz="15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[e</a:t>
            </a:r>
            <a:r>
              <a:rPr lang="en-US" sz="1500" b="1" baseline="-25000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sz="15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, l</a:t>
            </a:r>
            <a:r>
              <a:rPr lang="en-US" sz="1500" b="1" baseline="-25000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sz="15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]</a:t>
            </a:r>
            <a:r>
              <a:rPr lang="en-US" sz="15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: time window</a:t>
            </a:r>
          </a:p>
          <a:p>
            <a:pPr algn="l">
              <a:lnSpc>
                <a:spcPct val="100000"/>
              </a:lnSpc>
              <a:spcBef>
                <a:spcPts val="110"/>
              </a:spcBef>
              <a:buNone/>
            </a:pPr>
            <a:r>
              <a:rPr lang="en-US" sz="15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</a:t>
            </a:r>
            <a:r>
              <a:rPr lang="en-US" sz="1500" b="1" baseline="-25000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sz="15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, </a:t>
            </a:r>
            <a:r>
              <a:rPr lang="en-US" sz="15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q</a:t>
            </a:r>
            <a:r>
              <a:rPr lang="en-US" sz="1500" b="1" baseline="-25000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sz="15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: load, load change</a:t>
            </a:r>
          </a:p>
          <a:p>
            <a:pPr algn="l">
              <a:lnSpc>
                <a:spcPct val="100000"/>
              </a:lnSpc>
              <a:spcBef>
                <a:spcPts val="110"/>
              </a:spcBef>
              <a:buNone/>
            </a:pPr>
            <a:r>
              <a:rPr lang="en-US" sz="15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Q</a:t>
            </a:r>
            <a:r>
              <a:rPr lang="en-US" sz="1500" b="1" baseline="-25000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</a:t>
            </a:r>
            <a:r>
              <a:rPr lang="en-US" sz="15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: capacity of driver i</a:t>
            </a:r>
          </a:p>
          <a:p>
            <a:pPr algn="l">
              <a:lnSpc>
                <a:spcPct val="100000"/>
              </a:lnSpc>
              <a:spcBef>
                <a:spcPts val="110"/>
              </a:spcBef>
              <a:buNone/>
            </a:pPr>
            <a:r>
              <a:rPr lang="en-US" sz="15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τ</a:t>
            </a:r>
            <a:r>
              <a:rPr lang="en-US" sz="1500" b="1" baseline="-25000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</a:t>
            </a:r>
            <a:r>
              <a:rPr lang="en-US" sz="15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: OD driver's max detour</a:t>
            </a:r>
          </a:p>
          <a:p>
            <a:pPr algn="l">
              <a:lnSpc>
                <a:spcPct val="100000"/>
              </a:lnSpc>
              <a:spcBef>
                <a:spcPts val="110"/>
              </a:spcBef>
              <a:buNone/>
            </a:pPr>
            <a:r>
              <a:rPr lang="en-US" sz="15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</a:t>
            </a:r>
            <a:r>
              <a:rPr lang="en-US" sz="1500" b="1" baseline="-25000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</a:t>
            </a:r>
            <a:r>
              <a:rPr lang="en-US" sz="1500" b="1" baseline="30000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direct</a:t>
            </a:r>
            <a:r>
              <a:rPr lang="en-US" sz="15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: OD's direct trip time</a:t>
            </a:r>
          </a:p>
          <a:p>
            <a:pPr algn="l">
              <a:lnSpc>
                <a:spcPct val="100000"/>
              </a:lnSpc>
              <a:spcBef>
                <a:spcPts val="110"/>
              </a:spcBef>
              <a:buNone/>
            </a:pPr>
            <a:r>
              <a:rPr lang="en-US" sz="15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</a:t>
            </a:r>
            <a:r>
              <a:rPr lang="en-US" sz="15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: large constant</a:t>
            </a:r>
          </a:p>
        </p:txBody>
      </p:sp>
      <p:pic>
        <p:nvPicPr>
          <p:cNvPr id="3" name="PDPTW model" descr="PDPTW routing model, constraints (1)-(11)">
            <a:extLst>
              <a:ext uri="{FF2B5EF4-FFF2-40B4-BE49-F238E27FC236}">
                <a16:creationId xmlns:a16="http://schemas.microsoft.com/office/drawing/2014/main" id="{1DCA9B9A-B7F8-4B7F-17FB-26FA7F60E2B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3246" b="44520"/>
          <a:stretch>
            <a:fillRect/>
          </a:stretch>
        </p:blipFill>
        <p:spPr>
          <a:xfrm>
            <a:off x="1589700" y="3390900"/>
            <a:ext cx="3820500" cy="3672754"/>
          </a:xfrm>
          <a:prstGeom prst="rect">
            <a:avLst/>
          </a:prstGeom>
        </p:spPr>
      </p:pic>
      <p:sp>
        <p:nvSpPr>
          <p:cNvPr id="11" name="WDP model">
            <a:extLst>
              <a:ext uri="{FF2B5EF4-FFF2-40B4-BE49-F238E27FC236}">
                <a16:creationId xmlns:a16="http://schemas.microsoft.com/office/drawing/2014/main" id="{6C29093D-875C-34F3-58BC-31D767CA2A7F}"/>
              </a:ext>
            </a:extLst>
          </p:cNvPr>
          <p:cNvSpPr/>
          <p:nvPr/>
        </p:nvSpPr>
        <p:spPr>
          <a:xfrm>
            <a:off x="9302800" y="3072407"/>
            <a:ext cx="7935112" cy="283309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1B3"/>
            </a:solidFill>
          </a:ln>
        </p:spPr>
        <p:txBody>
          <a:bodyPr wrap="square" lIns="381000" tIns="304800" rIns="381000" bIns="3048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endParaRPr/>
          </a:p>
        </p:txBody>
      </p:sp>
      <p:pic>
        <p:nvPicPr>
          <p:cNvPr id="5" name="PDPTW model" descr="PDPTW routing model, constraints (1)-(11)">
            <a:extLst>
              <a:ext uri="{FF2B5EF4-FFF2-40B4-BE49-F238E27FC236}">
                <a16:creationId xmlns:a16="http://schemas.microsoft.com/office/drawing/2014/main" id="{0E175216-089B-0232-9428-A526D3CB50A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469" t="55051" r="1437" b="2913"/>
          <a:stretch>
            <a:fillRect/>
          </a:stretch>
        </p:blipFill>
        <p:spPr>
          <a:xfrm>
            <a:off x="9759043" y="3154547"/>
            <a:ext cx="7004957" cy="2707907"/>
          </a:xfrm>
          <a:prstGeom prst="rect">
            <a:avLst/>
          </a:prstGeom>
        </p:spPr>
      </p:pic>
      <p:pic>
        <p:nvPicPr>
          <p:cNvPr id="7" name="PDPTW model" descr="PDPTW routing model, constraints (1)-(11)">
            <a:extLst>
              <a:ext uri="{FF2B5EF4-FFF2-40B4-BE49-F238E27FC236}">
                <a16:creationId xmlns:a16="http://schemas.microsoft.com/office/drawing/2014/main" id="{4C830804-3595-9BCE-6760-813968B861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7113" b="44520"/>
          <a:stretch>
            <a:fillRect/>
          </a:stretch>
        </p:blipFill>
        <p:spPr>
          <a:xfrm>
            <a:off x="5542257" y="3388446"/>
            <a:ext cx="2687343" cy="367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205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88900" y="8128000"/>
            <a:ext cx="3820500" cy="5454611"/>
          </a:xfrm>
          <a:custGeom>
            <a:avLst/>
            <a:gdLst/>
            <a:ahLst/>
            <a:cxnLst/>
            <a:rect l="l" t="t" r="r" b="b"/>
            <a:pathLst>
              <a:path w="3820500" h="5454611">
                <a:moveTo>
                  <a:pt x="0" y="0"/>
                </a:moveTo>
                <a:lnTo>
                  <a:pt x="3820501" y="0"/>
                </a:lnTo>
                <a:lnTo>
                  <a:pt x="3820501" y="5454611"/>
                </a:lnTo>
                <a:lnTo>
                  <a:pt x="0" y="54546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flipH="1">
            <a:off x="13731295" y="9447807"/>
            <a:ext cx="4556705" cy="839193"/>
          </a:xfrm>
          <a:custGeom>
            <a:avLst/>
            <a:gdLst/>
            <a:ahLst/>
            <a:cxnLst/>
            <a:rect l="l" t="t" r="r" b="b"/>
            <a:pathLst>
              <a:path w="4556705" h="839193">
                <a:moveTo>
                  <a:pt x="4556705" y="0"/>
                </a:moveTo>
                <a:lnTo>
                  <a:pt x="0" y="0"/>
                </a:lnTo>
                <a:lnTo>
                  <a:pt x="0" y="839193"/>
                </a:lnTo>
                <a:lnTo>
                  <a:pt x="4556705" y="839193"/>
                </a:lnTo>
                <a:lnTo>
                  <a:pt x="45567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473200" y="1397000"/>
            <a:ext cx="13970000" cy="101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6000" dirty="0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THREE ALGORITHMS, TWO PHASES</a:t>
            </a:r>
          </a:p>
        </p:txBody>
      </p:sp>
      <p:sp>
        <p:nvSpPr>
          <p:cNvPr id="300" name="Quote"/>
          <p:cNvSpPr txBox="1"/>
          <p:nvPr/>
        </p:nvSpPr>
        <p:spPr>
          <a:xfrm>
            <a:off x="1473200" y="2603500"/>
            <a:ext cx="153543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i="1" dirty="0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Bundles are built before any bid is read; bids are used only to pick winners and set payments.</a:t>
            </a:r>
          </a:p>
        </p:txBody>
      </p:sp>
      <p:sp>
        <p:nvSpPr>
          <p:cNvPr id="1100" name="Pre-auction frame"/>
          <p:cNvSpPr/>
          <p:nvPr/>
        </p:nvSpPr>
        <p:spPr>
          <a:xfrm>
            <a:off x="1371600" y="3327400"/>
            <a:ext cx="5537200" cy="434340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0071B3"/>
            </a:solidFill>
            <a:prstDash val="dash"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101" name="Clearing frame"/>
          <p:cNvSpPr/>
          <p:nvPr/>
        </p:nvSpPr>
        <p:spPr>
          <a:xfrm>
            <a:off x="9906000" y="3327400"/>
            <a:ext cx="7112000" cy="434340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0071B3"/>
            </a:solidFill>
            <a:prstDash val="dash"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102" name="Phase label"/>
          <p:cNvSpPr/>
          <p:nvPr/>
        </p:nvSpPr>
        <p:spPr>
          <a:xfrm>
            <a:off x="1574800" y="3454400"/>
            <a:ext cx="5130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PRE-AUCTION PHASE: NO BID </a:t>
            </a:r>
            <a:r>
              <a:rPr lang="en-US" sz="1500" b="1" dirty="0" err="1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iS</a:t>
            </a:r>
            <a:r>
              <a:rPr lang="en-US" sz="15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CONSIDERED</a:t>
            </a:r>
          </a:p>
        </p:txBody>
      </p:sp>
      <p:sp>
        <p:nvSpPr>
          <p:cNvPr id="1103" name="Phase label"/>
          <p:cNvSpPr/>
          <p:nvPr/>
        </p:nvSpPr>
        <p:spPr>
          <a:xfrm>
            <a:off x="10109200" y="3454400"/>
            <a:ext cx="6705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CLEARING PHASE</a:t>
            </a:r>
          </a:p>
        </p:txBody>
      </p:sp>
      <p:sp>
        <p:nvSpPr>
          <p:cNvPr id="1104" name="Algorithm A card"/>
          <p:cNvSpPr/>
          <p:nvPr/>
        </p:nvSpPr>
        <p:spPr>
          <a:xfrm>
            <a:off x="1574800" y="3937000"/>
            <a:ext cx="5130800" cy="3505200"/>
          </a:xfrm>
          <a:prstGeom prst="roundRect">
            <a:avLst>
              <a:gd name="adj" fmla="val 8000"/>
            </a:avLst>
          </a:prstGeom>
          <a:solidFill>
            <a:srgbClr val="005990"/>
          </a:solidFill>
          <a:ln>
            <a:noFill/>
          </a:ln>
        </p:spPr>
        <p:txBody>
          <a:bodyPr wrap="square" lIns="254000" tIns="228600" rIns="254000" bIns="2286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FFDE59"/>
                </a:solidFill>
                <a:latin typeface="Anton"/>
                <a:ea typeface="Anton"/>
                <a:cs typeface="Anton"/>
                <a:sym typeface="Anton"/>
              </a:rPr>
              <a:t>ALGORITHM A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1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Generate bundles</a:t>
            </a:r>
          </a:p>
          <a:p>
            <a:pPr marL="342900" indent="-342900" algn="l">
              <a:lnSpc>
                <a:spcPct val="100000"/>
              </a:lnSpc>
              <a:spcBef>
                <a:spcPts val="700"/>
              </a:spcBef>
              <a:buClr>
                <a:srgbClr val="FFDE59"/>
              </a:buClr>
              <a:buFont typeface="Arial"/>
              <a:buChar char="•"/>
            </a:pPr>
            <a:r>
              <a:rPr lang="en-US" sz="19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Builds feasible routes for each driver (PDPTW)</a:t>
            </a:r>
          </a:p>
          <a:p>
            <a:pPr marL="342900" indent="-342900" algn="l">
              <a:lnSpc>
                <a:spcPct val="100000"/>
              </a:lnSpc>
              <a:spcBef>
                <a:spcPts val="700"/>
              </a:spcBef>
              <a:buClr>
                <a:srgbClr val="FFDE59"/>
              </a:buClr>
              <a:buFont typeface="Arial"/>
              <a:buChar char="•"/>
            </a:pPr>
            <a:r>
              <a:rPr lang="en-US" sz="19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Label dominance keeps only Pareto-best bundles</a:t>
            </a:r>
          </a:p>
          <a:p>
            <a:pPr marL="342900" indent="-342900" algn="l">
              <a:lnSpc>
                <a:spcPct val="100000"/>
              </a:lnSpc>
              <a:spcBef>
                <a:spcPts val="700"/>
              </a:spcBef>
              <a:buClr>
                <a:srgbClr val="FFDE59"/>
              </a:buClr>
              <a:buFont typeface="Arial"/>
              <a:buChar char="•"/>
            </a:pPr>
            <a:r>
              <a:rPr lang="en-US" sz="19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Output: bundle pool with route costs</a:t>
            </a:r>
          </a:p>
        </p:txBody>
      </p:sp>
      <p:sp>
        <p:nvSpPr>
          <p:cNvPr id="1105" name="Bids chip"/>
          <p:cNvSpPr/>
          <p:nvPr/>
        </p:nvSpPr>
        <p:spPr>
          <a:xfrm>
            <a:off x="7264400" y="4241800"/>
            <a:ext cx="2286000" cy="1524000"/>
          </a:xfrm>
          <a:prstGeom prst="roundRect">
            <a:avLst>
              <a:gd name="adj" fmla="val 8000"/>
            </a:avLst>
          </a:prstGeom>
          <a:solidFill>
            <a:srgbClr val="FFDE59"/>
          </a:solidFill>
          <a:ln>
            <a:noFill/>
          </a:ln>
        </p:spPr>
        <p:txBody>
          <a:bodyPr wrap="square" lIns="127000" tIns="127000" rIns="127000" bIns="1270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Collect bids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7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each driver reports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7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its cost per bundle</a:t>
            </a:r>
          </a:p>
        </p:txBody>
      </p:sp>
      <p:sp>
        <p:nvSpPr>
          <p:cNvPr id="1106" name="Flow arrow"/>
          <p:cNvSpPr/>
          <p:nvPr/>
        </p:nvSpPr>
        <p:spPr>
          <a:xfrm>
            <a:off x="6858000" y="4978400"/>
            <a:ext cx="254000" cy="304800"/>
          </a:xfrm>
          <a:prstGeom prst="rightArrow">
            <a:avLst/>
          </a:prstGeom>
          <a:solidFill>
            <a:srgbClr val="0071B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107" name="Flow arrow"/>
          <p:cNvSpPr/>
          <p:nvPr/>
        </p:nvSpPr>
        <p:spPr>
          <a:xfrm>
            <a:off x="9702800" y="4978400"/>
            <a:ext cx="254000" cy="304800"/>
          </a:xfrm>
          <a:prstGeom prst="rightArrow">
            <a:avLst/>
          </a:prstGeom>
          <a:solidFill>
            <a:srgbClr val="0071B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108" name="Algorithm B card"/>
          <p:cNvSpPr/>
          <p:nvPr/>
        </p:nvSpPr>
        <p:spPr>
          <a:xfrm>
            <a:off x="10109200" y="3937000"/>
            <a:ext cx="3200400" cy="3505200"/>
          </a:xfrm>
          <a:prstGeom prst="roundRect">
            <a:avLst>
              <a:gd name="adj" fmla="val 8000"/>
            </a:avLst>
          </a:prstGeom>
          <a:solidFill>
            <a:srgbClr val="005990"/>
          </a:solidFill>
          <a:ln>
            <a:noFill/>
          </a:ln>
        </p:spPr>
        <p:txBody>
          <a:bodyPr wrap="square" lIns="254000" tIns="228600" rIns="254000" bIns="2286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FFDE59"/>
                </a:solidFill>
                <a:latin typeface="Anton"/>
                <a:ea typeface="Anton"/>
                <a:cs typeface="Anton"/>
                <a:sym typeface="Anton"/>
              </a:rPr>
              <a:t>ALGORITHM B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1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Winner determination</a:t>
            </a:r>
          </a:p>
          <a:p>
            <a:pPr marL="342900" indent="-342900" algn="l">
              <a:lnSpc>
                <a:spcPct val="100000"/>
              </a:lnSpc>
              <a:spcBef>
                <a:spcPts val="700"/>
              </a:spcBef>
              <a:buClr>
                <a:srgbClr val="FFDE59"/>
              </a:buClr>
              <a:buFont typeface="Arial"/>
              <a:buChar char="•"/>
            </a:pPr>
            <a:r>
              <a:rPr lang="en-US" sz="19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Solves the WDP</a:t>
            </a:r>
          </a:p>
          <a:p>
            <a:pPr marL="342900" indent="-342900" algn="l">
              <a:lnSpc>
                <a:spcPct val="100000"/>
              </a:lnSpc>
              <a:spcBef>
                <a:spcPts val="700"/>
              </a:spcBef>
              <a:buClr>
                <a:srgbClr val="FFDE59"/>
              </a:buClr>
              <a:buFont typeface="Arial"/>
              <a:buChar char="•"/>
            </a:pPr>
            <a:r>
              <a:rPr lang="en-US" sz="19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Picks who delivers which bundle</a:t>
            </a:r>
          </a:p>
        </p:txBody>
      </p:sp>
      <p:sp>
        <p:nvSpPr>
          <p:cNvPr id="1109" name="Flow arrow"/>
          <p:cNvSpPr/>
          <p:nvPr/>
        </p:nvSpPr>
        <p:spPr>
          <a:xfrm>
            <a:off x="13360400" y="5461000"/>
            <a:ext cx="254000" cy="304800"/>
          </a:xfrm>
          <a:prstGeom prst="rightArrow">
            <a:avLst/>
          </a:prstGeom>
          <a:solidFill>
            <a:srgbClr val="0071B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110" name="Algorithm C card"/>
          <p:cNvSpPr/>
          <p:nvPr/>
        </p:nvSpPr>
        <p:spPr>
          <a:xfrm>
            <a:off x="13665200" y="3937000"/>
            <a:ext cx="3149600" cy="3505200"/>
          </a:xfrm>
          <a:prstGeom prst="roundRect">
            <a:avLst>
              <a:gd name="adj" fmla="val 8000"/>
            </a:avLst>
          </a:prstGeom>
          <a:solidFill>
            <a:srgbClr val="0C3877"/>
          </a:solidFill>
          <a:ln>
            <a:noFill/>
          </a:ln>
        </p:spPr>
        <p:txBody>
          <a:bodyPr wrap="square" lIns="254000" tIns="228600" rIns="254000" bIns="2286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FFDE59"/>
                </a:solidFill>
                <a:latin typeface="Anton"/>
                <a:ea typeface="Anton"/>
                <a:cs typeface="Anton"/>
                <a:sym typeface="Anton"/>
              </a:rPr>
              <a:t>ALGORITHM C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1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Payments</a:t>
            </a:r>
          </a:p>
          <a:p>
            <a:pPr marL="342900" indent="-342900" algn="l">
              <a:lnSpc>
                <a:spcPct val="100000"/>
              </a:lnSpc>
              <a:spcBef>
                <a:spcPts val="700"/>
              </a:spcBef>
              <a:buClr>
                <a:srgbClr val="FFDE59"/>
              </a:buClr>
              <a:buFont typeface="Arial"/>
              <a:buChar char="•"/>
            </a:pPr>
            <a:r>
              <a:rPr lang="en-US" sz="19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Clarke-pivot (VCG) rule</a:t>
            </a:r>
          </a:p>
          <a:p>
            <a:pPr marL="342900" indent="-342900" algn="l">
              <a:lnSpc>
                <a:spcPct val="100000"/>
              </a:lnSpc>
              <a:spcBef>
                <a:spcPts val="700"/>
              </a:spcBef>
              <a:buClr>
                <a:srgbClr val="FFDE59"/>
              </a:buClr>
              <a:buFont typeface="Arial"/>
              <a:buChar char="•"/>
            </a:pPr>
            <a:r>
              <a:rPr lang="en-US" sz="19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Re-solves the WDP without each winner</a:t>
            </a:r>
          </a:p>
        </p:txBody>
      </p:sp>
      <p:sp>
        <p:nvSpPr>
          <p:cNvPr id="1111" name="Complexity banner"/>
          <p:cNvSpPr/>
          <p:nvPr/>
        </p:nvSpPr>
        <p:spPr>
          <a:xfrm>
            <a:off x="4064000" y="8255000"/>
            <a:ext cx="12763500" cy="889000"/>
          </a:xfrm>
          <a:prstGeom prst="roundRect">
            <a:avLst>
              <a:gd name="adj" fmla="val 8000"/>
            </a:avLst>
          </a:prstGeom>
          <a:solidFill>
            <a:srgbClr val="0C3877"/>
          </a:solidFill>
          <a:ln>
            <a:noFill/>
          </a:ln>
        </p:spPr>
        <p:txBody>
          <a:bodyPr wrap="square" lIns="254000" tIns="254000" rIns="254000" bIns="25400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FFDE59"/>
                </a:solidFill>
                <a:latin typeface="Anton"/>
                <a:ea typeface="Anton"/>
                <a:cs typeface="Anton"/>
                <a:sym typeface="Anton"/>
              </a:rPr>
              <a:t>COMPLEXITY   </a:t>
            </a:r>
            <a:r>
              <a:rPr lang="en-US" sz="19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Each step is NP-hard; run in sequence, the whole pipeline is still NP-hard.</a:t>
            </a:r>
          </a:p>
        </p:txBody>
      </p:sp>
    </p:spTree>
    <p:extLst>
      <p:ext uri="{BB962C8B-B14F-4D97-AF65-F5344CB8AC3E}">
        <p14:creationId xmlns:p14="http://schemas.microsoft.com/office/powerpoint/2010/main" val="1589178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88900" y="8128000"/>
            <a:ext cx="3820500" cy="5454611"/>
          </a:xfrm>
          <a:custGeom>
            <a:avLst/>
            <a:gdLst/>
            <a:ahLst/>
            <a:cxnLst/>
            <a:rect l="l" t="t" r="r" b="b"/>
            <a:pathLst>
              <a:path w="3820500" h="5454611">
                <a:moveTo>
                  <a:pt x="0" y="0"/>
                </a:moveTo>
                <a:lnTo>
                  <a:pt x="3820501" y="0"/>
                </a:lnTo>
                <a:lnTo>
                  <a:pt x="3820501" y="5454611"/>
                </a:lnTo>
                <a:lnTo>
                  <a:pt x="0" y="54546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flipH="1">
            <a:off x="13731295" y="9447807"/>
            <a:ext cx="4556705" cy="839193"/>
          </a:xfrm>
          <a:custGeom>
            <a:avLst/>
            <a:gdLst/>
            <a:ahLst/>
            <a:cxnLst/>
            <a:rect l="l" t="t" r="r" b="b"/>
            <a:pathLst>
              <a:path w="4556705" h="839193">
                <a:moveTo>
                  <a:pt x="4556705" y="0"/>
                </a:moveTo>
                <a:lnTo>
                  <a:pt x="0" y="0"/>
                </a:lnTo>
                <a:lnTo>
                  <a:pt x="0" y="839193"/>
                </a:lnTo>
                <a:lnTo>
                  <a:pt x="4556705" y="839193"/>
                </a:lnTo>
                <a:lnTo>
                  <a:pt x="45567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473200" y="1397000"/>
            <a:ext cx="13970000" cy="101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6000" dirty="0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PROJECT TIMELINE: APRIL TO OCTOBER 2026</a:t>
            </a:r>
          </a:p>
        </p:txBody>
      </p:sp>
      <p:sp>
        <p:nvSpPr>
          <p:cNvPr id="300" name="Quote"/>
          <p:cNvSpPr txBox="1"/>
          <p:nvPr/>
        </p:nvSpPr>
        <p:spPr>
          <a:xfrm>
            <a:off x="1473200" y="2603500"/>
            <a:ext cx="153543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i="1" dirty="0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The core algorithm was locked on Sep 9, and all five research questions were answered by Sep 28.</a:t>
            </a:r>
          </a:p>
        </p:txBody>
      </p:sp>
      <p:sp>
        <p:nvSpPr>
          <p:cNvPr id="2000" name="Month"/>
          <p:cNvSpPr/>
          <p:nvPr/>
        </p:nvSpPr>
        <p:spPr>
          <a:xfrm>
            <a:off x="5588000" y="330200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APR – JUL</a:t>
            </a:r>
          </a:p>
        </p:txBody>
      </p:sp>
      <p:sp>
        <p:nvSpPr>
          <p:cNvPr id="2001" name="Month"/>
          <p:cNvSpPr/>
          <p:nvPr/>
        </p:nvSpPr>
        <p:spPr>
          <a:xfrm>
            <a:off x="7112000" y="3302000"/>
            <a:ext cx="4633546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AUGUST</a:t>
            </a:r>
          </a:p>
        </p:txBody>
      </p:sp>
      <p:sp>
        <p:nvSpPr>
          <p:cNvPr id="2002" name="Month"/>
          <p:cNvSpPr/>
          <p:nvPr/>
        </p:nvSpPr>
        <p:spPr>
          <a:xfrm>
            <a:off x="11745546" y="3302000"/>
            <a:ext cx="4484077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SEPTEMBER</a:t>
            </a:r>
          </a:p>
        </p:txBody>
      </p:sp>
      <p:sp>
        <p:nvSpPr>
          <p:cNvPr id="2003" name="Month"/>
          <p:cNvSpPr/>
          <p:nvPr/>
        </p:nvSpPr>
        <p:spPr>
          <a:xfrm>
            <a:off x="16229623" y="3302000"/>
            <a:ext cx="597877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OCT</a:t>
            </a:r>
          </a:p>
        </p:txBody>
      </p:sp>
      <p:cxnSp>
        <p:nvCxnSpPr>
          <p:cNvPr id="2004" name="Axis"/>
          <p:cNvCxnSpPr/>
          <p:nvPr/>
        </p:nvCxnSpPr>
        <p:spPr>
          <a:xfrm>
            <a:off x="5588000" y="3657600"/>
            <a:ext cx="11239500" cy="0"/>
          </a:xfrm>
          <a:prstGeom prst="line">
            <a:avLst/>
          </a:prstGeom>
          <a:ln w="12700">
            <a:solidFill>
              <a:srgbClr val="0071B3"/>
            </a:solidFill>
          </a:ln>
        </p:spPr>
      </p:cxnSp>
      <p:cxnSp>
        <p:nvCxnSpPr>
          <p:cNvPr id="2005" name="Month grid"/>
          <p:cNvCxnSpPr/>
          <p:nvPr/>
        </p:nvCxnSpPr>
        <p:spPr>
          <a:xfrm>
            <a:off x="7112000" y="3657600"/>
            <a:ext cx="0" cy="4648200"/>
          </a:xfrm>
          <a:prstGeom prst="line">
            <a:avLst/>
          </a:prstGeom>
          <a:ln w="9525">
            <a:solidFill>
              <a:srgbClr val="D5DEE8"/>
            </a:solidFill>
          </a:ln>
        </p:spPr>
      </p:cxnSp>
      <p:cxnSp>
        <p:nvCxnSpPr>
          <p:cNvPr id="2006" name="Month grid"/>
          <p:cNvCxnSpPr/>
          <p:nvPr/>
        </p:nvCxnSpPr>
        <p:spPr>
          <a:xfrm>
            <a:off x="11745546" y="3657600"/>
            <a:ext cx="0" cy="4648200"/>
          </a:xfrm>
          <a:prstGeom prst="line">
            <a:avLst/>
          </a:prstGeom>
          <a:ln w="9525">
            <a:solidFill>
              <a:srgbClr val="D5DEE8"/>
            </a:solidFill>
          </a:ln>
        </p:spPr>
      </p:cxnSp>
      <p:cxnSp>
        <p:nvCxnSpPr>
          <p:cNvPr id="2007" name="Month grid"/>
          <p:cNvCxnSpPr/>
          <p:nvPr/>
        </p:nvCxnSpPr>
        <p:spPr>
          <a:xfrm>
            <a:off x="16229623" y="3657600"/>
            <a:ext cx="0" cy="4648200"/>
          </a:xfrm>
          <a:prstGeom prst="line">
            <a:avLst/>
          </a:prstGeom>
          <a:ln w="9525">
            <a:solidFill>
              <a:srgbClr val="D5DEE8"/>
            </a:solidFill>
          </a:ln>
        </p:spPr>
      </p:cxnSp>
      <p:sp>
        <p:nvSpPr>
          <p:cNvPr id="2008" name="Milestone"/>
          <p:cNvSpPr/>
          <p:nvPr/>
        </p:nvSpPr>
        <p:spPr>
          <a:xfrm>
            <a:off x="11120804" y="3733800"/>
            <a:ext cx="203200" cy="203200"/>
          </a:xfrm>
          <a:prstGeom prst="diamond">
            <a:avLst/>
          </a:prstGeom>
          <a:solidFill>
            <a:srgbClr val="0C387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009" name="Milestone label"/>
          <p:cNvSpPr/>
          <p:nvPr/>
        </p:nvSpPr>
        <p:spPr>
          <a:xfrm>
            <a:off x="10269904" y="3975100"/>
            <a:ext cx="1905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Aug 28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Dataset locked</a:t>
            </a:r>
          </a:p>
        </p:txBody>
      </p:sp>
      <p:sp>
        <p:nvSpPr>
          <p:cNvPr id="2010" name="Milestone"/>
          <p:cNvSpPr/>
          <p:nvPr/>
        </p:nvSpPr>
        <p:spPr>
          <a:xfrm>
            <a:off x="12914435" y="3733800"/>
            <a:ext cx="203200" cy="203200"/>
          </a:xfrm>
          <a:prstGeom prst="diamond">
            <a:avLst/>
          </a:prstGeom>
          <a:solidFill>
            <a:srgbClr val="0C387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011" name="Milestone label"/>
          <p:cNvSpPr/>
          <p:nvPr/>
        </p:nvSpPr>
        <p:spPr>
          <a:xfrm>
            <a:off x="12063535" y="3975100"/>
            <a:ext cx="1905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Sep 9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Algorithm locked</a:t>
            </a:r>
          </a:p>
        </p:txBody>
      </p:sp>
      <p:sp>
        <p:nvSpPr>
          <p:cNvPr id="2012" name="Milestone"/>
          <p:cNvSpPr/>
          <p:nvPr/>
        </p:nvSpPr>
        <p:spPr>
          <a:xfrm>
            <a:off x="15754350" y="3733800"/>
            <a:ext cx="203200" cy="203200"/>
          </a:xfrm>
          <a:prstGeom prst="diamond">
            <a:avLst/>
          </a:prstGeom>
          <a:solidFill>
            <a:srgbClr val="0C387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013" name="Milestone label"/>
          <p:cNvSpPr/>
          <p:nvPr/>
        </p:nvSpPr>
        <p:spPr>
          <a:xfrm>
            <a:off x="14903450" y="3975100"/>
            <a:ext cx="1905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Sep 28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All 5 RQs done</a:t>
            </a:r>
          </a:p>
        </p:txBody>
      </p:sp>
      <p:sp>
        <p:nvSpPr>
          <p:cNvPr id="2014" name="Track label"/>
          <p:cNvSpPr/>
          <p:nvPr/>
        </p:nvSpPr>
        <p:spPr>
          <a:xfrm>
            <a:off x="1473200" y="3810000"/>
            <a:ext cx="393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Milestones</a:t>
            </a:r>
          </a:p>
        </p:txBody>
      </p:sp>
      <p:sp>
        <p:nvSpPr>
          <p:cNvPr id="2015" name="Row label"/>
          <p:cNvSpPr/>
          <p:nvPr/>
        </p:nvSpPr>
        <p:spPr>
          <a:xfrm>
            <a:off x="1473200" y="4622800"/>
            <a:ext cx="40132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Model and code foundation</a:t>
            </a:r>
          </a:p>
        </p:txBody>
      </p:sp>
      <p:sp>
        <p:nvSpPr>
          <p:cNvPr id="2016" name="Bar"/>
          <p:cNvSpPr/>
          <p:nvPr/>
        </p:nvSpPr>
        <p:spPr>
          <a:xfrm>
            <a:off x="5613400" y="4699000"/>
            <a:ext cx="2993292" cy="203200"/>
          </a:xfrm>
          <a:prstGeom prst="roundRect">
            <a:avLst>
              <a:gd name="adj" fmla="val 30000"/>
            </a:avLst>
          </a:prstGeom>
          <a:solidFill>
            <a:srgbClr val="00599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017" name="Row label"/>
          <p:cNvSpPr/>
          <p:nvPr/>
        </p:nvSpPr>
        <p:spPr>
          <a:xfrm>
            <a:off x="1473200" y="4991100"/>
            <a:ext cx="40132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Hypothesis checks, literature</a:t>
            </a:r>
          </a:p>
        </p:txBody>
      </p:sp>
      <p:sp>
        <p:nvSpPr>
          <p:cNvPr id="2018" name="Bar"/>
          <p:cNvSpPr/>
          <p:nvPr/>
        </p:nvSpPr>
        <p:spPr>
          <a:xfrm>
            <a:off x="8307754" y="5067300"/>
            <a:ext cx="747346" cy="203200"/>
          </a:xfrm>
          <a:prstGeom prst="roundRect">
            <a:avLst>
              <a:gd name="adj" fmla="val 30000"/>
            </a:avLst>
          </a:prstGeom>
          <a:solidFill>
            <a:srgbClr val="00599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019" name="Row label"/>
          <p:cNvSpPr/>
          <p:nvPr/>
        </p:nvSpPr>
        <p:spPr>
          <a:xfrm>
            <a:off x="1473200" y="5359400"/>
            <a:ext cx="40132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Atlanta delivery dataset</a:t>
            </a:r>
          </a:p>
        </p:txBody>
      </p:sp>
      <p:sp>
        <p:nvSpPr>
          <p:cNvPr id="2020" name="Bar"/>
          <p:cNvSpPr/>
          <p:nvPr/>
        </p:nvSpPr>
        <p:spPr>
          <a:xfrm>
            <a:off x="9802446" y="5435600"/>
            <a:ext cx="1494692" cy="203200"/>
          </a:xfrm>
          <a:prstGeom prst="roundRect">
            <a:avLst>
              <a:gd name="adj" fmla="val 30000"/>
            </a:avLst>
          </a:prstGeom>
          <a:solidFill>
            <a:srgbClr val="00599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021" name="Row label"/>
          <p:cNvSpPr/>
          <p:nvPr/>
        </p:nvSpPr>
        <p:spPr>
          <a:xfrm>
            <a:off x="1473200" y="5727700"/>
            <a:ext cx="40132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Geometric pruning tests</a:t>
            </a:r>
          </a:p>
        </p:txBody>
      </p:sp>
      <p:sp>
        <p:nvSpPr>
          <p:cNvPr id="2022" name="Bar"/>
          <p:cNvSpPr/>
          <p:nvPr/>
        </p:nvSpPr>
        <p:spPr>
          <a:xfrm>
            <a:off x="9802446" y="5803900"/>
            <a:ext cx="1494692" cy="203200"/>
          </a:xfrm>
          <a:prstGeom prst="roundRect">
            <a:avLst>
              <a:gd name="adj" fmla="val 30000"/>
            </a:avLst>
          </a:prstGeom>
          <a:solidFill>
            <a:srgbClr val="A9B4C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023" name="Row label"/>
          <p:cNvSpPr/>
          <p:nvPr/>
        </p:nvSpPr>
        <p:spPr>
          <a:xfrm>
            <a:off x="1473200" y="6096000"/>
            <a:ext cx="40132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Route-bundle algorithm</a:t>
            </a:r>
          </a:p>
        </p:txBody>
      </p:sp>
      <p:sp>
        <p:nvSpPr>
          <p:cNvPr id="2024" name="Bar"/>
          <p:cNvSpPr/>
          <p:nvPr/>
        </p:nvSpPr>
        <p:spPr>
          <a:xfrm>
            <a:off x="12642362" y="6172200"/>
            <a:ext cx="298938" cy="203200"/>
          </a:xfrm>
          <a:prstGeom prst="roundRect">
            <a:avLst>
              <a:gd name="adj" fmla="val 30000"/>
            </a:avLst>
          </a:prstGeom>
          <a:solidFill>
            <a:srgbClr val="A9B4C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025" name="Bar"/>
          <p:cNvSpPr/>
          <p:nvPr/>
        </p:nvSpPr>
        <p:spPr>
          <a:xfrm>
            <a:off x="12941300" y="6172200"/>
            <a:ext cx="149469" cy="203200"/>
          </a:xfrm>
          <a:prstGeom prst="roundRect">
            <a:avLst>
              <a:gd name="adj" fmla="val 30000"/>
            </a:avLst>
          </a:prstGeom>
          <a:solidFill>
            <a:srgbClr val="00599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026" name="Row label"/>
          <p:cNvSpPr/>
          <p:nvPr/>
        </p:nvSpPr>
        <p:spPr>
          <a:xfrm>
            <a:off x="1473200" y="6464300"/>
            <a:ext cx="40132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Faster payments, scale tests</a:t>
            </a:r>
          </a:p>
        </p:txBody>
      </p:sp>
      <p:sp>
        <p:nvSpPr>
          <p:cNvPr id="2027" name="Bar"/>
          <p:cNvSpPr/>
          <p:nvPr/>
        </p:nvSpPr>
        <p:spPr>
          <a:xfrm>
            <a:off x="12941300" y="6540500"/>
            <a:ext cx="1195754" cy="203200"/>
          </a:xfrm>
          <a:prstGeom prst="roundRect">
            <a:avLst>
              <a:gd name="adj" fmla="val 30000"/>
            </a:avLst>
          </a:prstGeom>
          <a:solidFill>
            <a:srgbClr val="00599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028" name="Row label"/>
          <p:cNvSpPr/>
          <p:nvPr/>
        </p:nvSpPr>
        <p:spPr>
          <a:xfrm>
            <a:off x="1473200" y="6832600"/>
            <a:ext cx="40132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Alternative speed-up ideas</a:t>
            </a:r>
          </a:p>
        </p:txBody>
      </p:sp>
      <p:sp>
        <p:nvSpPr>
          <p:cNvPr id="2029" name="Bar"/>
          <p:cNvSpPr/>
          <p:nvPr/>
        </p:nvSpPr>
        <p:spPr>
          <a:xfrm>
            <a:off x="13688646" y="6908800"/>
            <a:ext cx="747346" cy="203200"/>
          </a:xfrm>
          <a:prstGeom prst="roundRect">
            <a:avLst>
              <a:gd name="adj" fmla="val 30000"/>
            </a:avLst>
          </a:prstGeom>
          <a:solidFill>
            <a:srgbClr val="A9B4C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030" name="Row label"/>
          <p:cNvSpPr/>
          <p:nvPr/>
        </p:nvSpPr>
        <p:spPr>
          <a:xfrm>
            <a:off x="1473200" y="7200900"/>
            <a:ext cx="40132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Research questions RQ1–RQ5</a:t>
            </a:r>
          </a:p>
        </p:txBody>
      </p:sp>
      <p:sp>
        <p:nvSpPr>
          <p:cNvPr id="2031" name="Bar"/>
          <p:cNvSpPr/>
          <p:nvPr/>
        </p:nvSpPr>
        <p:spPr>
          <a:xfrm>
            <a:off x="13987585" y="7277100"/>
            <a:ext cx="149469" cy="203200"/>
          </a:xfrm>
          <a:prstGeom prst="roundRect">
            <a:avLst>
              <a:gd name="adj" fmla="val 30000"/>
            </a:avLst>
          </a:prstGeom>
          <a:solidFill>
            <a:srgbClr val="00599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032" name="Bar"/>
          <p:cNvSpPr/>
          <p:nvPr/>
        </p:nvSpPr>
        <p:spPr>
          <a:xfrm>
            <a:off x="15631746" y="7277100"/>
            <a:ext cx="298938" cy="203200"/>
          </a:xfrm>
          <a:prstGeom prst="roundRect">
            <a:avLst>
              <a:gd name="adj" fmla="val 30000"/>
            </a:avLst>
          </a:prstGeom>
          <a:solidFill>
            <a:srgbClr val="00599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033" name="Row label"/>
          <p:cNvSpPr/>
          <p:nvPr/>
        </p:nvSpPr>
        <p:spPr>
          <a:xfrm>
            <a:off x="1473200" y="7569200"/>
            <a:ext cx="40132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Figures, paper draft, audits</a:t>
            </a:r>
          </a:p>
        </p:txBody>
      </p:sp>
      <p:sp>
        <p:nvSpPr>
          <p:cNvPr id="2034" name="Bar"/>
          <p:cNvSpPr/>
          <p:nvPr/>
        </p:nvSpPr>
        <p:spPr>
          <a:xfrm>
            <a:off x="15781215" y="7645400"/>
            <a:ext cx="747346" cy="203200"/>
          </a:xfrm>
          <a:prstGeom prst="roundRect">
            <a:avLst>
              <a:gd name="adj" fmla="val 30000"/>
            </a:avLst>
          </a:prstGeom>
          <a:solidFill>
            <a:srgbClr val="00599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035" name="Row label"/>
          <p:cNvSpPr/>
          <p:nvPr/>
        </p:nvSpPr>
        <p:spPr>
          <a:xfrm>
            <a:off x="1473200" y="7937500"/>
            <a:ext cx="40132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Thesis writing (Ch. 1–4 done)</a:t>
            </a:r>
          </a:p>
        </p:txBody>
      </p:sp>
      <p:sp>
        <p:nvSpPr>
          <p:cNvPr id="2036" name="Bar"/>
          <p:cNvSpPr/>
          <p:nvPr/>
        </p:nvSpPr>
        <p:spPr>
          <a:xfrm>
            <a:off x="16229623" y="8013700"/>
            <a:ext cx="597877" cy="203200"/>
          </a:xfrm>
          <a:prstGeom prst="roundRect">
            <a:avLst>
              <a:gd name="adj" fmla="val 30000"/>
            </a:avLst>
          </a:prstGeom>
          <a:solidFill>
            <a:srgbClr val="FFDE59"/>
          </a:solidFill>
          <a:ln w="9525">
            <a:solidFill>
              <a:srgbClr val="E0B8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cxnSp>
        <p:nvCxnSpPr>
          <p:cNvPr id="2037" name="Row base"/>
          <p:cNvCxnSpPr/>
          <p:nvPr/>
        </p:nvCxnSpPr>
        <p:spPr>
          <a:xfrm>
            <a:off x="1473200" y="8305800"/>
            <a:ext cx="15354300" cy="0"/>
          </a:xfrm>
          <a:prstGeom prst="line">
            <a:avLst/>
          </a:prstGeom>
          <a:ln w="9525">
            <a:solidFill>
              <a:srgbClr val="D5DEE8"/>
            </a:solidFill>
          </a:ln>
        </p:spPr>
      </p:cxnSp>
      <p:sp>
        <p:nvSpPr>
          <p:cNvPr id="2038" name="Legend key"/>
          <p:cNvSpPr/>
          <p:nvPr/>
        </p:nvSpPr>
        <p:spPr>
          <a:xfrm>
            <a:off x="5588000" y="8623300"/>
            <a:ext cx="304800" cy="177800"/>
          </a:xfrm>
          <a:prstGeom prst="roundRect">
            <a:avLst>
              <a:gd name="adj" fmla="val 30000"/>
            </a:avLst>
          </a:prstGeom>
          <a:solidFill>
            <a:srgbClr val="00599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039" name="Legend text"/>
          <p:cNvSpPr/>
          <p:nvPr/>
        </p:nvSpPr>
        <p:spPr>
          <a:xfrm>
            <a:off x="5994400" y="8559800"/>
            <a:ext cx="12065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Completed</a:t>
            </a:r>
          </a:p>
        </p:txBody>
      </p:sp>
      <p:sp>
        <p:nvSpPr>
          <p:cNvPr id="2040" name="Legend key"/>
          <p:cNvSpPr/>
          <p:nvPr/>
        </p:nvSpPr>
        <p:spPr>
          <a:xfrm>
            <a:off x="7556500" y="8623300"/>
            <a:ext cx="304800" cy="177800"/>
          </a:xfrm>
          <a:prstGeom prst="roundRect">
            <a:avLst>
              <a:gd name="adj" fmla="val 30000"/>
            </a:avLst>
          </a:prstGeom>
          <a:solidFill>
            <a:srgbClr val="A9B4C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041" name="Legend text"/>
          <p:cNvSpPr/>
          <p:nvPr/>
        </p:nvSpPr>
        <p:spPr>
          <a:xfrm>
            <a:off x="7962900" y="85598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Tried, then dropped</a:t>
            </a:r>
          </a:p>
        </p:txBody>
      </p:sp>
      <p:sp>
        <p:nvSpPr>
          <p:cNvPr id="2042" name="Legend key"/>
          <p:cNvSpPr/>
          <p:nvPr/>
        </p:nvSpPr>
        <p:spPr>
          <a:xfrm>
            <a:off x="10604500" y="8623300"/>
            <a:ext cx="304800" cy="177800"/>
          </a:xfrm>
          <a:prstGeom prst="roundRect">
            <a:avLst>
              <a:gd name="adj" fmla="val 30000"/>
            </a:avLst>
          </a:prstGeom>
          <a:solidFill>
            <a:srgbClr val="FFDE59"/>
          </a:solidFill>
          <a:ln w="9525">
            <a:solidFill>
              <a:srgbClr val="E0B8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043" name="Legend text"/>
          <p:cNvSpPr/>
          <p:nvPr/>
        </p:nvSpPr>
        <p:spPr>
          <a:xfrm>
            <a:off x="11010900" y="8559800"/>
            <a:ext cx="14605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In progress</a:t>
            </a:r>
          </a:p>
        </p:txBody>
      </p:sp>
      <p:sp>
        <p:nvSpPr>
          <p:cNvPr id="2044" name="Legend key"/>
          <p:cNvSpPr/>
          <p:nvPr/>
        </p:nvSpPr>
        <p:spPr>
          <a:xfrm>
            <a:off x="12877800" y="8610600"/>
            <a:ext cx="203200" cy="203200"/>
          </a:xfrm>
          <a:prstGeom prst="diamond">
            <a:avLst/>
          </a:prstGeom>
          <a:solidFill>
            <a:srgbClr val="0C387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045" name="Legend text"/>
          <p:cNvSpPr/>
          <p:nvPr/>
        </p:nvSpPr>
        <p:spPr>
          <a:xfrm>
            <a:off x="13233400" y="8559800"/>
            <a:ext cx="12065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Milestone</a:t>
            </a:r>
          </a:p>
        </p:txBody>
      </p:sp>
      <p:sp>
        <p:nvSpPr>
          <p:cNvPr id="2046" name="Footnote"/>
          <p:cNvSpPr/>
          <p:nvPr/>
        </p:nvSpPr>
        <p:spPr>
          <a:xfrm>
            <a:off x="5588000" y="9067800"/>
            <a:ext cx="787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4A5A70"/>
                </a:solidFill>
                <a:latin typeface="Codec Pro"/>
                <a:ea typeface="Codec Pro"/>
                <a:cs typeface="Codec Pro"/>
                <a:sym typeface="Codec Pro"/>
              </a:rPr>
              <a:t>Dates are approximate, taken from file timestamps and project notes. Apr–Jul is compressed.</a:t>
            </a:r>
          </a:p>
        </p:txBody>
      </p:sp>
    </p:spTree>
    <p:extLst>
      <p:ext uri="{BB962C8B-B14F-4D97-AF65-F5344CB8AC3E}">
        <p14:creationId xmlns:p14="http://schemas.microsoft.com/office/powerpoint/2010/main" val="3382616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88900" y="8128000"/>
            <a:ext cx="3820500" cy="5454611"/>
          </a:xfrm>
          <a:custGeom>
            <a:avLst/>
            <a:gdLst/>
            <a:ahLst/>
            <a:cxnLst/>
            <a:rect l="l" t="t" r="r" b="b"/>
            <a:pathLst>
              <a:path w="3820500" h="5454611">
                <a:moveTo>
                  <a:pt x="0" y="0"/>
                </a:moveTo>
                <a:lnTo>
                  <a:pt x="3820501" y="0"/>
                </a:lnTo>
                <a:lnTo>
                  <a:pt x="3820501" y="5454611"/>
                </a:lnTo>
                <a:lnTo>
                  <a:pt x="0" y="54546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flipH="1">
            <a:off x="13731295" y="9447807"/>
            <a:ext cx="4556705" cy="839193"/>
          </a:xfrm>
          <a:custGeom>
            <a:avLst/>
            <a:gdLst/>
            <a:ahLst/>
            <a:cxnLst/>
            <a:rect l="l" t="t" r="r" b="b"/>
            <a:pathLst>
              <a:path w="4556705" h="839193">
                <a:moveTo>
                  <a:pt x="4556705" y="0"/>
                </a:moveTo>
                <a:lnTo>
                  <a:pt x="0" y="0"/>
                </a:lnTo>
                <a:lnTo>
                  <a:pt x="0" y="839193"/>
                </a:lnTo>
                <a:lnTo>
                  <a:pt x="4556705" y="839193"/>
                </a:lnTo>
                <a:lnTo>
                  <a:pt x="45567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473200" y="1397000"/>
            <a:ext cx="13970000" cy="101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6000" dirty="0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RESULTS SO FAR</a:t>
            </a:r>
          </a:p>
        </p:txBody>
      </p:sp>
      <p:sp>
        <p:nvSpPr>
          <p:cNvPr id="300" name="Quote"/>
          <p:cNvSpPr txBox="1"/>
          <p:nvPr/>
        </p:nvSpPr>
        <p:spPr>
          <a:xfrm>
            <a:off x="1473200" y="2603500"/>
            <a:ext cx="153543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i="1" dirty="0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The full system works end to end; the auction saves money when gig workers can compete with the company fleet.</a:t>
            </a:r>
          </a:p>
        </p:txBody>
      </p:sp>
      <p:sp>
        <p:nvSpPr>
          <p:cNvPr id="3000" name="Result card"/>
          <p:cNvSpPr/>
          <p:nvPr/>
        </p:nvSpPr>
        <p:spPr>
          <a:xfrm>
            <a:off x="1473200" y="3327400"/>
            <a:ext cx="4914900" cy="4445000"/>
          </a:xfrm>
          <a:prstGeom prst="roundRect">
            <a:avLst>
              <a:gd name="adj" fmla="val 6000"/>
            </a:avLst>
          </a:prstGeom>
          <a:solidFill>
            <a:srgbClr val="005990"/>
          </a:solidFill>
          <a:ln>
            <a:noFill/>
          </a:ln>
        </p:spPr>
        <p:txBody>
          <a:bodyPr wrap="square" lIns="254000" tIns="228600" rIns="254000" bIns="2286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rgbClr val="FFDE59"/>
                </a:solidFill>
                <a:latin typeface="Anton"/>
                <a:ea typeface="Anton"/>
                <a:cs typeface="Anton"/>
                <a:sym typeface="Anton"/>
              </a:rPr>
              <a:t>WHAT WE BUILT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4400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 errors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in route bundles, checked against a brute-force search</a:t>
            </a:r>
          </a:p>
          <a:p>
            <a:pPr marL="285750" indent="-285750" algn="l">
              <a:lnSpc>
                <a:spcPct val="100000"/>
              </a:lnSpc>
              <a:spcBef>
                <a:spcPts val="800"/>
              </a:spcBef>
              <a:buClr>
                <a:srgbClr val="FFDE59"/>
              </a:buClr>
              <a:buFont typeface="Arial"/>
              <a:buChar char="•"/>
            </a:pPr>
            <a:r>
              <a:rPr lang="en-US" sz="17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Realistic Atlanta delivery data with about 8,000 test cases</a:t>
            </a:r>
          </a:p>
          <a:p>
            <a:pPr marL="285750" indent="-285750" algn="l">
              <a:lnSpc>
                <a:spcPct val="100000"/>
              </a:lnSpc>
              <a:spcBef>
                <a:spcPts val="800"/>
              </a:spcBef>
              <a:buClr>
                <a:srgbClr val="FFDE59"/>
              </a:buClr>
              <a:buFont typeface="Arial"/>
              <a:buChar char="•"/>
            </a:pPr>
            <a:r>
              <a:rPr lang="en-US" sz="17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Bundle generator, winner selection and payments run as one pipeline</a:t>
            </a:r>
          </a:p>
          <a:p>
            <a:pPr marL="285750" indent="-285750" algn="l">
              <a:lnSpc>
                <a:spcPct val="100000"/>
              </a:lnSpc>
              <a:spcBef>
                <a:spcPts val="800"/>
              </a:spcBef>
              <a:buClr>
                <a:srgbClr val="FFDE59"/>
              </a:buClr>
              <a:buFont typeface="Arial"/>
              <a:buChar char="•"/>
            </a:pPr>
            <a:r>
              <a:rPr lang="en-US" sz="17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Every test run solved to a proven optimum</a:t>
            </a:r>
          </a:p>
        </p:txBody>
      </p:sp>
      <p:sp>
        <p:nvSpPr>
          <p:cNvPr id="3001" name="Result card"/>
          <p:cNvSpPr/>
          <p:nvPr/>
        </p:nvSpPr>
        <p:spPr>
          <a:xfrm>
            <a:off x="6692900" y="3327400"/>
            <a:ext cx="4914900" cy="4445000"/>
          </a:xfrm>
          <a:prstGeom prst="roundRect">
            <a:avLst>
              <a:gd name="adj" fmla="val 6000"/>
            </a:avLst>
          </a:prstGeom>
          <a:solidFill>
            <a:srgbClr val="005990"/>
          </a:solidFill>
          <a:ln>
            <a:noFill/>
          </a:ln>
        </p:spPr>
        <p:txBody>
          <a:bodyPr wrap="square" lIns="254000" tIns="228600" rIns="254000" bIns="2286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rgbClr val="FFDE59"/>
                </a:solidFill>
                <a:latin typeface="Anton"/>
                <a:ea typeface="Anton"/>
                <a:cs typeface="Anton"/>
                <a:sym typeface="Anton"/>
              </a:rPr>
              <a:t>HOW FAST IT RUNS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4400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~3x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faster payment calculation by splitting the problem into independent parts</a:t>
            </a:r>
          </a:p>
          <a:p>
            <a:pPr marL="285750" indent="-285750" algn="l">
              <a:lnSpc>
                <a:spcPct val="100000"/>
              </a:lnSpc>
              <a:spcBef>
                <a:spcPts val="800"/>
              </a:spcBef>
              <a:buClr>
                <a:srgbClr val="FFDE59"/>
              </a:buClr>
              <a:buFont typeface="Arial"/>
              <a:buChar char="•"/>
            </a:pPr>
            <a:r>
              <a:rPr lang="en-US" sz="17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Exact payments in under 1 second for 20 orders</a:t>
            </a:r>
          </a:p>
          <a:p>
            <a:pPr marL="285750" indent="-285750" algn="l">
              <a:lnSpc>
                <a:spcPct val="100000"/>
              </a:lnSpc>
              <a:spcBef>
                <a:spcPts val="800"/>
              </a:spcBef>
              <a:buClr>
                <a:srgbClr val="FFDE59"/>
              </a:buClr>
              <a:buFont typeface="Arial"/>
              <a:buChar char="•"/>
            </a:pPr>
            <a:r>
              <a:rPr lang="en-US" sz="17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About 18 seconds per case at 30 orders</a:t>
            </a:r>
          </a:p>
          <a:p>
            <a:pPr marL="285750" indent="-285750" algn="l">
              <a:lnSpc>
                <a:spcPct val="100000"/>
              </a:lnSpc>
              <a:spcBef>
                <a:spcPts val="800"/>
              </a:spcBef>
              <a:buClr>
                <a:srgbClr val="FFDE59"/>
              </a:buClr>
              <a:buFont typeface="Arial"/>
              <a:buChar char="•"/>
            </a:pPr>
            <a:r>
              <a:rPr lang="en-US" sz="17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Limit: bundle count grows fast when drivers take 3+ orders</a:t>
            </a:r>
          </a:p>
        </p:txBody>
      </p:sp>
      <p:sp>
        <p:nvSpPr>
          <p:cNvPr id="3002" name="Result card"/>
          <p:cNvSpPr/>
          <p:nvPr/>
        </p:nvSpPr>
        <p:spPr>
          <a:xfrm>
            <a:off x="11912600" y="3327400"/>
            <a:ext cx="4914900" cy="4445000"/>
          </a:xfrm>
          <a:prstGeom prst="roundRect">
            <a:avLst>
              <a:gd name="adj" fmla="val 6000"/>
            </a:avLst>
          </a:prstGeom>
          <a:solidFill>
            <a:srgbClr val="0C3877"/>
          </a:solidFill>
          <a:ln>
            <a:noFill/>
          </a:ln>
        </p:spPr>
        <p:txBody>
          <a:bodyPr wrap="square" lIns="254000" tIns="228600" rIns="254000" bIns="2286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rgbClr val="FFDE59"/>
                </a:solidFill>
                <a:latin typeface="Anton"/>
                <a:ea typeface="Anton"/>
                <a:cs typeface="Anton"/>
                <a:sym typeface="Anton"/>
              </a:rPr>
              <a:t>WHAT THE AUCTION DELIVERS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4400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11–15%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lower cost when drivers can bid on bundles of 3–4 orders</a:t>
            </a:r>
          </a:p>
          <a:p>
            <a:pPr marL="285750" indent="-285750" algn="l">
              <a:lnSpc>
                <a:spcPct val="100000"/>
              </a:lnSpc>
              <a:spcBef>
                <a:spcPts val="800"/>
              </a:spcBef>
              <a:buClr>
                <a:srgbClr val="FFDE59"/>
              </a:buClr>
              <a:buFont typeface="Arial"/>
              <a:buChar char="•"/>
            </a:pPr>
            <a:r>
              <a:rPr lang="en-US" sz="17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Mixing gig workers and occasional drivers saves about 6% more</a:t>
            </a:r>
          </a:p>
          <a:p>
            <a:pPr marL="285750" indent="-285750" algn="l">
              <a:lnSpc>
                <a:spcPct val="100000"/>
              </a:lnSpc>
              <a:spcBef>
                <a:spcPts val="800"/>
              </a:spcBef>
              <a:buClr>
                <a:srgbClr val="FFDE59"/>
              </a:buClr>
              <a:buFont typeface="Arial"/>
              <a:buChar char="•"/>
            </a:pPr>
            <a:r>
              <a:rPr lang="en-US" sz="17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Paying for honest bids costs about 14% over the ideal</a:t>
            </a:r>
          </a:p>
          <a:p>
            <a:pPr marL="285750" indent="-285750" algn="l">
              <a:lnSpc>
                <a:spcPct val="100000"/>
              </a:lnSpc>
              <a:spcBef>
                <a:spcPts val="800"/>
              </a:spcBef>
              <a:buClr>
                <a:srgbClr val="FFDE59"/>
              </a:buClr>
              <a:buFont typeface="Arial"/>
              <a:buChar char="•"/>
            </a:pPr>
            <a:r>
              <a:rPr lang="en-US" sz="17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Gains appear only when the crowd's routes fit the orders well</a:t>
            </a:r>
          </a:p>
        </p:txBody>
      </p:sp>
      <p:sp>
        <p:nvSpPr>
          <p:cNvPr id="3003" name="Takeaway banner"/>
          <p:cNvSpPr/>
          <p:nvPr/>
        </p:nvSpPr>
        <p:spPr>
          <a:xfrm>
            <a:off x="4064000" y="8280400"/>
            <a:ext cx="12763500" cy="990600"/>
          </a:xfrm>
          <a:prstGeom prst="roundRect">
            <a:avLst>
              <a:gd name="adj" fmla="val 6000"/>
            </a:avLst>
          </a:prstGeom>
          <a:solidFill>
            <a:srgbClr val="0C3877"/>
          </a:solidFill>
          <a:ln>
            <a:noFill/>
          </a:ln>
        </p:spPr>
        <p:txBody>
          <a:bodyPr wrap="square" lIns="254000" tIns="101600" rIns="254000" bIns="10160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FFDE59"/>
                </a:solidFill>
                <a:latin typeface="Anton"/>
                <a:ea typeface="Anton"/>
                <a:cs typeface="Anton"/>
                <a:sym typeface="Anton"/>
              </a:rPr>
              <a:t>TAKEAWAY   </a:t>
            </a:r>
            <a:r>
              <a:rPr lang="en-US" sz="18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When the company fleet is cheap, it serves ~95% of orders and every mechanism looks alike; the auction matters when the crowd can compete.</a:t>
            </a:r>
          </a:p>
        </p:txBody>
      </p:sp>
    </p:spTree>
    <p:extLst>
      <p:ext uri="{BB962C8B-B14F-4D97-AF65-F5344CB8AC3E}">
        <p14:creationId xmlns:p14="http://schemas.microsoft.com/office/powerpoint/2010/main" val="2001303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1609235" y="3764235"/>
            <a:ext cx="5275870" cy="7532473"/>
          </a:xfrm>
          <a:custGeom>
            <a:avLst/>
            <a:gdLst/>
            <a:ahLst/>
            <a:cxnLst/>
            <a:rect l="l" t="t" r="r" b="b"/>
            <a:pathLst>
              <a:path w="5275870" h="7532473">
                <a:moveTo>
                  <a:pt x="0" y="0"/>
                </a:moveTo>
                <a:lnTo>
                  <a:pt x="5275870" y="0"/>
                </a:lnTo>
                <a:lnTo>
                  <a:pt x="5275870" y="7532473"/>
                </a:lnTo>
                <a:lnTo>
                  <a:pt x="0" y="75324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810000" y="5397500"/>
            <a:ext cx="1066800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Questions and discussion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64000" y="2921000"/>
            <a:ext cx="10160000" cy="19050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0" dirty="0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sp>
        <p:nvSpPr>
          <p:cNvPr id="8" name="Freeform 8"/>
          <p:cNvSpPr/>
          <p:nvPr/>
        </p:nvSpPr>
        <p:spPr>
          <a:xfrm flipH="1" flipV="1">
            <a:off x="14621365" y="0"/>
            <a:ext cx="5275870" cy="7532473"/>
          </a:xfrm>
          <a:custGeom>
            <a:avLst/>
            <a:gdLst/>
            <a:ahLst/>
            <a:cxnLst/>
            <a:rect l="l" t="t" r="r" b="b"/>
            <a:pathLst>
              <a:path w="5275870" h="7532473">
                <a:moveTo>
                  <a:pt x="5275870" y="7532473"/>
                </a:moveTo>
                <a:lnTo>
                  <a:pt x="0" y="7532473"/>
                </a:lnTo>
                <a:lnTo>
                  <a:pt x="0" y="0"/>
                </a:lnTo>
                <a:lnTo>
                  <a:pt x="5275870" y="0"/>
                </a:lnTo>
                <a:lnTo>
                  <a:pt x="5275870" y="753247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00" name="Accent rule"/>
          <p:cNvSpPr/>
          <p:nvPr/>
        </p:nvSpPr>
        <p:spPr>
          <a:xfrm>
            <a:off x="8382000" y="4978400"/>
            <a:ext cx="1524000" cy="101600"/>
          </a:xfrm>
          <a:prstGeom prst="roundRect">
            <a:avLst>
              <a:gd name="adj" fmla="val 50000"/>
            </a:avLst>
          </a:prstGeom>
          <a:solidFill>
            <a:srgbClr val="FFDE5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201" name="Closing subtitle"/>
          <p:cNvSpPr/>
          <p:nvPr/>
        </p:nvSpPr>
        <p:spPr>
          <a:xfrm>
            <a:off x="3810000" y="6350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Mechanism design for hybrid delivery fleets</a:t>
            </a:r>
          </a:p>
          <a:p>
            <a:pPr algn="ctr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sz="2000" i="1" dirty="0">
                <a:solidFill>
                  <a:srgbClr val="44546A"/>
                </a:solidFill>
                <a:latin typeface="Codec Pro"/>
                <a:ea typeface="Codec Pro"/>
                <a:cs typeface="Codec Pro"/>
                <a:sym typeface="Codec Pro"/>
              </a:rPr>
              <a:t>Undergraduate’s thesis proposal</a:t>
            </a:r>
          </a:p>
        </p:txBody>
      </p:sp>
    </p:spTree>
    <p:extLst>
      <p:ext uri="{BB962C8B-B14F-4D97-AF65-F5344CB8AC3E}">
        <p14:creationId xmlns:p14="http://schemas.microsoft.com/office/powerpoint/2010/main" val="1758902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88900" y="8128000"/>
            <a:ext cx="3820500" cy="5454611"/>
          </a:xfrm>
          <a:custGeom>
            <a:avLst/>
            <a:gdLst/>
            <a:ahLst/>
            <a:cxnLst/>
            <a:rect l="l" t="t" r="r" b="b"/>
            <a:pathLst>
              <a:path w="3820500" h="5454611">
                <a:moveTo>
                  <a:pt x="0" y="0"/>
                </a:moveTo>
                <a:lnTo>
                  <a:pt x="3820501" y="0"/>
                </a:lnTo>
                <a:lnTo>
                  <a:pt x="3820501" y="5454611"/>
                </a:lnTo>
                <a:lnTo>
                  <a:pt x="0" y="54546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flipH="1">
            <a:off x="13731295" y="9447807"/>
            <a:ext cx="4556705" cy="839193"/>
          </a:xfrm>
          <a:custGeom>
            <a:avLst/>
            <a:gdLst/>
            <a:ahLst/>
            <a:cxnLst/>
            <a:rect l="l" t="t" r="r" b="b"/>
            <a:pathLst>
              <a:path w="4556705" h="839193">
                <a:moveTo>
                  <a:pt x="4556705" y="0"/>
                </a:moveTo>
                <a:lnTo>
                  <a:pt x="0" y="0"/>
                </a:lnTo>
                <a:lnTo>
                  <a:pt x="0" y="839193"/>
                </a:lnTo>
                <a:lnTo>
                  <a:pt x="4556705" y="839193"/>
                </a:lnTo>
                <a:lnTo>
                  <a:pt x="45567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473200" y="1397000"/>
            <a:ext cx="13970000" cy="101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6000" dirty="0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EVERY DRIVER INFLATES, SO THE WRONG ONE WINS</a:t>
            </a:r>
          </a:p>
        </p:txBody>
      </p:sp>
      <p:sp>
        <p:nvSpPr>
          <p:cNvPr id="300" name="Quote"/>
          <p:cNvSpPr txBox="1"/>
          <p:nvPr/>
        </p:nvSpPr>
        <p:spPr>
          <a:xfrm>
            <a:off x="1473200" y="2603500"/>
            <a:ext cx="153543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i="1" dirty="0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Slide 8 lets only GIG 2 raise its bid. Under pay-your-bid, every driver does.</a:t>
            </a:r>
          </a:p>
        </p:txBody>
      </p:sp>
      <p:sp>
        <p:nvSpPr>
          <p:cNvPr id="500" name="Left label"/>
          <p:cNvSpPr/>
          <p:nvPr/>
        </p:nvSpPr>
        <p:spPr>
          <a:xfrm>
            <a:off x="1473200" y="3276600"/>
            <a:ext cx="7493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Bids under pay-your-bid</a:t>
            </a:r>
          </a:p>
        </p:txBody>
      </p:sp>
      <p:sp>
        <p:nvSpPr>
          <p:cNvPr id="501" name="Right label"/>
          <p:cNvSpPr/>
          <p:nvPr/>
        </p:nvSpPr>
        <p:spPr>
          <a:xfrm>
            <a:off x="9906000" y="3276600"/>
            <a:ext cx="711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C039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Who should win vs. who wins</a:t>
            </a:r>
          </a:p>
        </p:txBody>
      </p:sp>
      <p:sp>
        <p:nvSpPr>
          <p:cNvPr id="504" name="Compare arrow"/>
          <p:cNvSpPr/>
          <p:nvPr/>
        </p:nvSpPr>
        <p:spPr>
          <a:xfrm>
            <a:off x="9017000" y="5384800"/>
            <a:ext cx="508000" cy="406400"/>
          </a:xfrm>
          <a:prstGeom prst="rightArrow">
            <a:avLst/>
          </a:prstGeom>
          <a:solidFill>
            <a:srgbClr val="0071B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505" name="Left note"/>
          <p:cNvSpPr/>
          <p:nvPr/>
        </p:nvSpPr>
        <p:spPr>
          <a:xfrm>
            <a:off x="1473200" y="7493000"/>
            <a:ext cx="7112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Three of four drivers bid above cost. GIG 2 wins; the platform pays $7 to $7.99.</a:t>
            </a:r>
          </a:p>
        </p:txBody>
      </p:sp>
      <p:sp>
        <p:nvSpPr>
          <p:cNvPr id="506" name="Right note"/>
          <p:cNvSpPr/>
          <p:nvPr/>
        </p:nvSpPr>
        <p:spPr>
          <a:xfrm>
            <a:off x="9906000" y="7493000"/>
            <a:ext cx="7112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GIG 4 is cheapest ($5) </a:t>
            </a:r>
            <a:r>
              <a:rPr lang="en-US" sz="20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but inflated the most, so it loses to GIG 2.</a:t>
            </a:r>
          </a:p>
        </p:txBody>
      </p:sp>
      <p:sp>
        <p:nvSpPr>
          <p:cNvPr id="507" name="Problem banner"/>
          <p:cNvSpPr/>
          <p:nvPr/>
        </p:nvSpPr>
        <p:spPr>
          <a:xfrm>
            <a:off x="3524250" y="8673107"/>
            <a:ext cx="12763500" cy="91440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txBody>
          <a:bodyPr wrap="square" lIns="254000" tIns="254000" rIns="254000" bIns="25400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FFDE59"/>
                </a:solidFill>
                <a:latin typeface="Anton"/>
                <a:ea typeface="Anton"/>
                <a:cs typeface="Anton"/>
                <a:sym typeface="Anton"/>
              </a:rPr>
              <a:t>PROBLEM   </a:t>
            </a:r>
            <a:r>
              <a:rPr lang="en-US" sz="21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The platform pays $7+ while a $5 driver is available.</a:t>
            </a:r>
          </a:p>
        </p:txBody>
      </p:sp>
      <p:graphicFrame>
        <p:nvGraphicFramePr>
          <p:cNvPr id="950" name="Table bid 7"/>
          <p:cNvGraphicFramePr>
            <a:graphicFrameLocks noGrp="1"/>
          </p:cNvGraphicFramePr>
          <p:nvPr/>
        </p:nvGraphicFramePr>
        <p:xfrm>
          <a:off x="1473200" y="3873500"/>
          <a:ext cx="7112000" cy="3429000"/>
        </p:xfrm>
        <a:graphic>
          <a:graphicData uri="http://schemas.openxmlformats.org/drawingml/2006/table">
            <a:tbl>
              <a:tblPr firstRow="1"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Worker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Their cost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Their bid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Markup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Payment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1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$8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$9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+$1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071B3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2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$6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$7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+$1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$7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0071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3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$10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$10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071B3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4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$5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$8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C0392B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+$3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071B3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51" name="Table bid 799"/>
          <p:cNvGraphicFramePr>
            <a:graphicFrameLocks noGrp="1"/>
          </p:cNvGraphicFramePr>
          <p:nvPr/>
        </p:nvGraphicFramePr>
        <p:xfrm>
          <a:off x="9906000" y="3873500"/>
          <a:ext cx="7112000" cy="3429000"/>
        </p:xfrm>
        <a:graphic>
          <a:graphicData uri="http://schemas.openxmlformats.org/drawingml/2006/table">
            <a:tbl>
              <a:tblPr firstRow="1"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Worker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Their cost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By cost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By bid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Wins?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1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$8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3rd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3rd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071B3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No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2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$6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2nd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1st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Yes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0071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3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$10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4th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4th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071B3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No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4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$5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C0392B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1st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C0392B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2nd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071B3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No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8489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88900" y="8128000"/>
            <a:ext cx="3820500" cy="5454611"/>
          </a:xfrm>
          <a:custGeom>
            <a:avLst/>
            <a:gdLst/>
            <a:ahLst/>
            <a:cxnLst/>
            <a:rect l="l" t="t" r="r" b="b"/>
            <a:pathLst>
              <a:path w="3820500" h="5454611">
                <a:moveTo>
                  <a:pt x="0" y="0"/>
                </a:moveTo>
                <a:lnTo>
                  <a:pt x="3820501" y="0"/>
                </a:lnTo>
                <a:lnTo>
                  <a:pt x="3820501" y="5454611"/>
                </a:lnTo>
                <a:lnTo>
                  <a:pt x="0" y="54546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flipH="1">
            <a:off x="13731295" y="9447807"/>
            <a:ext cx="4556705" cy="839193"/>
          </a:xfrm>
          <a:custGeom>
            <a:avLst/>
            <a:gdLst/>
            <a:ahLst/>
            <a:cxnLst/>
            <a:rect l="l" t="t" r="r" b="b"/>
            <a:pathLst>
              <a:path w="4556705" h="839193">
                <a:moveTo>
                  <a:pt x="4556705" y="0"/>
                </a:moveTo>
                <a:lnTo>
                  <a:pt x="0" y="0"/>
                </a:lnTo>
                <a:lnTo>
                  <a:pt x="0" y="839193"/>
                </a:lnTo>
                <a:lnTo>
                  <a:pt x="4556705" y="839193"/>
                </a:lnTo>
                <a:lnTo>
                  <a:pt x="45567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473200" y="1397000"/>
            <a:ext cx="13970000" cy="101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6000" dirty="0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WITH TRUE BIDS, VCG PAYS ONLY $6</a:t>
            </a:r>
          </a:p>
        </p:txBody>
      </p:sp>
      <p:sp>
        <p:nvSpPr>
          <p:cNvPr id="300" name="Quote"/>
          <p:cNvSpPr txBox="1"/>
          <p:nvPr/>
        </p:nvSpPr>
        <p:spPr>
          <a:xfrm>
            <a:off x="1473200" y="2603500"/>
            <a:ext cx="153543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i="1" dirty="0">
                <a:solidFill>
                  <a:srgbClr val="0071B3"/>
                </a:solidFill>
                <a:highlight>
                  <a:srgbClr val="FFFF00"/>
                </a:highlight>
                <a:latin typeface="Codec Pro"/>
                <a:ea typeface="Codec Pro"/>
                <a:cs typeface="Codec Pro"/>
                <a:sym typeface="Codec Pro"/>
              </a:rPr>
              <a:t>Payment = bid + margin,  where  margin = W without the driver − W</a:t>
            </a:r>
          </a:p>
        </p:txBody>
      </p:sp>
      <p:sp>
        <p:nvSpPr>
          <p:cNvPr id="500" name="Left label"/>
          <p:cNvSpPr/>
          <p:nvPr/>
        </p:nvSpPr>
        <p:spPr>
          <a:xfrm>
            <a:off x="1473200" y="3276600"/>
            <a:ext cx="685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Every driver bids its true cost (W = $5)</a:t>
            </a:r>
          </a:p>
        </p:txBody>
      </p:sp>
      <p:sp>
        <p:nvSpPr>
          <p:cNvPr id="501" name="Right label"/>
          <p:cNvSpPr/>
          <p:nvPr/>
        </p:nvSpPr>
        <p:spPr>
          <a:xfrm>
            <a:off x="8636000" y="3276600"/>
            <a:ext cx="838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Same four drivers, compared fairly</a:t>
            </a:r>
          </a:p>
        </p:txBody>
      </p:sp>
      <p:sp>
        <p:nvSpPr>
          <p:cNvPr id="505" name="Left note"/>
          <p:cNvSpPr/>
          <p:nvPr/>
        </p:nvSpPr>
        <p:spPr>
          <a:xfrm>
            <a:off x="1473200" y="7620000"/>
            <a:ext cx="660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GIG 4 is cheapest, so it wins: $5 bid + $1 margin = $6.</a:t>
            </a:r>
          </a:p>
        </p:txBody>
      </p:sp>
      <p:sp>
        <p:nvSpPr>
          <p:cNvPr id="506" name="Right note"/>
          <p:cNvSpPr/>
          <p:nvPr/>
        </p:nvSpPr>
        <p:spPr>
          <a:xfrm>
            <a:off x="8636000" y="7620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VCG pays $1 to $1.99 less than pay-your-bid, </a:t>
            </a:r>
            <a:r>
              <a:rPr lang="en-US" sz="19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and the $5 driver gets the job.</a:t>
            </a:r>
          </a:p>
        </p:txBody>
      </p:sp>
      <p:sp>
        <p:nvSpPr>
          <p:cNvPr id="507" name="Problem banner"/>
          <p:cNvSpPr/>
          <p:nvPr/>
        </p:nvSpPr>
        <p:spPr>
          <a:xfrm>
            <a:off x="4064000" y="8788400"/>
            <a:ext cx="12763500" cy="914400"/>
          </a:xfrm>
          <a:prstGeom prst="roundRect">
            <a:avLst>
              <a:gd name="adj" fmla="val 8000"/>
            </a:avLst>
          </a:prstGeom>
          <a:solidFill>
            <a:srgbClr val="0C3877"/>
          </a:solidFill>
          <a:ln>
            <a:noFill/>
          </a:ln>
        </p:spPr>
        <p:txBody>
          <a:bodyPr wrap="square" lIns="254000" tIns="254000" rIns="254000" bIns="25400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FFDE59"/>
                </a:solidFill>
                <a:latin typeface="Anton"/>
                <a:ea typeface="Anton"/>
                <a:cs typeface="Anton"/>
                <a:sym typeface="Anton"/>
              </a:rPr>
              <a:t>RESULT   </a:t>
            </a:r>
            <a:r>
              <a:rPr lang="en-US" sz="20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Once drivers bid truthfully, VCG costs the platform less, not more.</a:t>
            </a:r>
          </a:p>
        </p:txBody>
      </p:sp>
      <p:graphicFrame>
        <p:nvGraphicFramePr>
          <p:cNvPr id="900" name="VCG all drivers"/>
          <p:cNvGraphicFramePr>
            <a:graphicFrameLocks noGrp="1"/>
          </p:cNvGraphicFramePr>
          <p:nvPr/>
        </p:nvGraphicFramePr>
        <p:xfrm>
          <a:off x="1473200" y="3873500"/>
          <a:ext cx="6604000" cy="3556000"/>
        </p:xfrm>
        <a:graphic>
          <a:graphicData uri="http://schemas.openxmlformats.org/drawingml/2006/table">
            <a:tbl>
              <a:tblPr firstRow="1"/>
              <a:tblGrid>
                <a:gridCol w="120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Worker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Bid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W without them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Margin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Payment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1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$8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$5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dirty="0">
                          <a:solidFill>
                            <a:srgbClr val="0071B3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2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$6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$5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dirty="0">
                          <a:solidFill>
                            <a:srgbClr val="0071B3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3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$10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$5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dirty="0">
                          <a:solidFill>
                            <a:srgbClr val="0071B3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4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$5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$6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$1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$6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0071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01" name="VCG bid scenarios"/>
          <p:cNvGraphicFramePr>
            <a:graphicFrameLocks noGrp="1"/>
          </p:cNvGraphicFramePr>
          <p:nvPr/>
        </p:nvGraphicFramePr>
        <p:xfrm>
          <a:off x="8636000" y="3949700"/>
          <a:ext cx="8382000" cy="355600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Rule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Winner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Its cost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Its bid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Profit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Payment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Pay-your-bid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 cap="flat" cmpd="sng" algn="ctr">
                      <a:solidFill>
                        <a:srgbClr val="007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GIG 2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 cap="flat" cmpd="sng" algn="ctr">
                      <a:solidFill>
                        <a:srgbClr val="007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$6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 cap="flat" cmpd="sng" algn="ctr">
                      <a:solidFill>
                        <a:srgbClr val="007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$7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 cap="flat" cmpd="sng" algn="ctr">
                      <a:solidFill>
                        <a:srgbClr val="007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$1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 cap="flat" cmpd="sng" algn="ctr">
                      <a:solidFill>
                        <a:srgbClr val="007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071B3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$7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 cap="flat" cmpd="sng" algn="ctr">
                      <a:solidFill>
                        <a:srgbClr val="007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Pay-your-bid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GIG 2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$6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$7.99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$1.99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071B3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$7.99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VCG, old bids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GIG 2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$6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$7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$2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dirty="0">
                          <a:solidFill>
                            <a:srgbClr val="0071B3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$8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VCG, true bids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4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$5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$5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$1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$6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0071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50" name="Nobel badge"/>
          <p:cNvSpPr/>
          <p:nvPr/>
        </p:nvSpPr>
        <p:spPr>
          <a:xfrm>
            <a:off x="11493500" y="279400"/>
            <a:ext cx="5334000" cy="787400"/>
          </a:xfrm>
          <a:prstGeom prst="roundRect">
            <a:avLst>
              <a:gd name="adj" fmla="val 20000"/>
            </a:avLst>
          </a:prstGeom>
          <a:solidFill>
            <a:srgbClr val="0C3877"/>
          </a:solidFill>
          <a:ln>
            <a:noFill/>
          </a:ln>
        </p:spPr>
        <p:txBody>
          <a:bodyPr wrap="square" lIns="838200" tIns="76200" rIns="177800" bIns="76200" rtlCol="0" anchor="ctr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FFDE59"/>
                </a:solidFill>
                <a:latin typeface="Anton"/>
                <a:ea typeface="Anton"/>
                <a:cs typeface="Anton"/>
                <a:sym typeface="Anton"/>
              </a:rPr>
              <a:t>MECHANISM DESIGN</a:t>
            </a:r>
          </a:p>
          <a:p>
            <a:pPr algn="l">
              <a:lnSpc>
                <a:spcPct val="9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Nobel Prize 2007 · Hurwicz, Maskin, Myerson</a:t>
            </a:r>
          </a:p>
        </p:txBody>
      </p:sp>
      <p:pic>
        <p:nvPicPr>
          <p:cNvPr id="951" name="Graphic 951" descr="Nobel med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71300" y="3937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256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88900" y="8128000"/>
            <a:ext cx="3820500" cy="5454611"/>
          </a:xfrm>
          <a:custGeom>
            <a:avLst/>
            <a:gdLst/>
            <a:ahLst/>
            <a:cxnLst/>
            <a:rect l="l" t="t" r="r" b="b"/>
            <a:pathLst>
              <a:path w="3820500" h="5454611">
                <a:moveTo>
                  <a:pt x="0" y="0"/>
                </a:moveTo>
                <a:lnTo>
                  <a:pt x="3820501" y="0"/>
                </a:lnTo>
                <a:lnTo>
                  <a:pt x="3820501" y="5454611"/>
                </a:lnTo>
                <a:lnTo>
                  <a:pt x="0" y="54546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flipH="1">
            <a:off x="13731295" y="9447807"/>
            <a:ext cx="4556705" cy="839193"/>
          </a:xfrm>
          <a:custGeom>
            <a:avLst/>
            <a:gdLst/>
            <a:ahLst/>
            <a:cxnLst/>
            <a:rect l="l" t="t" r="r" b="b"/>
            <a:pathLst>
              <a:path w="4556705" h="839193">
                <a:moveTo>
                  <a:pt x="4556705" y="0"/>
                </a:moveTo>
                <a:lnTo>
                  <a:pt x="0" y="0"/>
                </a:lnTo>
                <a:lnTo>
                  <a:pt x="0" y="839193"/>
                </a:lnTo>
                <a:lnTo>
                  <a:pt x="4556705" y="839193"/>
                </a:lnTo>
                <a:lnTo>
                  <a:pt x="45567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473200" y="1397000"/>
            <a:ext cx="13970000" cy="101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6000" dirty="0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VICKREY PAYMENT: NO GAIN FROM A HIGHER BID</a:t>
            </a:r>
          </a:p>
        </p:txBody>
      </p:sp>
      <p:sp>
        <p:nvSpPr>
          <p:cNvPr id="300" name="Quote"/>
          <p:cNvSpPr txBox="1"/>
          <p:nvPr/>
        </p:nvSpPr>
        <p:spPr>
          <a:xfrm>
            <a:off x="1473200" y="2603500"/>
            <a:ext cx="153543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i="1" dirty="0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New rule: the lowest bid still wins, but the winner is paid the </a:t>
            </a:r>
            <a:r>
              <a:rPr lang="en-US" sz="2400" b="1" i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second-lowest bid</a:t>
            </a:r>
            <a:r>
              <a:rPr lang="en-US" sz="2400" i="1" dirty="0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</p:txBody>
      </p:sp>
      <p:sp>
        <p:nvSpPr>
          <p:cNvPr id="500" name="Left label"/>
          <p:cNvSpPr/>
          <p:nvPr/>
        </p:nvSpPr>
        <p:spPr>
          <a:xfrm>
            <a:off x="1473200" y="3276600"/>
            <a:ext cx="7493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GIG 2 bids $7</a:t>
            </a:r>
          </a:p>
        </p:txBody>
      </p:sp>
      <p:sp>
        <p:nvSpPr>
          <p:cNvPr id="501" name="Right label"/>
          <p:cNvSpPr/>
          <p:nvPr/>
        </p:nvSpPr>
        <p:spPr>
          <a:xfrm>
            <a:off x="9906000" y="3276600"/>
            <a:ext cx="711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GIG 2 raises its bid to $7.99</a:t>
            </a:r>
          </a:p>
        </p:txBody>
      </p:sp>
      <p:sp>
        <p:nvSpPr>
          <p:cNvPr id="504" name="Compare arrow"/>
          <p:cNvSpPr/>
          <p:nvPr/>
        </p:nvSpPr>
        <p:spPr>
          <a:xfrm>
            <a:off x="9017000" y="5384800"/>
            <a:ext cx="508000" cy="406400"/>
          </a:xfrm>
          <a:prstGeom prst="rightArrow">
            <a:avLst/>
          </a:prstGeom>
          <a:solidFill>
            <a:srgbClr val="0071B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505" name="Left note"/>
          <p:cNvSpPr/>
          <p:nvPr/>
        </p:nvSpPr>
        <p:spPr>
          <a:xfrm>
            <a:off x="1473200" y="7493000"/>
            <a:ext cx="7112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GIG 2 wins and is paid GIG 4's bid: $8 − $6 = $2.</a:t>
            </a:r>
          </a:p>
        </p:txBody>
      </p:sp>
      <p:sp>
        <p:nvSpPr>
          <p:cNvPr id="506" name="Right note"/>
          <p:cNvSpPr/>
          <p:nvPr/>
        </p:nvSpPr>
        <p:spPr>
          <a:xfrm>
            <a:off x="9906000" y="7493000"/>
            <a:ext cx="7112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GIG 2 still wins and is still paid $8. </a:t>
            </a:r>
            <a:r>
              <a:rPr lang="en-US" sz="20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Profit stays at $2.</a:t>
            </a:r>
          </a:p>
        </p:txBody>
      </p:sp>
      <p:sp>
        <p:nvSpPr>
          <p:cNvPr id="507" name="Problem banner"/>
          <p:cNvSpPr/>
          <p:nvPr/>
        </p:nvSpPr>
        <p:spPr>
          <a:xfrm>
            <a:off x="4064000" y="8788400"/>
            <a:ext cx="12763500" cy="914400"/>
          </a:xfrm>
          <a:prstGeom prst="roundRect">
            <a:avLst>
              <a:gd name="adj" fmla="val 8000"/>
            </a:avLst>
          </a:prstGeom>
          <a:solidFill>
            <a:srgbClr val="0C3877"/>
          </a:solidFill>
          <a:ln>
            <a:noFill/>
          </a:ln>
        </p:spPr>
        <p:txBody>
          <a:bodyPr wrap="square" lIns="254000" tIns="254000" rIns="254000" bIns="25400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FFDE59"/>
                </a:solidFill>
                <a:latin typeface="Anton"/>
                <a:ea typeface="Anton"/>
                <a:cs typeface="Anton"/>
                <a:sym typeface="Anton"/>
              </a:rPr>
              <a:t>SOLVED   </a:t>
            </a:r>
            <a:r>
              <a:rPr lang="en-US" sz="21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GIG 2's own bid no longer sets its pay, so raising it gains nothing.</a:t>
            </a:r>
          </a:p>
        </p:txBody>
      </p:sp>
      <p:graphicFrame>
        <p:nvGraphicFramePr>
          <p:cNvPr id="600" name="Vickrey bid 7"/>
          <p:cNvGraphicFramePr>
            <a:graphicFrameLocks noGrp="1"/>
          </p:cNvGraphicFramePr>
          <p:nvPr/>
        </p:nvGraphicFramePr>
        <p:xfrm>
          <a:off x="1473200" y="3873500"/>
          <a:ext cx="7112000" cy="3429000"/>
        </p:xfrm>
        <a:graphic>
          <a:graphicData uri="http://schemas.openxmlformats.org/drawingml/2006/table">
            <a:tbl>
              <a:tblPr firstRow="1"/>
              <a:tblGrid>
                <a:gridCol w="146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Worker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Their cost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Their bid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Paid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Profit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1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$8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$9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2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$6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$7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$8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$2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3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$10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$10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4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$5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$8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01" name="Vickrey bid 799"/>
          <p:cNvGraphicFramePr>
            <a:graphicFrameLocks noGrp="1"/>
          </p:cNvGraphicFramePr>
          <p:nvPr/>
        </p:nvGraphicFramePr>
        <p:xfrm>
          <a:off x="9906000" y="3873500"/>
          <a:ext cx="7112000" cy="3429000"/>
        </p:xfrm>
        <a:graphic>
          <a:graphicData uri="http://schemas.openxmlformats.org/drawingml/2006/table">
            <a:tbl>
              <a:tblPr firstRow="1"/>
              <a:tblGrid>
                <a:gridCol w="146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Worker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Their cost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Their bid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Paid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Profit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1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$8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$9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2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$6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$7.99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$8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$2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3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$10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$10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GIG 4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$5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$8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1375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88900" y="8128000"/>
            <a:ext cx="3820500" cy="5454611"/>
          </a:xfrm>
          <a:custGeom>
            <a:avLst/>
            <a:gdLst/>
            <a:ahLst/>
            <a:cxnLst/>
            <a:rect l="l" t="t" r="r" b="b"/>
            <a:pathLst>
              <a:path w="3820500" h="5454611">
                <a:moveTo>
                  <a:pt x="0" y="0"/>
                </a:moveTo>
                <a:lnTo>
                  <a:pt x="3820501" y="0"/>
                </a:lnTo>
                <a:lnTo>
                  <a:pt x="3820501" y="5454611"/>
                </a:lnTo>
                <a:lnTo>
                  <a:pt x="0" y="54546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flipH="1">
            <a:off x="13731295" y="9447807"/>
            <a:ext cx="4556705" cy="839193"/>
          </a:xfrm>
          <a:custGeom>
            <a:avLst/>
            <a:gdLst/>
            <a:ahLst/>
            <a:cxnLst/>
            <a:rect l="l" t="t" r="r" b="b"/>
            <a:pathLst>
              <a:path w="4556705" h="839193">
                <a:moveTo>
                  <a:pt x="4556705" y="0"/>
                </a:moveTo>
                <a:lnTo>
                  <a:pt x="0" y="0"/>
                </a:lnTo>
                <a:lnTo>
                  <a:pt x="0" y="839193"/>
                </a:lnTo>
                <a:lnTo>
                  <a:pt x="4556705" y="839193"/>
                </a:lnTo>
                <a:lnTo>
                  <a:pt x="45567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473200" y="1397000"/>
            <a:ext cx="13970000" cy="101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6000" dirty="0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WHERE DOES THE $8 COME FROM?</a:t>
            </a:r>
          </a:p>
        </p:txBody>
      </p:sp>
      <p:sp>
        <p:nvSpPr>
          <p:cNvPr id="300" name="Quote"/>
          <p:cNvSpPr txBox="1"/>
          <p:nvPr/>
        </p:nvSpPr>
        <p:spPr>
          <a:xfrm>
            <a:off x="1473200" y="2603500"/>
            <a:ext cx="153543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i="1" dirty="0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VCG (Clarke-pivot) payment: compare the platform's best total cost with and without the driver.</a:t>
            </a:r>
          </a:p>
        </p:txBody>
      </p:sp>
      <p:sp>
        <p:nvSpPr>
          <p:cNvPr id="507" name="Problem banner"/>
          <p:cNvSpPr/>
          <p:nvPr/>
        </p:nvSpPr>
        <p:spPr>
          <a:xfrm>
            <a:off x="4064000" y="8788400"/>
            <a:ext cx="12763500" cy="914400"/>
          </a:xfrm>
          <a:prstGeom prst="roundRect">
            <a:avLst>
              <a:gd name="adj" fmla="val 8000"/>
            </a:avLst>
          </a:prstGeom>
          <a:solidFill>
            <a:srgbClr val="0C3877"/>
          </a:solidFill>
          <a:ln>
            <a:noFill/>
          </a:ln>
        </p:spPr>
        <p:txBody>
          <a:bodyPr wrap="square" lIns="254000" tIns="254000" rIns="254000" bIns="25400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FFDE59"/>
                </a:solidFill>
                <a:latin typeface="Anton"/>
                <a:ea typeface="Anton"/>
                <a:cs typeface="Anton"/>
                <a:sym typeface="Anton"/>
              </a:rPr>
              <a:t>RULE   </a:t>
            </a:r>
            <a:r>
              <a:rPr lang="en-US" sz="21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Each driver is paid its bid plus the cost it saves the platform.</a:t>
            </a:r>
          </a:p>
        </p:txBody>
      </p:sp>
      <p:sp>
        <p:nvSpPr>
          <p:cNvPr id="700" name="Bids line"/>
          <p:cNvSpPr/>
          <p:nvPr/>
        </p:nvSpPr>
        <p:spPr>
          <a:xfrm>
            <a:off x="1473200" y="3175000"/>
            <a:ext cx="155448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44546A"/>
                </a:solidFill>
                <a:latin typeface="Codec Pro"/>
                <a:ea typeface="Codec Pro"/>
                <a:cs typeface="Codec Pro"/>
                <a:sym typeface="Codec Pro"/>
              </a:rPr>
              <a:t>Bids: GIG 1 $9 · </a:t>
            </a:r>
            <a:r>
              <a:rPr lang="en-US" sz="20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GIG 2 $7</a:t>
            </a:r>
            <a:r>
              <a:rPr lang="en-US" sz="2000" dirty="0">
                <a:solidFill>
                  <a:srgbClr val="44546A"/>
                </a:solidFill>
                <a:latin typeface="Codec Pro"/>
                <a:ea typeface="Codec Pro"/>
                <a:cs typeface="Codec Pro"/>
                <a:sym typeface="Codec Pro"/>
              </a:rPr>
              <a:t> · GIG 3 $10 · GIG 4 $8</a:t>
            </a:r>
          </a:p>
        </p:txBody>
      </p:sp>
      <p:sp>
        <p:nvSpPr>
          <p:cNvPr id="701" name="Step card"/>
          <p:cNvSpPr/>
          <p:nvPr/>
        </p:nvSpPr>
        <p:spPr>
          <a:xfrm>
            <a:off x="1473200" y="3683000"/>
            <a:ext cx="4775200" cy="2413000"/>
          </a:xfrm>
          <a:prstGeom prst="roundRect">
            <a:avLst>
              <a:gd name="adj" fmla="val 8000"/>
            </a:avLst>
          </a:prstGeom>
          <a:solidFill>
            <a:srgbClr val="005990"/>
          </a:solidFill>
          <a:ln>
            <a:noFill/>
          </a:ln>
        </p:spPr>
        <p:txBody>
          <a:bodyPr wrap="square" lIns="279400" tIns="228600" rIns="279400" bIns="2286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rgbClr val="FFDE59"/>
                </a:solidFill>
                <a:latin typeface="Anton"/>
                <a:ea typeface="Anton"/>
                <a:cs typeface="Anton"/>
                <a:sym typeface="Anton"/>
              </a:rPr>
              <a:t>STEP 1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Best plan with everyone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9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GIG 2 delivers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0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 = $7</a:t>
            </a:r>
          </a:p>
        </p:txBody>
      </p:sp>
      <p:sp>
        <p:nvSpPr>
          <p:cNvPr id="702" name="Step arrow"/>
          <p:cNvSpPr/>
          <p:nvPr/>
        </p:nvSpPr>
        <p:spPr>
          <a:xfrm>
            <a:off x="6375400" y="4699000"/>
            <a:ext cx="355600" cy="381000"/>
          </a:xfrm>
          <a:prstGeom prst="rightArrow">
            <a:avLst/>
          </a:prstGeom>
          <a:solidFill>
            <a:srgbClr val="0071B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703" name="Step card"/>
          <p:cNvSpPr/>
          <p:nvPr/>
        </p:nvSpPr>
        <p:spPr>
          <a:xfrm>
            <a:off x="6858000" y="3683000"/>
            <a:ext cx="4775200" cy="2413000"/>
          </a:xfrm>
          <a:prstGeom prst="roundRect">
            <a:avLst>
              <a:gd name="adj" fmla="val 8000"/>
            </a:avLst>
          </a:prstGeom>
          <a:solidFill>
            <a:srgbClr val="005990"/>
          </a:solidFill>
          <a:ln>
            <a:noFill/>
          </a:ln>
        </p:spPr>
        <p:txBody>
          <a:bodyPr wrap="square" lIns="279400" tIns="228600" rIns="279400" bIns="2286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rgbClr val="FFDE59"/>
                </a:solidFill>
                <a:latin typeface="Anton"/>
                <a:ea typeface="Anton"/>
                <a:cs typeface="Anton"/>
                <a:sym typeface="Anton"/>
              </a:rPr>
              <a:t>STEP 2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Best plan without GIG 2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9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GIG 4 delivers instead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0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 without GIG 2 = $8</a:t>
            </a:r>
          </a:p>
        </p:txBody>
      </p:sp>
      <p:sp>
        <p:nvSpPr>
          <p:cNvPr id="704" name="Step arrow"/>
          <p:cNvSpPr/>
          <p:nvPr/>
        </p:nvSpPr>
        <p:spPr>
          <a:xfrm>
            <a:off x="11760200" y="4699000"/>
            <a:ext cx="355600" cy="381000"/>
          </a:xfrm>
          <a:prstGeom prst="rightArrow">
            <a:avLst/>
          </a:prstGeom>
          <a:solidFill>
            <a:srgbClr val="0071B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705" name="Step card"/>
          <p:cNvSpPr/>
          <p:nvPr/>
        </p:nvSpPr>
        <p:spPr>
          <a:xfrm>
            <a:off x="12242800" y="3683000"/>
            <a:ext cx="4775200" cy="2413000"/>
          </a:xfrm>
          <a:prstGeom prst="roundRect">
            <a:avLst>
              <a:gd name="adj" fmla="val 8000"/>
            </a:avLst>
          </a:prstGeom>
          <a:solidFill>
            <a:srgbClr val="0C3877"/>
          </a:solidFill>
          <a:ln>
            <a:noFill/>
          </a:ln>
        </p:spPr>
        <p:txBody>
          <a:bodyPr wrap="square" lIns="279400" tIns="228600" rIns="279400" bIns="2286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rgbClr val="FFDE59"/>
                </a:solidFill>
                <a:latin typeface="Anton"/>
                <a:ea typeface="Anton"/>
                <a:cs typeface="Anton"/>
                <a:sym typeface="Anton"/>
              </a:rPr>
              <a:t>STEP 3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GIG 2's margin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9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Cost GIG 2 saves the platform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30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$8 − $7 = $1</a:t>
            </a:r>
          </a:p>
        </p:txBody>
      </p:sp>
      <p:sp>
        <p:nvSpPr>
          <p:cNvPr id="706" name="Formula box"/>
          <p:cNvSpPr/>
          <p:nvPr/>
        </p:nvSpPr>
        <p:spPr>
          <a:xfrm>
            <a:off x="1473200" y="6413500"/>
            <a:ext cx="15544800" cy="1905000"/>
          </a:xfrm>
          <a:prstGeom prst="roundRect">
            <a:avLst>
              <a:gd name="adj" fmla="val 8000"/>
            </a:avLst>
          </a:prstGeom>
          <a:solidFill>
            <a:srgbClr val="FFDE59"/>
          </a:solidFill>
          <a:ln>
            <a:noFill/>
          </a:ln>
        </p:spPr>
        <p:txBody>
          <a:bodyPr wrap="square" lIns="330200" tIns="254000" rIns="330200" bIns="25400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Payment to GIG 2 = its bid + its margin = $7 + $1 = </a:t>
            </a:r>
            <a:r>
              <a:rPr lang="en-US" sz="26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$8</a:t>
            </a:r>
          </a:p>
          <a:p>
            <a:pPr algn="l">
              <a:lnSpc>
                <a:spcPct val="100000"/>
              </a:lnSpc>
              <a:spcBef>
                <a:spcPts val="900"/>
              </a:spcBef>
              <a:buNone/>
            </a:pPr>
            <a:r>
              <a:rPr lang="en-US" sz="20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Same as: W without GIG 2 − cost of everyone else in the best plan = $8 − $0 = $8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sz="20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GIG 2's profit = $8 − $6 (true cost) = $2</a:t>
            </a:r>
          </a:p>
        </p:txBody>
      </p:sp>
    </p:spTree>
    <p:extLst>
      <p:ext uri="{BB962C8B-B14F-4D97-AF65-F5344CB8AC3E}">
        <p14:creationId xmlns:p14="http://schemas.microsoft.com/office/powerpoint/2010/main" val="202037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1435100" y="5651500"/>
            <a:ext cx="7188200" cy="3175000"/>
            <a:chOff x="0" y="0"/>
            <a:chExt cx="1892847" cy="96422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92846" cy="964228"/>
            </a:xfrm>
            <a:custGeom>
              <a:avLst/>
              <a:gdLst/>
              <a:ahLst/>
              <a:cxnLst/>
              <a:rect l="l" t="t" r="r" b="b"/>
              <a:pathLst>
                <a:path w="1892846" h="964228">
                  <a:moveTo>
                    <a:pt x="26931" y="0"/>
                  </a:moveTo>
                  <a:lnTo>
                    <a:pt x="1865916" y="0"/>
                  </a:lnTo>
                  <a:cubicBezTo>
                    <a:pt x="1873058" y="0"/>
                    <a:pt x="1879908" y="2837"/>
                    <a:pt x="1884959" y="7888"/>
                  </a:cubicBezTo>
                  <a:cubicBezTo>
                    <a:pt x="1890009" y="12938"/>
                    <a:pt x="1892846" y="19788"/>
                    <a:pt x="1892846" y="26931"/>
                  </a:cubicBezTo>
                  <a:lnTo>
                    <a:pt x="1892846" y="937297"/>
                  </a:lnTo>
                  <a:cubicBezTo>
                    <a:pt x="1892846" y="944439"/>
                    <a:pt x="1890009" y="951289"/>
                    <a:pt x="1884959" y="956340"/>
                  </a:cubicBezTo>
                  <a:cubicBezTo>
                    <a:pt x="1879908" y="961390"/>
                    <a:pt x="1873058" y="964228"/>
                    <a:pt x="1865916" y="964228"/>
                  </a:cubicBezTo>
                  <a:lnTo>
                    <a:pt x="26931" y="964228"/>
                  </a:lnTo>
                  <a:cubicBezTo>
                    <a:pt x="19788" y="964228"/>
                    <a:pt x="12938" y="961390"/>
                    <a:pt x="7888" y="956340"/>
                  </a:cubicBezTo>
                  <a:cubicBezTo>
                    <a:pt x="2837" y="951289"/>
                    <a:pt x="0" y="944439"/>
                    <a:pt x="0" y="937297"/>
                  </a:cubicBezTo>
                  <a:lnTo>
                    <a:pt x="0" y="26931"/>
                  </a:lnTo>
                  <a:cubicBezTo>
                    <a:pt x="0" y="19788"/>
                    <a:pt x="2837" y="12938"/>
                    <a:pt x="7888" y="7888"/>
                  </a:cubicBezTo>
                  <a:cubicBezTo>
                    <a:pt x="12938" y="2837"/>
                    <a:pt x="19788" y="0"/>
                    <a:pt x="26931" y="0"/>
                  </a:cubicBezTo>
                  <a:close/>
                </a:path>
              </a:pathLst>
            </a:custGeom>
            <a:solidFill>
              <a:srgbClr val="00599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92847" cy="10023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0" y="5651500"/>
            <a:ext cx="7188200" cy="3175000"/>
            <a:chOff x="0" y="0"/>
            <a:chExt cx="1892847" cy="9642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92846" cy="964228"/>
            </a:xfrm>
            <a:custGeom>
              <a:avLst/>
              <a:gdLst/>
              <a:ahLst/>
              <a:cxnLst/>
              <a:rect l="l" t="t" r="r" b="b"/>
              <a:pathLst>
                <a:path w="1892846" h="964228">
                  <a:moveTo>
                    <a:pt x="26931" y="0"/>
                  </a:moveTo>
                  <a:lnTo>
                    <a:pt x="1865916" y="0"/>
                  </a:lnTo>
                  <a:cubicBezTo>
                    <a:pt x="1873058" y="0"/>
                    <a:pt x="1879908" y="2837"/>
                    <a:pt x="1884959" y="7888"/>
                  </a:cubicBezTo>
                  <a:cubicBezTo>
                    <a:pt x="1890009" y="12938"/>
                    <a:pt x="1892846" y="19788"/>
                    <a:pt x="1892846" y="26931"/>
                  </a:cubicBezTo>
                  <a:lnTo>
                    <a:pt x="1892846" y="937297"/>
                  </a:lnTo>
                  <a:cubicBezTo>
                    <a:pt x="1892846" y="944439"/>
                    <a:pt x="1890009" y="951289"/>
                    <a:pt x="1884959" y="956340"/>
                  </a:cubicBezTo>
                  <a:cubicBezTo>
                    <a:pt x="1879908" y="961390"/>
                    <a:pt x="1873058" y="964228"/>
                    <a:pt x="1865916" y="964228"/>
                  </a:cubicBezTo>
                  <a:lnTo>
                    <a:pt x="26931" y="964228"/>
                  </a:lnTo>
                  <a:cubicBezTo>
                    <a:pt x="19788" y="964228"/>
                    <a:pt x="12938" y="961390"/>
                    <a:pt x="7888" y="956340"/>
                  </a:cubicBezTo>
                  <a:cubicBezTo>
                    <a:pt x="2837" y="951289"/>
                    <a:pt x="0" y="944439"/>
                    <a:pt x="0" y="937297"/>
                  </a:cubicBezTo>
                  <a:lnTo>
                    <a:pt x="0" y="26931"/>
                  </a:lnTo>
                  <a:cubicBezTo>
                    <a:pt x="0" y="19788"/>
                    <a:pt x="2837" y="12938"/>
                    <a:pt x="7888" y="7888"/>
                  </a:cubicBezTo>
                  <a:cubicBezTo>
                    <a:pt x="12938" y="2837"/>
                    <a:pt x="19788" y="0"/>
                    <a:pt x="26931" y="0"/>
                  </a:cubicBez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892847" cy="10023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-487700" y="7120890"/>
            <a:ext cx="3849053" cy="4114800"/>
          </a:xfrm>
          <a:custGeom>
            <a:avLst/>
            <a:gdLst/>
            <a:ahLst/>
            <a:cxnLst/>
            <a:rect l="l" t="t" r="r" b="b"/>
            <a:pathLst>
              <a:path w="3849053" h="4114800">
                <a:moveTo>
                  <a:pt x="0" y="0"/>
                </a:moveTo>
                <a:lnTo>
                  <a:pt x="3849052" y="0"/>
                </a:lnTo>
                <a:lnTo>
                  <a:pt x="38490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0972800" y="0"/>
            <a:ext cx="7315200" cy="1792224"/>
          </a:xfrm>
          <a:custGeom>
            <a:avLst/>
            <a:gdLst/>
            <a:ahLst/>
            <a:cxnLst/>
            <a:rect l="l" t="t" r="r" b="b"/>
            <a:pathLst>
              <a:path w="7315200" h="1792224">
                <a:moveTo>
                  <a:pt x="0" y="0"/>
                </a:moveTo>
                <a:lnTo>
                  <a:pt x="7315200" y="0"/>
                </a:lnTo>
                <a:lnTo>
                  <a:pt x="7315200" y="1792224"/>
                </a:lnTo>
                <a:lnTo>
                  <a:pt x="0" y="1792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435100" y="3111500"/>
            <a:ext cx="7188200" cy="203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Mechanism design</a:t>
            </a:r>
            <a:r>
              <a:rPr lang="en-US" sz="24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 studies how to design rules so that self-interested participants produce desirable outcomes.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800" i="1" dirty="0">
                <a:solidFill>
                  <a:srgbClr val="44546A"/>
                </a:solidFill>
                <a:latin typeface="Codec Pro"/>
                <a:ea typeface="Codec Pro"/>
                <a:cs typeface="Codec Pro"/>
                <a:sym typeface="Codec Pro"/>
              </a:rPr>
              <a:t>Nobel Memorial Prize in Economic Sciences, 2007: foundations of mechanism design theory.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35100" y="1905000"/>
            <a:ext cx="12700000" cy="101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6000" dirty="0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WHY DO WE NEED MECHANISM DESIGN?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16100" y="5905500"/>
            <a:ext cx="660400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The platform is the buyer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16100" y="6604000"/>
            <a:ext cx="6540500" cy="209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5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So the </a:t>
            </a:r>
            <a:r>
              <a:rPr lang="en-US" sz="2500" b="1" dirty="0">
                <a:solidFill>
                  <a:srgbClr val="FFDE5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lowest price wins</a:t>
            </a:r>
            <a:r>
              <a:rPr lang="en-US" sz="25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  <a:buNone/>
            </a:pPr>
            <a:r>
              <a:rPr lang="en-US" sz="25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Simplest rule: </a:t>
            </a:r>
            <a:r>
              <a:rPr lang="en-US" sz="25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the lowest bid wins, and the winner is paid its own bid.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97786" y="6514862"/>
            <a:ext cx="6604000" cy="1600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"Mechanism design sets the rules so that bidding your true cost is a dominant strategy: the best choice, whatever others bid."</a:t>
            </a:r>
          </a:p>
        </p:txBody>
      </p:sp>
      <p:sp>
        <p:nvSpPr>
          <p:cNvPr id="300" name="Shrink caption"/>
          <p:cNvSpPr txBox="1"/>
          <p:nvPr/>
        </p:nvSpPr>
        <p:spPr>
          <a:xfrm>
            <a:off x="9144000" y="3048000"/>
            <a:ext cx="76835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Shrink the problem: one delivery order, six gig workers.</a:t>
            </a:r>
          </a:p>
        </p:txBody>
      </p:sp>
      <p:sp>
        <p:nvSpPr>
          <p:cNvPr id="301" name="Driver label"/>
          <p:cNvSpPr txBox="1"/>
          <p:nvPr/>
        </p:nvSpPr>
        <p:spPr>
          <a:xfrm>
            <a:off x="9207500" y="4546600"/>
            <a:ext cx="1143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$10</a:t>
            </a:r>
          </a:p>
        </p:txBody>
      </p:sp>
      <p:sp>
        <p:nvSpPr>
          <p:cNvPr id="302" name="Driver label"/>
          <p:cNvSpPr txBox="1"/>
          <p:nvPr/>
        </p:nvSpPr>
        <p:spPr>
          <a:xfrm>
            <a:off x="10490200" y="4546600"/>
            <a:ext cx="1143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$8</a:t>
            </a:r>
          </a:p>
        </p:txBody>
      </p:sp>
      <p:sp>
        <p:nvSpPr>
          <p:cNvPr id="303" name="Driver label"/>
          <p:cNvSpPr txBox="1"/>
          <p:nvPr/>
        </p:nvSpPr>
        <p:spPr>
          <a:xfrm>
            <a:off x="11772900" y="4546600"/>
            <a:ext cx="1143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$6</a:t>
            </a:r>
          </a:p>
        </p:txBody>
      </p:sp>
      <p:sp>
        <p:nvSpPr>
          <p:cNvPr id="304" name="Driver label"/>
          <p:cNvSpPr txBox="1"/>
          <p:nvPr/>
        </p:nvSpPr>
        <p:spPr>
          <a:xfrm>
            <a:off x="13055600" y="4546600"/>
            <a:ext cx="1143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$9</a:t>
            </a:r>
          </a:p>
        </p:txBody>
      </p:sp>
      <p:sp>
        <p:nvSpPr>
          <p:cNvPr id="305" name="Driver label"/>
          <p:cNvSpPr txBox="1"/>
          <p:nvPr/>
        </p:nvSpPr>
        <p:spPr>
          <a:xfrm>
            <a:off x="14338300" y="4546600"/>
            <a:ext cx="1143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$7</a:t>
            </a:r>
          </a:p>
        </p:txBody>
      </p:sp>
      <p:sp>
        <p:nvSpPr>
          <p:cNvPr id="306" name="Driver label"/>
          <p:cNvSpPr txBox="1"/>
          <p:nvPr/>
        </p:nvSpPr>
        <p:spPr>
          <a:xfrm>
            <a:off x="15621000" y="4546600"/>
            <a:ext cx="1143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$11</a:t>
            </a:r>
          </a:p>
        </p:txBody>
      </p:sp>
      <p:pic>
        <p:nvPicPr>
          <p:cNvPr id="307" name="Graphic 307" descr="Gig work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86900" y="3886200"/>
            <a:ext cx="584200" cy="711200"/>
          </a:xfrm>
          <a:prstGeom prst="rect">
            <a:avLst/>
          </a:prstGeom>
        </p:spPr>
      </p:pic>
      <p:pic>
        <p:nvPicPr>
          <p:cNvPr id="501" name="Graphic 307" descr="Gig work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9600" y="3886200"/>
            <a:ext cx="584200" cy="711200"/>
          </a:xfrm>
          <a:prstGeom prst="rect">
            <a:avLst/>
          </a:prstGeom>
        </p:spPr>
      </p:pic>
      <p:pic>
        <p:nvPicPr>
          <p:cNvPr id="502" name="Graphic 307" descr="Gig work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52300" y="3886200"/>
            <a:ext cx="584200" cy="711200"/>
          </a:xfrm>
          <a:prstGeom prst="rect">
            <a:avLst/>
          </a:prstGeom>
        </p:spPr>
      </p:pic>
      <p:pic>
        <p:nvPicPr>
          <p:cNvPr id="503" name="Graphic 307" descr="Gig work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335000" y="3886200"/>
            <a:ext cx="584200" cy="711200"/>
          </a:xfrm>
          <a:prstGeom prst="rect">
            <a:avLst/>
          </a:prstGeom>
        </p:spPr>
      </p:pic>
      <p:pic>
        <p:nvPicPr>
          <p:cNvPr id="504" name="Graphic 307" descr="Gig work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617700" y="3886200"/>
            <a:ext cx="584200" cy="711200"/>
          </a:xfrm>
          <a:prstGeom prst="rect">
            <a:avLst/>
          </a:prstGeom>
        </p:spPr>
      </p:pic>
      <p:pic>
        <p:nvPicPr>
          <p:cNvPr id="505" name="Graphic 307" descr="Gig work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00400" y="3886200"/>
            <a:ext cx="584200" cy="711200"/>
          </a:xfrm>
          <a:prstGeom prst="rect">
            <a:avLst/>
          </a:prstGeom>
        </p:spPr>
      </p:pic>
      <p:sp>
        <p:nvSpPr>
          <p:cNvPr id="9" name="Cost note"/>
          <p:cNvSpPr txBox="1"/>
          <p:nvPr/>
        </p:nvSpPr>
        <p:spPr>
          <a:xfrm>
            <a:off x="9144000" y="3543300"/>
            <a:ext cx="7683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i="1" dirty="0">
                <a:solidFill>
                  <a:srgbClr val="44546A"/>
                </a:solidFill>
                <a:latin typeface="Codec Pro"/>
                <a:ea typeface="Codec Pro"/>
                <a:cs typeface="Codec Pro"/>
                <a:sym typeface="Codec Pro"/>
              </a:rPr>
              <a:t>Each worker’s true cost (private)</a:t>
            </a:r>
          </a:p>
        </p:txBody>
      </p:sp>
    </p:spTree>
    <p:extLst>
      <p:ext uri="{BB962C8B-B14F-4D97-AF65-F5344CB8AC3E}">
        <p14:creationId xmlns:p14="http://schemas.microsoft.com/office/powerpoint/2010/main" val="27021934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35100" y="5359400"/>
            <a:ext cx="7188200" cy="2819400"/>
            <a:chOff x="0" y="0"/>
            <a:chExt cx="1892847" cy="96422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92846" cy="964228"/>
            </a:xfrm>
            <a:custGeom>
              <a:avLst/>
              <a:gdLst/>
              <a:ahLst/>
              <a:cxnLst/>
              <a:rect l="l" t="t" r="r" b="b"/>
              <a:pathLst>
                <a:path w="1892846" h="964228">
                  <a:moveTo>
                    <a:pt x="26931" y="0"/>
                  </a:moveTo>
                  <a:lnTo>
                    <a:pt x="1865916" y="0"/>
                  </a:lnTo>
                  <a:cubicBezTo>
                    <a:pt x="1873058" y="0"/>
                    <a:pt x="1879908" y="2837"/>
                    <a:pt x="1884959" y="7888"/>
                  </a:cubicBezTo>
                  <a:cubicBezTo>
                    <a:pt x="1890009" y="12938"/>
                    <a:pt x="1892846" y="19788"/>
                    <a:pt x="1892846" y="26931"/>
                  </a:cubicBezTo>
                  <a:lnTo>
                    <a:pt x="1892846" y="937297"/>
                  </a:lnTo>
                  <a:cubicBezTo>
                    <a:pt x="1892846" y="944439"/>
                    <a:pt x="1890009" y="951289"/>
                    <a:pt x="1884959" y="956340"/>
                  </a:cubicBezTo>
                  <a:cubicBezTo>
                    <a:pt x="1879908" y="961390"/>
                    <a:pt x="1873058" y="964228"/>
                    <a:pt x="1865916" y="964228"/>
                  </a:cubicBezTo>
                  <a:lnTo>
                    <a:pt x="26931" y="964228"/>
                  </a:lnTo>
                  <a:cubicBezTo>
                    <a:pt x="19788" y="964228"/>
                    <a:pt x="12938" y="961390"/>
                    <a:pt x="7888" y="956340"/>
                  </a:cubicBezTo>
                  <a:cubicBezTo>
                    <a:pt x="2837" y="951289"/>
                    <a:pt x="0" y="944439"/>
                    <a:pt x="0" y="937297"/>
                  </a:cubicBezTo>
                  <a:lnTo>
                    <a:pt x="0" y="26931"/>
                  </a:lnTo>
                  <a:cubicBezTo>
                    <a:pt x="0" y="19788"/>
                    <a:pt x="2837" y="12938"/>
                    <a:pt x="7888" y="7888"/>
                  </a:cubicBezTo>
                  <a:cubicBezTo>
                    <a:pt x="12938" y="2837"/>
                    <a:pt x="19788" y="0"/>
                    <a:pt x="26931" y="0"/>
                  </a:cubicBezTo>
                  <a:close/>
                </a:path>
              </a:pathLst>
            </a:custGeom>
            <a:solidFill>
              <a:srgbClr val="00599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92847" cy="10023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0" y="5359400"/>
            <a:ext cx="7188200" cy="2819400"/>
            <a:chOff x="0" y="0"/>
            <a:chExt cx="1892847" cy="9642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92846" cy="964228"/>
            </a:xfrm>
            <a:custGeom>
              <a:avLst/>
              <a:gdLst/>
              <a:ahLst/>
              <a:cxnLst/>
              <a:rect l="l" t="t" r="r" b="b"/>
              <a:pathLst>
                <a:path w="1892846" h="964228">
                  <a:moveTo>
                    <a:pt x="26931" y="0"/>
                  </a:moveTo>
                  <a:lnTo>
                    <a:pt x="1865916" y="0"/>
                  </a:lnTo>
                  <a:cubicBezTo>
                    <a:pt x="1873058" y="0"/>
                    <a:pt x="1879908" y="2837"/>
                    <a:pt x="1884959" y="7888"/>
                  </a:cubicBezTo>
                  <a:cubicBezTo>
                    <a:pt x="1890009" y="12938"/>
                    <a:pt x="1892846" y="19788"/>
                    <a:pt x="1892846" y="26931"/>
                  </a:cubicBezTo>
                  <a:lnTo>
                    <a:pt x="1892846" y="937297"/>
                  </a:lnTo>
                  <a:cubicBezTo>
                    <a:pt x="1892846" y="944439"/>
                    <a:pt x="1890009" y="951289"/>
                    <a:pt x="1884959" y="956340"/>
                  </a:cubicBezTo>
                  <a:cubicBezTo>
                    <a:pt x="1879908" y="961390"/>
                    <a:pt x="1873058" y="964228"/>
                    <a:pt x="1865916" y="964228"/>
                  </a:cubicBezTo>
                  <a:lnTo>
                    <a:pt x="26931" y="964228"/>
                  </a:lnTo>
                  <a:cubicBezTo>
                    <a:pt x="19788" y="964228"/>
                    <a:pt x="12938" y="961390"/>
                    <a:pt x="7888" y="956340"/>
                  </a:cubicBezTo>
                  <a:cubicBezTo>
                    <a:pt x="2837" y="951289"/>
                    <a:pt x="0" y="944439"/>
                    <a:pt x="0" y="937297"/>
                  </a:cubicBezTo>
                  <a:lnTo>
                    <a:pt x="0" y="26931"/>
                  </a:lnTo>
                  <a:cubicBezTo>
                    <a:pt x="0" y="19788"/>
                    <a:pt x="2837" y="12938"/>
                    <a:pt x="7888" y="7888"/>
                  </a:cubicBezTo>
                  <a:cubicBezTo>
                    <a:pt x="12938" y="2837"/>
                    <a:pt x="19788" y="0"/>
                    <a:pt x="26931" y="0"/>
                  </a:cubicBez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892847" cy="10023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435100" y="2616200"/>
            <a:ext cx="15240000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Rule: </a:t>
            </a:r>
            <a:r>
              <a:rPr lang="en-US" sz="22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lowest bid wins, winner is paid its own bid.  </a:t>
            </a:r>
            <a:r>
              <a:rPr lang="en-US" sz="22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G3 thinks like this: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35100" y="1625600"/>
            <a:ext cx="13462000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5600" dirty="0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WHAT GOES WRONG WITHOUT MECHANISM DESIGN?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16100" y="5562600"/>
            <a:ext cx="6477000" cy="50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Everyone can reason this way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16100" y="6070600"/>
            <a:ext cx="6477000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…so bids stop reflecting costs.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61500" y="5562600"/>
            <a:ext cx="6604000" cy="50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Worse: guessing wrong picks the wrong worker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61500" y="6197600"/>
            <a:ext cx="6667500" cy="190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buClr>
                <a:srgbClr val="0071B3"/>
              </a:buClr>
              <a:buFont typeface="Arial"/>
              <a:buChar char="•"/>
            </a:pPr>
            <a:r>
              <a:rPr lang="en-US" sz="20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G3 (true cost $6) overshoots and bids $7.50.</a:t>
            </a:r>
          </a:p>
          <a:p>
            <a:pPr marL="342900" indent="-342900" algn="l">
              <a:lnSpc>
                <a:spcPct val="100000"/>
              </a:lnSpc>
              <a:spcBef>
                <a:spcPts val="500"/>
              </a:spcBef>
              <a:buClr>
                <a:srgbClr val="0071B3"/>
              </a:buClr>
              <a:buFont typeface="Arial"/>
              <a:buChar char="•"/>
            </a:pPr>
            <a:r>
              <a:rPr lang="en-US" sz="20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G5 (true cost $7) shades up and bids $7.20.</a:t>
            </a:r>
          </a:p>
          <a:p>
            <a:pPr marL="342900" indent="-342900" algn="l">
              <a:lnSpc>
                <a:spcPct val="100000"/>
              </a:lnSpc>
              <a:spcBef>
                <a:spcPts val="500"/>
              </a:spcBef>
              <a:buClr>
                <a:srgbClr val="0071B3"/>
              </a:buClr>
              <a:buFont typeface="Arial"/>
              <a:buChar char="•"/>
            </a:pPr>
            <a:r>
              <a:rPr lang="en-US" sz="20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G5 wins</a:t>
            </a:r>
            <a:r>
              <a:rPr lang="en-US" sz="20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, but the delivery really costs $7, not $6. </a:t>
            </a:r>
            <a:r>
              <a:rPr lang="en-US" sz="20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$1 is wasted.</a:t>
            </a:r>
          </a:p>
        </p:txBody>
      </p:sp>
      <p:sp>
        <p:nvSpPr>
          <p:cNvPr id="17" name="Freeform 17"/>
          <p:cNvSpPr/>
          <p:nvPr/>
        </p:nvSpPr>
        <p:spPr>
          <a:xfrm flipH="1" flipV="1">
            <a:off x="15091664" y="-2196731"/>
            <a:ext cx="4490914" cy="4114800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4490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90914" y="0"/>
                </a:lnTo>
                <a:lnTo>
                  <a:pt x="4490914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0" y="9715500"/>
            <a:ext cx="7315200" cy="1347216"/>
          </a:xfrm>
          <a:custGeom>
            <a:avLst/>
            <a:gdLst/>
            <a:ahLst/>
            <a:cxnLst/>
            <a:rect l="l" t="t" r="r" b="b"/>
            <a:pathLst>
              <a:path w="7315200" h="1347216">
                <a:moveTo>
                  <a:pt x="0" y="0"/>
                </a:moveTo>
                <a:lnTo>
                  <a:pt x="7315200" y="0"/>
                </a:lnTo>
                <a:lnTo>
                  <a:pt x="7315200" y="1347216"/>
                </a:lnTo>
                <a:lnTo>
                  <a:pt x="0" y="13472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0" name="Step 1"/>
          <p:cNvSpPr/>
          <p:nvPr/>
        </p:nvSpPr>
        <p:spPr>
          <a:xfrm>
            <a:off x="1435100" y="3276600"/>
            <a:ext cx="4627033" cy="1219200"/>
          </a:xfrm>
          <a:prstGeom prst="roundRect">
            <a:avLst>
              <a:gd name="adj" fmla="val 10000"/>
            </a:avLst>
          </a:prstGeom>
          <a:solidFill>
            <a:srgbClr val="0C3877"/>
          </a:solidFill>
          <a:ln>
            <a:noFill/>
          </a:ln>
        </p:spPr>
        <p:txBody>
          <a:bodyPr wrap="square" lIns="203200" tIns="203200" rIns="203200" bIns="20320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3000" dirty="0">
                <a:solidFill>
                  <a:srgbClr val="FFDE59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  <a:r>
              <a:rPr lang="en-US" sz="20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   </a:t>
            </a:r>
            <a:r>
              <a:rPr lang="en-US" sz="20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“My true cost is $6.”</a:t>
            </a:r>
          </a:p>
        </p:txBody>
      </p:sp>
      <p:sp>
        <p:nvSpPr>
          <p:cNvPr id="301" name="Step arrow"/>
          <p:cNvSpPr/>
          <p:nvPr/>
        </p:nvSpPr>
        <p:spPr>
          <a:xfrm>
            <a:off x="6163733" y="3733800"/>
            <a:ext cx="304800" cy="330200"/>
          </a:xfrm>
          <a:prstGeom prst="rightArrow">
            <a:avLst/>
          </a:prstGeom>
          <a:solidFill>
            <a:srgbClr val="0071B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302" name="Step 2"/>
          <p:cNvSpPr/>
          <p:nvPr/>
        </p:nvSpPr>
        <p:spPr>
          <a:xfrm>
            <a:off x="6570133" y="3276600"/>
            <a:ext cx="4627033" cy="1219200"/>
          </a:xfrm>
          <a:prstGeom prst="roundRect">
            <a:avLst>
              <a:gd name="adj" fmla="val 10000"/>
            </a:avLst>
          </a:prstGeom>
          <a:solidFill>
            <a:srgbClr val="0C3877"/>
          </a:solidFill>
          <a:ln>
            <a:noFill/>
          </a:ln>
        </p:spPr>
        <p:txBody>
          <a:bodyPr wrap="square" lIns="203200" tIns="203200" rIns="203200" bIns="20320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3000" dirty="0">
                <a:solidFill>
                  <a:srgbClr val="FFDE59"/>
                </a:solidFill>
                <a:latin typeface="Anton"/>
                <a:ea typeface="Anton"/>
                <a:cs typeface="Anton"/>
                <a:sym typeface="Anton"/>
              </a:rPr>
              <a:t>2</a:t>
            </a:r>
            <a:r>
              <a:rPr lang="en-US" sz="20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   </a:t>
            </a:r>
            <a:r>
              <a:rPr lang="en-US" sz="20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“The next-best worker probably has a cost around $7.”</a:t>
            </a:r>
          </a:p>
        </p:txBody>
      </p:sp>
      <p:sp>
        <p:nvSpPr>
          <p:cNvPr id="303" name="Step arrow"/>
          <p:cNvSpPr/>
          <p:nvPr/>
        </p:nvSpPr>
        <p:spPr>
          <a:xfrm>
            <a:off x="11298767" y="3733800"/>
            <a:ext cx="304800" cy="330200"/>
          </a:xfrm>
          <a:prstGeom prst="rightArrow">
            <a:avLst/>
          </a:prstGeom>
          <a:solidFill>
            <a:srgbClr val="0071B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304" name="Step 3"/>
          <p:cNvSpPr/>
          <p:nvPr/>
        </p:nvSpPr>
        <p:spPr>
          <a:xfrm>
            <a:off x="11705167" y="3276600"/>
            <a:ext cx="4627033" cy="1219200"/>
          </a:xfrm>
          <a:prstGeom prst="roundRect">
            <a:avLst>
              <a:gd name="adj" fmla="val 10000"/>
            </a:avLst>
          </a:prstGeom>
          <a:solidFill>
            <a:srgbClr val="0C3877"/>
          </a:solidFill>
          <a:ln>
            <a:noFill/>
          </a:ln>
        </p:spPr>
        <p:txBody>
          <a:bodyPr wrap="square" lIns="203200" tIns="203200" rIns="203200" bIns="20320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3000" dirty="0">
                <a:solidFill>
                  <a:srgbClr val="FFDE59"/>
                </a:solidFill>
                <a:latin typeface="Anton"/>
                <a:ea typeface="Anton"/>
                <a:cs typeface="Anton"/>
                <a:sym typeface="Anton"/>
              </a:rPr>
              <a:t>3</a:t>
            </a:r>
            <a:r>
              <a:rPr lang="en-US" sz="20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   </a:t>
            </a:r>
            <a:r>
              <a:rPr lang="en-US" sz="20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“If I bid $6.90, I still win, and I earn $0.90 instead of $0.”</a:t>
            </a:r>
          </a:p>
        </p:txBody>
      </p:sp>
      <p:sp>
        <p:nvSpPr>
          <p:cNvPr id="305" name="So line"/>
          <p:cNvSpPr txBox="1"/>
          <p:nvPr/>
        </p:nvSpPr>
        <p:spPr>
          <a:xfrm>
            <a:off x="1435100" y="4673600"/>
            <a:ext cx="153543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So G3 bids </a:t>
            </a:r>
            <a:r>
              <a:rPr lang="en-US" sz="22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$6.90</a:t>
            </a:r>
            <a:r>
              <a:rPr lang="en-US" sz="22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, not $6.</a:t>
            </a:r>
          </a:p>
        </p:txBody>
      </p:sp>
      <p:sp>
        <p:nvSpPr>
          <p:cNvPr id="306" name="Cost vs bid"/>
          <p:cNvSpPr/>
          <p:nvPr/>
        </p:nvSpPr>
        <p:spPr>
          <a:xfrm>
            <a:off x="1816100" y="6629400"/>
            <a:ext cx="2730500" cy="1092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101600" tIns="101600" rIns="101600" bIns="1016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7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True cost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700" dirty="0">
                <a:solidFill>
                  <a:srgbClr val="5A6B85"/>
                </a:solidFill>
                <a:latin typeface="Codec Pro"/>
                <a:ea typeface="Codec Pro"/>
                <a:cs typeface="Codec Pro"/>
                <a:sym typeface="Codec Pro"/>
              </a:rPr>
              <a:t>(private)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8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$6</a:t>
            </a:r>
          </a:p>
        </p:txBody>
      </p:sp>
      <p:sp>
        <p:nvSpPr>
          <p:cNvPr id="307" name="Cost vs bid"/>
          <p:cNvSpPr/>
          <p:nvPr/>
        </p:nvSpPr>
        <p:spPr>
          <a:xfrm>
            <a:off x="5511800" y="6629400"/>
            <a:ext cx="2730500" cy="1092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101600" tIns="101600" rIns="101600" bIns="1016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7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Bid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700" dirty="0">
                <a:solidFill>
                  <a:srgbClr val="5A6B85"/>
                </a:solidFill>
                <a:latin typeface="Codec Pro"/>
                <a:ea typeface="Codec Pro"/>
                <a:cs typeface="Codec Pro"/>
                <a:sym typeface="Codec Pro"/>
              </a:rPr>
              <a:t>(observable)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8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$6.90 ?</a:t>
            </a:r>
          </a:p>
        </p:txBody>
      </p:sp>
      <p:sp>
        <p:nvSpPr>
          <p:cNvPr id="308" name="Cost arrow"/>
          <p:cNvSpPr/>
          <p:nvPr/>
        </p:nvSpPr>
        <p:spPr>
          <a:xfrm>
            <a:off x="4673600" y="6985000"/>
            <a:ext cx="711200" cy="381000"/>
          </a:xfrm>
          <a:prstGeom prst="rightArrow">
            <a:avLst/>
          </a:prstGeom>
          <a:solidFill>
            <a:srgbClr val="FFDE5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309" name="Problem banner"/>
          <p:cNvSpPr/>
          <p:nvPr/>
        </p:nvSpPr>
        <p:spPr>
          <a:xfrm>
            <a:off x="1435100" y="8432800"/>
            <a:ext cx="14897100" cy="838200"/>
          </a:xfrm>
          <a:prstGeom prst="roundRect">
            <a:avLst>
              <a:gd name="adj" fmla="val 14000"/>
            </a:avLst>
          </a:prstGeom>
          <a:solidFill>
            <a:srgbClr val="C0392B"/>
          </a:solidFill>
          <a:ln>
            <a:noFill/>
          </a:ln>
        </p:spPr>
        <p:txBody>
          <a:bodyPr wrap="square" lIns="177800" tIns="177800" rIns="177800" bIns="1778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FFDE59"/>
                </a:solidFill>
                <a:latin typeface="Anton"/>
                <a:ea typeface="Anton"/>
                <a:cs typeface="Anton"/>
                <a:sym typeface="Anton"/>
              </a:rPr>
              <a:t>PROBLEM  </a:t>
            </a:r>
            <a:r>
              <a:rPr lang="en-US" sz="22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The platform cannot simply assume that a bid represents the driver’s true cost.</a:t>
            </a:r>
          </a:p>
        </p:txBody>
      </p:sp>
    </p:spTree>
    <p:extLst>
      <p:ext uri="{BB962C8B-B14F-4D97-AF65-F5344CB8AC3E}">
        <p14:creationId xmlns:p14="http://schemas.microsoft.com/office/powerpoint/2010/main" val="7995018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1609235" y="3764235"/>
            <a:ext cx="5275870" cy="7532473"/>
          </a:xfrm>
          <a:custGeom>
            <a:avLst/>
            <a:gdLst/>
            <a:ahLst/>
            <a:cxnLst/>
            <a:rect l="l" t="t" r="r" b="b"/>
            <a:pathLst>
              <a:path w="5275870" h="7532473">
                <a:moveTo>
                  <a:pt x="0" y="0"/>
                </a:moveTo>
                <a:lnTo>
                  <a:pt x="5275870" y="0"/>
                </a:lnTo>
                <a:lnTo>
                  <a:pt x="5275870" y="7532473"/>
                </a:lnTo>
                <a:lnTo>
                  <a:pt x="0" y="75324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810000" y="2730500"/>
            <a:ext cx="10668000" cy="120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30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“Can we design the rules so that reporting the true cost is each driver’s best strategy?”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94000" y="1524000"/>
            <a:ext cx="12700000" cy="101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0" dirty="0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THE MECHANISM DESIGN QUESTION</a:t>
            </a:r>
          </a:p>
        </p:txBody>
      </p:sp>
      <p:sp>
        <p:nvSpPr>
          <p:cNvPr id="8" name="Freeform 8"/>
          <p:cNvSpPr/>
          <p:nvPr/>
        </p:nvSpPr>
        <p:spPr>
          <a:xfrm flipH="1" flipV="1">
            <a:off x="14621365" y="0"/>
            <a:ext cx="5275870" cy="7532473"/>
          </a:xfrm>
          <a:custGeom>
            <a:avLst/>
            <a:gdLst/>
            <a:ahLst/>
            <a:cxnLst/>
            <a:rect l="l" t="t" r="r" b="b"/>
            <a:pathLst>
              <a:path w="5275870" h="7532473">
                <a:moveTo>
                  <a:pt x="5275870" y="7532473"/>
                </a:moveTo>
                <a:lnTo>
                  <a:pt x="0" y="7532473"/>
                </a:lnTo>
                <a:lnTo>
                  <a:pt x="0" y="0"/>
                </a:lnTo>
                <a:lnTo>
                  <a:pt x="5275870" y="0"/>
                </a:lnTo>
                <a:lnTo>
                  <a:pt x="5275870" y="753247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0" name="Row label"/>
          <p:cNvSpPr txBox="1"/>
          <p:nvPr/>
        </p:nvSpPr>
        <p:spPr>
          <a:xfrm>
            <a:off x="3810000" y="4165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C039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Without a designed mechanism</a:t>
            </a:r>
          </a:p>
        </p:txBody>
      </p:sp>
      <p:sp>
        <p:nvSpPr>
          <p:cNvPr id="301" name="Row node"/>
          <p:cNvSpPr/>
          <p:nvPr/>
        </p:nvSpPr>
        <p:spPr>
          <a:xfrm>
            <a:off x="3810000" y="4622800"/>
            <a:ext cx="1524000" cy="838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dash"/>
          </a:ln>
        </p:spPr>
        <p:txBody>
          <a:bodyPr wrap="square" lIns="101600" tIns="101600" rIns="101600" bIns="1016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C0392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Driver</a:t>
            </a:r>
          </a:p>
        </p:txBody>
      </p:sp>
      <p:sp>
        <p:nvSpPr>
          <p:cNvPr id="302" name="Row arrow"/>
          <p:cNvSpPr/>
          <p:nvPr/>
        </p:nvSpPr>
        <p:spPr>
          <a:xfrm>
            <a:off x="5384800" y="4889500"/>
            <a:ext cx="279400" cy="304800"/>
          </a:xfrm>
          <a:prstGeom prst="rightArrow">
            <a:avLst/>
          </a:prstGeom>
          <a:solidFill>
            <a:srgbClr val="C0392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303" name="Row node"/>
          <p:cNvSpPr/>
          <p:nvPr/>
        </p:nvSpPr>
        <p:spPr>
          <a:xfrm>
            <a:off x="5715000" y="4622800"/>
            <a:ext cx="4064000" cy="838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dash"/>
          </a:ln>
        </p:spPr>
        <p:txBody>
          <a:bodyPr wrap="square" lIns="101600" tIns="101600" rIns="101600" bIns="1016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C0392B"/>
                </a:solidFill>
                <a:latin typeface="Codec Pro"/>
                <a:ea typeface="Codec Pro"/>
                <a:cs typeface="Codec Pro"/>
                <a:sym typeface="Codec Pro"/>
              </a:rPr>
              <a:t>strategically choose a bid</a:t>
            </a:r>
          </a:p>
        </p:txBody>
      </p:sp>
      <p:sp>
        <p:nvSpPr>
          <p:cNvPr id="304" name="Row arrow"/>
          <p:cNvSpPr/>
          <p:nvPr/>
        </p:nvSpPr>
        <p:spPr>
          <a:xfrm>
            <a:off x="9829800" y="4889500"/>
            <a:ext cx="279400" cy="304800"/>
          </a:xfrm>
          <a:prstGeom prst="rightArrow">
            <a:avLst/>
          </a:prstGeom>
          <a:solidFill>
            <a:srgbClr val="C0392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305" name="Row node"/>
          <p:cNvSpPr/>
          <p:nvPr/>
        </p:nvSpPr>
        <p:spPr>
          <a:xfrm>
            <a:off x="10160000" y="4622800"/>
            <a:ext cx="4318000" cy="838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dash"/>
          </a:ln>
        </p:spPr>
        <p:txBody>
          <a:bodyPr wrap="square" lIns="101600" tIns="101600" rIns="101600" bIns="1016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C0392B"/>
                </a:solidFill>
                <a:latin typeface="Codec Pro"/>
                <a:ea typeface="Codec Pro"/>
                <a:cs typeface="Codec Pro"/>
                <a:sym typeface="Codec Pro"/>
              </a:rPr>
              <a:t>try to manipulate the outcome</a:t>
            </a:r>
          </a:p>
        </p:txBody>
      </p:sp>
      <p:sp>
        <p:nvSpPr>
          <p:cNvPr id="306" name="Row label"/>
          <p:cNvSpPr txBox="1"/>
          <p:nvPr/>
        </p:nvSpPr>
        <p:spPr>
          <a:xfrm>
            <a:off x="3810000" y="57404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With a designed mechanism</a:t>
            </a:r>
          </a:p>
        </p:txBody>
      </p:sp>
      <p:sp>
        <p:nvSpPr>
          <p:cNvPr id="307" name="Row node"/>
          <p:cNvSpPr/>
          <p:nvPr/>
        </p:nvSpPr>
        <p:spPr>
          <a:xfrm>
            <a:off x="3810000" y="6197600"/>
            <a:ext cx="1397000" cy="838200"/>
          </a:xfrm>
          <a:prstGeom prst="roundRect">
            <a:avLst>
              <a:gd name="adj" fmla="val 14000"/>
            </a:avLst>
          </a:prstGeom>
          <a:solidFill>
            <a:srgbClr val="005990"/>
          </a:solidFill>
          <a:ln>
            <a:noFill/>
          </a:ln>
        </p:spPr>
        <p:txBody>
          <a:bodyPr wrap="square" lIns="101600" tIns="101600" rIns="101600" bIns="1016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Driver</a:t>
            </a:r>
          </a:p>
        </p:txBody>
      </p:sp>
      <p:sp>
        <p:nvSpPr>
          <p:cNvPr id="308" name="Row arrow"/>
          <p:cNvSpPr/>
          <p:nvPr/>
        </p:nvSpPr>
        <p:spPr>
          <a:xfrm>
            <a:off x="5257800" y="6464300"/>
            <a:ext cx="279400" cy="304800"/>
          </a:xfrm>
          <a:prstGeom prst="rightArrow">
            <a:avLst/>
          </a:prstGeom>
          <a:solidFill>
            <a:srgbClr val="0071B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309" name="Row node"/>
          <p:cNvSpPr/>
          <p:nvPr/>
        </p:nvSpPr>
        <p:spPr>
          <a:xfrm>
            <a:off x="5588000" y="6197600"/>
            <a:ext cx="2413000" cy="838200"/>
          </a:xfrm>
          <a:prstGeom prst="roundRect">
            <a:avLst>
              <a:gd name="adj" fmla="val 14000"/>
            </a:avLst>
          </a:prstGeom>
          <a:solidFill>
            <a:srgbClr val="005990"/>
          </a:solidFill>
          <a:ln>
            <a:noFill/>
          </a:ln>
        </p:spPr>
        <p:txBody>
          <a:bodyPr wrap="square" lIns="101600" tIns="101600" rIns="101600" bIns="1016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report true cost</a:t>
            </a:r>
          </a:p>
        </p:txBody>
      </p:sp>
      <p:sp>
        <p:nvSpPr>
          <p:cNvPr id="310" name="Row arrow"/>
          <p:cNvSpPr/>
          <p:nvPr/>
        </p:nvSpPr>
        <p:spPr>
          <a:xfrm>
            <a:off x="8051800" y="6464300"/>
            <a:ext cx="279400" cy="304800"/>
          </a:xfrm>
          <a:prstGeom prst="rightArrow">
            <a:avLst/>
          </a:prstGeom>
          <a:solidFill>
            <a:srgbClr val="0071B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311" name="Row node"/>
          <p:cNvSpPr/>
          <p:nvPr/>
        </p:nvSpPr>
        <p:spPr>
          <a:xfrm>
            <a:off x="8382000" y="6197600"/>
            <a:ext cx="1905000" cy="838200"/>
          </a:xfrm>
          <a:prstGeom prst="roundRect">
            <a:avLst>
              <a:gd name="adj" fmla="val 14000"/>
            </a:avLst>
          </a:prstGeom>
          <a:solidFill>
            <a:srgbClr val="005990"/>
          </a:solidFill>
          <a:ln>
            <a:noFill/>
          </a:ln>
        </p:spPr>
        <p:txBody>
          <a:bodyPr wrap="square" lIns="101600" tIns="101600" rIns="101600" bIns="1016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Mechanism</a:t>
            </a:r>
          </a:p>
        </p:txBody>
      </p:sp>
      <p:sp>
        <p:nvSpPr>
          <p:cNvPr id="312" name="Row arrow"/>
          <p:cNvSpPr/>
          <p:nvPr/>
        </p:nvSpPr>
        <p:spPr>
          <a:xfrm>
            <a:off x="10337800" y="6464300"/>
            <a:ext cx="279400" cy="304800"/>
          </a:xfrm>
          <a:prstGeom prst="rightArrow">
            <a:avLst/>
          </a:prstGeom>
          <a:solidFill>
            <a:srgbClr val="0071B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313" name="Row node"/>
          <p:cNvSpPr/>
          <p:nvPr/>
        </p:nvSpPr>
        <p:spPr>
          <a:xfrm>
            <a:off x="10668000" y="6197600"/>
            <a:ext cx="3810000" cy="838200"/>
          </a:xfrm>
          <a:prstGeom prst="roundRect">
            <a:avLst>
              <a:gd name="adj" fmla="val 14000"/>
            </a:avLst>
          </a:prstGeom>
          <a:solidFill>
            <a:srgbClr val="005990"/>
          </a:solidFill>
          <a:ln>
            <a:noFill/>
          </a:ln>
        </p:spPr>
        <p:txBody>
          <a:bodyPr wrap="square" lIns="101600" tIns="101600" rIns="101600" bIns="1016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efficient allocation + appropriate payment</a:t>
            </a:r>
          </a:p>
        </p:txBody>
      </p:sp>
      <p:sp>
        <p:nvSpPr>
          <p:cNvPr id="314" name="IC definition"/>
          <p:cNvSpPr/>
          <p:nvPr/>
        </p:nvSpPr>
        <p:spPr>
          <a:xfrm>
            <a:off x="3810000" y="7429500"/>
            <a:ext cx="10668000" cy="1168400"/>
          </a:xfrm>
          <a:prstGeom prst="roundRect">
            <a:avLst>
              <a:gd name="adj" fmla="val 10000"/>
            </a:avLst>
          </a:prstGeom>
          <a:solidFill>
            <a:srgbClr val="FFDE59"/>
          </a:solidFill>
          <a:ln>
            <a:noFill/>
          </a:ln>
        </p:spPr>
        <p:txBody>
          <a:bodyPr wrap="square" lIns="254000" tIns="254000" rIns="254000" bIns="254000" rtlCol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Incentive compatibility: </a:t>
            </a:r>
            <a:r>
              <a:rPr lang="en-US" sz="22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a mechanism is incentive compatible when telling the truth is the best strategy for every participant.</a:t>
            </a:r>
          </a:p>
        </p:txBody>
      </p:sp>
      <p:sp>
        <p:nvSpPr>
          <p:cNvPr id="3" name="Closing line"/>
          <p:cNvSpPr txBox="1"/>
          <p:nvPr/>
        </p:nvSpPr>
        <p:spPr>
          <a:xfrm>
            <a:off x="3810000" y="8763000"/>
            <a:ext cx="10668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i="1" dirty="0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Mechanism design lets drivers protect their own interests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i="1" dirty="0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without needing to game the system.</a:t>
            </a:r>
          </a:p>
        </p:txBody>
      </p:sp>
    </p:spTree>
    <p:extLst>
      <p:ext uri="{BB962C8B-B14F-4D97-AF65-F5344CB8AC3E}">
        <p14:creationId xmlns:p14="http://schemas.microsoft.com/office/powerpoint/2010/main" val="39414514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02870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2080885" y="0"/>
            <a:ext cx="6207115" cy="4114800"/>
          </a:xfrm>
          <a:custGeom>
            <a:avLst/>
            <a:gdLst/>
            <a:ahLst/>
            <a:cxnLst/>
            <a:rect l="l" t="t" r="r" b="b"/>
            <a:pathLst>
              <a:path w="6207115" h="4114800">
                <a:moveTo>
                  <a:pt x="620711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07115" y="0"/>
                </a:lnTo>
                <a:lnTo>
                  <a:pt x="6207115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5098" y="9258300"/>
            <a:ext cx="7315200" cy="1258824"/>
          </a:xfrm>
          <a:custGeom>
            <a:avLst/>
            <a:gdLst/>
            <a:ahLst/>
            <a:cxnLst/>
            <a:rect l="l" t="t" r="r" b="b"/>
            <a:pathLst>
              <a:path w="7315200" h="1258824">
                <a:moveTo>
                  <a:pt x="0" y="0"/>
                </a:moveTo>
                <a:lnTo>
                  <a:pt x="7315200" y="0"/>
                </a:lnTo>
                <a:lnTo>
                  <a:pt x="7315200" y="1258824"/>
                </a:lnTo>
                <a:lnTo>
                  <a:pt x="0" y="12588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473200" y="1333500"/>
            <a:ext cx="10541000" cy="139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4800" dirty="0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APPLYING MECHANISM DESIGN: WHO WINS, AND HOW MUCH TO PAY?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73200" y="2946400"/>
            <a:ext cx="81280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1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Same six workers, everyone reports their true cost:</a:t>
            </a:r>
          </a:p>
        </p:txBody>
      </p:sp>
      <p:sp>
        <p:nvSpPr>
          <p:cNvPr id="308" name="Insight box"/>
          <p:cNvSpPr/>
          <p:nvPr/>
        </p:nvSpPr>
        <p:spPr>
          <a:xfrm>
            <a:off x="1473200" y="7010400"/>
            <a:ext cx="7924800" cy="1422400"/>
          </a:xfrm>
          <a:prstGeom prst="roundRect">
            <a:avLst>
              <a:gd name="adj" fmla="val 10000"/>
            </a:avLst>
          </a:prstGeom>
          <a:solidFill>
            <a:srgbClr val="0C3877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473200" y="7010400"/>
            <a:ext cx="7924800" cy="1422400"/>
          </a:xfrm>
          <a:prstGeom prst="rect">
            <a:avLst/>
          </a:prstGeom>
        </p:spPr>
        <p:txBody>
          <a:bodyPr lIns="228600" tIns="177800" rIns="228600" bIns="0" rtlCol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FFDE5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G3’s payment does not depend on G3’s own bid.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21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Lying cannot raise profit; it can only risk losing the job.</a:t>
            </a:r>
          </a:p>
        </p:txBody>
      </p:sp>
      <p:sp>
        <p:nvSpPr>
          <p:cNvPr id="300" name="Worker chip"/>
          <p:cNvSpPr/>
          <p:nvPr/>
        </p:nvSpPr>
        <p:spPr>
          <a:xfrm>
            <a:off x="1473200" y="3429000"/>
            <a:ext cx="1214967" cy="736600"/>
          </a:xfrm>
          <a:prstGeom prst="roundRect">
            <a:avLst>
              <a:gd name="adj" fmla="val 14000"/>
            </a:avLst>
          </a:prstGeom>
          <a:solidFill>
            <a:srgbClr val="005990"/>
          </a:solidFill>
          <a:ln>
            <a:noFill/>
          </a:ln>
        </p:spPr>
        <p:txBody>
          <a:bodyPr wrap="square" lIns="50800" tIns="50800" rIns="50800" bIns="508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$10</a:t>
            </a:r>
          </a:p>
        </p:txBody>
      </p:sp>
      <p:sp>
        <p:nvSpPr>
          <p:cNvPr id="301" name="Worker chip"/>
          <p:cNvSpPr/>
          <p:nvPr/>
        </p:nvSpPr>
        <p:spPr>
          <a:xfrm>
            <a:off x="2815167" y="3429000"/>
            <a:ext cx="1214967" cy="736600"/>
          </a:xfrm>
          <a:prstGeom prst="roundRect">
            <a:avLst>
              <a:gd name="adj" fmla="val 14000"/>
            </a:avLst>
          </a:prstGeom>
          <a:solidFill>
            <a:srgbClr val="005990"/>
          </a:solidFill>
          <a:ln>
            <a:noFill/>
          </a:ln>
        </p:spPr>
        <p:txBody>
          <a:bodyPr wrap="square" lIns="50800" tIns="50800" rIns="50800" bIns="508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$8</a:t>
            </a:r>
          </a:p>
        </p:txBody>
      </p:sp>
      <p:sp>
        <p:nvSpPr>
          <p:cNvPr id="302" name="Worker chip"/>
          <p:cNvSpPr/>
          <p:nvPr/>
        </p:nvSpPr>
        <p:spPr>
          <a:xfrm>
            <a:off x="4157133" y="3429000"/>
            <a:ext cx="1214967" cy="736600"/>
          </a:xfrm>
          <a:prstGeom prst="roundRect">
            <a:avLst>
              <a:gd name="adj" fmla="val 14000"/>
            </a:avLst>
          </a:prstGeom>
          <a:solidFill>
            <a:srgbClr val="FFDE59"/>
          </a:solidFill>
          <a:ln>
            <a:noFill/>
          </a:ln>
        </p:spPr>
        <p:txBody>
          <a:bodyPr wrap="square" lIns="50800" tIns="50800" rIns="50800" bIns="508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$6</a:t>
            </a:r>
          </a:p>
        </p:txBody>
      </p:sp>
      <p:sp>
        <p:nvSpPr>
          <p:cNvPr id="303" name="Worker chip"/>
          <p:cNvSpPr/>
          <p:nvPr/>
        </p:nvSpPr>
        <p:spPr>
          <a:xfrm>
            <a:off x="5499100" y="3429000"/>
            <a:ext cx="1214967" cy="736600"/>
          </a:xfrm>
          <a:prstGeom prst="roundRect">
            <a:avLst>
              <a:gd name="adj" fmla="val 14000"/>
            </a:avLst>
          </a:prstGeom>
          <a:solidFill>
            <a:srgbClr val="005990"/>
          </a:solidFill>
          <a:ln>
            <a:noFill/>
          </a:ln>
        </p:spPr>
        <p:txBody>
          <a:bodyPr wrap="square" lIns="50800" tIns="50800" rIns="50800" bIns="508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$9</a:t>
            </a:r>
          </a:p>
        </p:txBody>
      </p:sp>
      <p:sp>
        <p:nvSpPr>
          <p:cNvPr id="304" name="Worker chip"/>
          <p:cNvSpPr/>
          <p:nvPr/>
        </p:nvSpPr>
        <p:spPr>
          <a:xfrm>
            <a:off x="6841067" y="3429000"/>
            <a:ext cx="1214967" cy="736600"/>
          </a:xfrm>
          <a:prstGeom prst="roundRect">
            <a:avLst>
              <a:gd name="adj" fmla="val 14000"/>
            </a:avLst>
          </a:prstGeom>
          <a:solidFill>
            <a:srgbClr val="005990"/>
          </a:solidFill>
          <a:ln>
            <a:noFill/>
          </a:ln>
        </p:spPr>
        <p:txBody>
          <a:bodyPr wrap="square" lIns="50800" tIns="50800" rIns="50800" bIns="508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$7</a:t>
            </a:r>
          </a:p>
        </p:txBody>
      </p:sp>
      <p:sp>
        <p:nvSpPr>
          <p:cNvPr id="305" name="Worker chip"/>
          <p:cNvSpPr/>
          <p:nvPr/>
        </p:nvSpPr>
        <p:spPr>
          <a:xfrm>
            <a:off x="8183033" y="3429000"/>
            <a:ext cx="1214967" cy="736600"/>
          </a:xfrm>
          <a:prstGeom prst="roundRect">
            <a:avLst>
              <a:gd name="adj" fmla="val 14000"/>
            </a:avLst>
          </a:prstGeom>
          <a:solidFill>
            <a:srgbClr val="005990"/>
          </a:solidFill>
          <a:ln>
            <a:noFill/>
          </a:ln>
        </p:spPr>
        <p:txBody>
          <a:bodyPr wrap="square" lIns="50800" tIns="50800" rIns="50800" bIns="508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$11</a:t>
            </a:r>
          </a:p>
        </p:txBody>
      </p:sp>
      <p:sp>
        <p:nvSpPr>
          <p:cNvPr id="306" name="Rule 1"/>
          <p:cNvSpPr/>
          <p:nvPr/>
        </p:nvSpPr>
        <p:spPr>
          <a:xfrm>
            <a:off x="1473200" y="4381500"/>
            <a:ext cx="7924800" cy="990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71B3"/>
            </a:solidFill>
          </a:ln>
        </p:spPr>
        <p:txBody>
          <a:bodyPr wrap="square" lIns="203200" tIns="203200" rIns="203200" bIns="20320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Rule 1: who wins? 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1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The lowest bid → </a:t>
            </a:r>
            <a:r>
              <a:rPr lang="en-US" sz="21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G3</a:t>
            </a:r>
          </a:p>
        </p:txBody>
      </p:sp>
      <p:sp>
        <p:nvSpPr>
          <p:cNvPr id="307" name="Rule 2"/>
          <p:cNvSpPr/>
          <p:nvPr/>
        </p:nvSpPr>
        <p:spPr>
          <a:xfrm>
            <a:off x="1473200" y="5524500"/>
            <a:ext cx="7924800" cy="1320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71B3"/>
            </a:solidFill>
          </a:ln>
        </p:spPr>
        <p:txBody>
          <a:bodyPr wrap="square" lIns="203200" tIns="203200" rIns="203200" bIns="20320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Rule 2: how much to pay? 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</a:pPr>
            <a:r>
              <a:rPr lang="en-US" sz="21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Pay G3 the </a:t>
            </a:r>
            <a:r>
              <a:rPr lang="en-US" sz="21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next-lowest bid</a:t>
            </a:r>
            <a:r>
              <a:rPr lang="en-US" sz="21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 ($7, from G5), </a:t>
            </a:r>
            <a:r>
              <a:rPr lang="en-US" sz="21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not</a:t>
            </a:r>
            <a:r>
              <a:rPr lang="en-US" sz="21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 G3’s own bid.</a:t>
            </a:r>
          </a:p>
        </p:txBody>
      </p:sp>
      <p:sp>
        <p:nvSpPr>
          <p:cNvPr id="309" name="Table head"/>
          <p:cNvSpPr txBox="1"/>
          <p:nvPr/>
        </p:nvSpPr>
        <p:spPr>
          <a:xfrm>
            <a:off x="9906000" y="4381500"/>
            <a:ext cx="69215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What can G3 gain by misreporting?</a:t>
            </a:r>
          </a:p>
        </p:txBody>
      </p:sp>
      <p:sp>
        <p:nvSpPr>
          <p:cNvPr id="310" name="Table sub"/>
          <p:cNvSpPr txBox="1"/>
          <p:nvPr/>
        </p:nvSpPr>
        <p:spPr>
          <a:xfrm>
            <a:off x="9906000" y="4800600"/>
            <a:ext cx="6921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i="1" dirty="0">
                <a:solidFill>
                  <a:srgbClr val="5A6B85"/>
                </a:solidFill>
                <a:latin typeface="Codec Pro"/>
                <a:ea typeface="Codec Pro"/>
                <a:cs typeface="Codec Pro"/>
                <a:sym typeface="Codec Pro"/>
              </a:rPr>
              <a:t>(true cost = $6)</a:t>
            </a:r>
          </a:p>
        </p:txBody>
      </p:sp>
      <p:graphicFrame>
        <p:nvGraphicFramePr>
          <p:cNvPr id="311" name="Misreport table"/>
          <p:cNvGraphicFramePr>
            <a:graphicFrameLocks noGrp="1"/>
          </p:cNvGraphicFramePr>
          <p:nvPr/>
        </p:nvGraphicFramePr>
        <p:xfrm>
          <a:off x="9906000" y="5232400"/>
          <a:ext cx="6921500" cy="292100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G3 bids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Result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G3 is paid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071B3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G3’s profit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5400">
                      <a:solidFill>
                        <a:srgbClr val="0071B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$5.00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wins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$7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$1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25400">
                      <a:solidFill>
                        <a:srgbClr val="0071B3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$6.00 (truth)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wins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$7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b="1" dirty="0">
                          <a:solidFill>
                            <a:srgbClr val="0C3877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$1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solidFill>
                      <a:srgbClr val="FFF3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$6.90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wins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$7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$1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$7.50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loses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rgbClr val="0C3877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$0</a:t>
                      </a:r>
                    </a:p>
                  </a:txBody>
                  <a:tcPr marL="127000" marR="127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5DCE6"/>
                      </a:solidFill>
                    </a:lnT>
                    <a:lnB w="12700">
                      <a:solidFill>
                        <a:srgbClr val="D5DCE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2" name="Price note"/>
          <p:cNvSpPr txBox="1"/>
          <p:nvPr/>
        </p:nvSpPr>
        <p:spPr>
          <a:xfrm>
            <a:off x="9906000" y="8280400"/>
            <a:ext cx="69215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The platform pays $1 above G3’s true cost. This is the price of getting honest information, and the thesis will measure it.</a:t>
            </a:r>
          </a:p>
        </p:txBody>
      </p:sp>
      <p:sp>
        <p:nvSpPr>
          <p:cNvPr id="313" name="Footnote"/>
          <p:cNvSpPr txBox="1"/>
          <p:nvPr/>
        </p:nvSpPr>
        <p:spPr>
          <a:xfrm>
            <a:off x="1473200" y="8585200"/>
            <a:ext cx="7924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i="1" dirty="0">
                <a:solidFill>
                  <a:srgbClr val="44546A"/>
                </a:solidFill>
                <a:latin typeface="Codec Pro"/>
                <a:ea typeface="Codec Pro"/>
                <a:cs typeface="Codec Pro"/>
                <a:sym typeface="Codec Pro"/>
              </a:rPr>
              <a:t>This “pay the next-best alternative” idea generalizes to many orders and routes as VCG / Clarke-pivot payments.</a:t>
            </a:r>
          </a:p>
        </p:txBody>
      </p:sp>
    </p:spTree>
    <p:extLst>
      <p:ext uri="{BB962C8B-B14F-4D97-AF65-F5344CB8AC3E}">
        <p14:creationId xmlns:p14="http://schemas.microsoft.com/office/powerpoint/2010/main" val="3879717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2FEA41C-38B8-4E94-16D9-0CA1D3823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8A19AAE-2859-617B-A520-3782D6712FB0}"/>
              </a:ext>
            </a:extLst>
          </p:cNvPr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FC55C30-B119-2F29-98C2-274119DE16ED}"/>
              </a:ext>
            </a:extLst>
          </p:cNvPr>
          <p:cNvSpPr/>
          <p:nvPr/>
        </p:nvSpPr>
        <p:spPr>
          <a:xfrm>
            <a:off x="-774700" y="8763000"/>
            <a:ext cx="4490914" cy="4114800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0" y="0"/>
                </a:moveTo>
                <a:lnTo>
                  <a:pt x="4490914" y="0"/>
                </a:lnTo>
                <a:lnTo>
                  <a:pt x="4490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28EE657-C508-B9C5-58E0-9941005A88CA}"/>
              </a:ext>
            </a:extLst>
          </p:cNvPr>
          <p:cNvSpPr txBox="1"/>
          <p:nvPr/>
        </p:nvSpPr>
        <p:spPr>
          <a:xfrm>
            <a:off x="1473200" y="2730500"/>
            <a:ext cx="12319000" cy="88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Routing treated vehicles as resources. Mechanism design treated participants as strategic. </a:t>
            </a:r>
            <a:r>
              <a:rPr lang="en-US" sz="24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The two barely met.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B0B6A90-BDFF-D5ED-B39A-9025A09964AD}"/>
              </a:ext>
            </a:extLst>
          </p:cNvPr>
          <p:cNvSpPr txBox="1"/>
          <p:nvPr/>
        </p:nvSpPr>
        <p:spPr>
          <a:xfrm>
            <a:off x="1473200" y="1524000"/>
            <a:ext cx="12573000" cy="101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6000" dirty="0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TWO RESEARCH STREAMS, LONG KEPT APART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FA8A1515-1B8C-3B1E-CA27-6938E309DFF5}"/>
              </a:ext>
            </a:extLst>
          </p:cNvPr>
          <p:cNvSpPr/>
          <p:nvPr/>
        </p:nvSpPr>
        <p:spPr>
          <a:xfrm flipH="1" flipV="1">
            <a:off x="14085445" y="-528284"/>
            <a:ext cx="4490914" cy="4114800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4490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90914" y="0"/>
                </a:lnTo>
                <a:lnTo>
                  <a:pt x="4490914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0" name="Axis">
            <a:extLst>
              <a:ext uri="{FF2B5EF4-FFF2-40B4-BE49-F238E27FC236}">
                <a16:creationId xmlns:a16="http://schemas.microsoft.com/office/drawing/2014/main" id="{C747580C-ABA2-25E8-B0C5-6F452CD32745}"/>
              </a:ext>
            </a:extLst>
          </p:cNvPr>
          <p:cNvSpPr/>
          <p:nvPr/>
        </p:nvSpPr>
        <p:spPr>
          <a:xfrm>
            <a:off x="4038600" y="4470400"/>
            <a:ext cx="12788900" cy="0"/>
          </a:xfrm>
          <a:prstGeom prst="line">
            <a:avLst/>
          </a:prstGeom>
          <a:noFill/>
          <a:ln w="25400">
            <a:solidFill>
              <a:srgbClr val="0C3877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201" name="Period 1">
            <a:extLst>
              <a:ext uri="{FF2B5EF4-FFF2-40B4-BE49-F238E27FC236}">
                <a16:creationId xmlns:a16="http://schemas.microsoft.com/office/drawing/2014/main" id="{4CF04A88-5DB5-4E0B-F16B-F7FAF8AA8D19}"/>
              </a:ext>
            </a:extLst>
          </p:cNvPr>
          <p:cNvSpPr txBox="1"/>
          <p:nvPr/>
        </p:nvSpPr>
        <p:spPr>
          <a:xfrm>
            <a:off x="4038600" y="3962400"/>
            <a:ext cx="3082925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1959–1980s</a:t>
            </a:r>
          </a:p>
        </p:txBody>
      </p:sp>
      <p:sp>
        <p:nvSpPr>
          <p:cNvPr id="202" name="Period 2">
            <a:extLst>
              <a:ext uri="{FF2B5EF4-FFF2-40B4-BE49-F238E27FC236}">
                <a16:creationId xmlns:a16="http://schemas.microsoft.com/office/drawing/2014/main" id="{C2674DE4-3979-FF38-8335-90709B98A91E}"/>
              </a:ext>
            </a:extLst>
          </p:cNvPr>
          <p:cNvSpPr txBox="1"/>
          <p:nvPr/>
        </p:nvSpPr>
        <p:spPr>
          <a:xfrm>
            <a:off x="7273925" y="3962400"/>
            <a:ext cx="3082925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1990s–2000s</a:t>
            </a:r>
          </a:p>
        </p:txBody>
      </p:sp>
      <p:sp>
        <p:nvSpPr>
          <p:cNvPr id="203" name="Period 3">
            <a:extLst>
              <a:ext uri="{FF2B5EF4-FFF2-40B4-BE49-F238E27FC236}">
                <a16:creationId xmlns:a16="http://schemas.microsoft.com/office/drawing/2014/main" id="{C5FB06AA-37C1-12F7-210D-1A7CE99FDCCE}"/>
              </a:ext>
            </a:extLst>
          </p:cNvPr>
          <p:cNvSpPr txBox="1"/>
          <p:nvPr/>
        </p:nvSpPr>
        <p:spPr>
          <a:xfrm>
            <a:off x="10509250" y="3962400"/>
            <a:ext cx="3082925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2011–2016</a:t>
            </a:r>
          </a:p>
        </p:txBody>
      </p:sp>
      <p:sp>
        <p:nvSpPr>
          <p:cNvPr id="204" name="Period 4">
            <a:extLst>
              <a:ext uri="{FF2B5EF4-FFF2-40B4-BE49-F238E27FC236}">
                <a16:creationId xmlns:a16="http://schemas.microsoft.com/office/drawing/2014/main" id="{8FCD8D9E-113C-53D6-E48C-1E125B312402}"/>
              </a:ext>
            </a:extLst>
          </p:cNvPr>
          <p:cNvSpPr txBox="1"/>
          <p:nvPr/>
        </p:nvSpPr>
        <p:spPr>
          <a:xfrm>
            <a:off x="13744575" y="3962400"/>
            <a:ext cx="3082925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071B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2018–2020</a:t>
            </a:r>
          </a:p>
        </p:txBody>
      </p:sp>
      <p:sp>
        <p:nvSpPr>
          <p:cNvPr id="205" name="Routing lane label">
            <a:extLst>
              <a:ext uri="{FF2B5EF4-FFF2-40B4-BE49-F238E27FC236}">
                <a16:creationId xmlns:a16="http://schemas.microsoft.com/office/drawing/2014/main" id="{F438B0A6-29E1-4771-03FF-B33E9F92EA52}"/>
              </a:ext>
            </a:extLst>
          </p:cNvPr>
          <p:cNvSpPr/>
          <p:nvPr/>
        </p:nvSpPr>
        <p:spPr>
          <a:xfrm>
            <a:off x="1473200" y="4673600"/>
            <a:ext cx="2413000" cy="1905000"/>
          </a:xfrm>
          <a:prstGeom prst="roundRect">
            <a:avLst>
              <a:gd name="adj" fmla="val 8000"/>
            </a:avLst>
          </a:prstGeom>
          <a:solidFill>
            <a:srgbClr val="005990"/>
          </a:solidFill>
          <a:ln>
            <a:noFill/>
          </a:ln>
        </p:spPr>
        <p:txBody>
          <a:bodyPr wrap="square" lIns="203200" tIns="203200" rIns="203200" bIns="20320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Routing / OR</a:t>
            </a:r>
          </a:p>
        </p:txBody>
      </p:sp>
      <p:sp>
        <p:nvSpPr>
          <p:cNvPr id="206" name="Routing lane 1">
            <a:extLst>
              <a:ext uri="{FF2B5EF4-FFF2-40B4-BE49-F238E27FC236}">
                <a16:creationId xmlns:a16="http://schemas.microsoft.com/office/drawing/2014/main" id="{CADB91E3-ECA2-98E4-3F47-FC243FB67E6E}"/>
              </a:ext>
            </a:extLst>
          </p:cNvPr>
          <p:cNvSpPr/>
          <p:nvPr/>
        </p:nvSpPr>
        <p:spPr>
          <a:xfrm>
            <a:off x="4038600" y="4673600"/>
            <a:ext cx="3082925" cy="1905000"/>
          </a:xfrm>
          <a:prstGeom prst="roundRect">
            <a:avLst>
              <a:gd name="adj" fmla="val 8000"/>
            </a:avLst>
          </a:prstGeom>
          <a:solidFill>
            <a:srgbClr val="005990"/>
          </a:solidFill>
          <a:ln>
            <a:noFill/>
          </a:ln>
        </p:spPr>
        <p:txBody>
          <a:bodyPr wrap="square" lIns="177800" tIns="177800" rIns="177800" bIns="17780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Vehicle routing (1959), Savings algorithm (1964), time windows (1987)</a:t>
            </a:r>
          </a:p>
        </p:txBody>
      </p:sp>
      <p:sp>
        <p:nvSpPr>
          <p:cNvPr id="207" name="Routing lane 2">
            <a:extLst>
              <a:ext uri="{FF2B5EF4-FFF2-40B4-BE49-F238E27FC236}">
                <a16:creationId xmlns:a16="http://schemas.microsoft.com/office/drawing/2014/main" id="{F86EE60E-9F73-1126-9E24-37CED7DD121A}"/>
              </a:ext>
            </a:extLst>
          </p:cNvPr>
          <p:cNvSpPr/>
          <p:nvPr/>
        </p:nvSpPr>
        <p:spPr>
          <a:xfrm>
            <a:off x="7273925" y="4673600"/>
            <a:ext cx="3082925" cy="1905000"/>
          </a:xfrm>
          <a:prstGeom prst="roundRect">
            <a:avLst>
              <a:gd name="adj" fmla="val 8000"/>
            </a:avLst>
          </a:prstGeom>
          <a:solidFill>
            <a:srgbClr val="005990"/>
          </a:solidFill>
          <a:ln>
            <a:noFill/>
          </a:ln>
        </p:spPr>
        <p:txBody>
          <a:bodyPr wrap="square" lIns="177800" tIns="177800" rIns="177800" bIns="17780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Exact methods and metaheuristics</a:t>
            </a:r>
          </a:p>
        </p:txBody>
      </p:sp>
      <p:sp>
        <p:nvSpPr>
          <p:cNvPr id="208" name="Routing lane 3">
            <a:extLst>
              <a:ext uri="{FF2B5EF4-FFF2-40B4-BE49-F238E27FC236}">
                <a16:creationId xmlns:a16="http://schemas.microsoft.com/office/drawing/2014/main" id="{69A0807C-5CA8-9FEB-D7D1-1B457CAEF838}"/>
              </a:ext>
            </a:extLst>
          </p:cNvPr>
          <p:cNvSpPr/>
          <p:nvPr/>
        </p:nvSpPr>
        <p:spPr>
          <a:xfrm>
            <a:off x="10509250" y="4673600"/>
            <a:ext cx="3082925" cy="1905000"/>
          </a:xfrm>
          <a:prstGeom prst="roundRect">
            <a:avLst>
              <a:gd name="adj" fmla="val 8000"/>
            </a:avLst>
          </a:prstGeom>
          <a:solidFill>
            <a:srgbClr val="005990"/>
          </a:solidFill>
          <a:ln>
            <a:noFill/>
          </a:ln>
        </p:spPr>
        <p:txBody>
          <a:bodyPr wrap="square" lIns="177800" tIns="177800" rIns="177800" bIns="17780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Crowdsourced delivery (2014); occasional drivers (2016)</a:t>
            </a:r>
          </a:p>
        </p:txBody>
      </p:sp>
      <p:sp>
        <p:nvSpPr>
          <p:cNvPr id="209" name="Routing lane 4">
            <a:extLst>
              <a:ext uri="{FF2B5EF4-FFF2-40B4-BE49-F238E27FC236}">
                <a16:creationId xmlns:a16="http://schemas.microsoft.com/office/drawing/2014/main" id="{9F91BE94-4233-4AFB-D682-74CAE9605558}"/>
              </a:ext>
            </a:extLst>
          </p:cNvPr>
          <p:cNvSpPr/>
          <p:nvPr/>
        </p:nvSpPr>
        <p:spPr>
          <a:xfrm>
            <a:off x="13744575" y="4673600"/>
            <a:ext cx="3082925" cy="1905000"/>
          </a:xfrm>
          <a:prstGeom prst="roundRect">
            <a:avLst>
              <a:gd name="adj" fmla="val 8000"/>
            </a:avLst>
          </a:prstGeom>
          <a:solidFill>
            <a:srgbClr val="005990"/>
          </a:solidFill>
          <a:ln>
            <a:noFill/>
          </a:ln>
        </p:spPr>
        <p:txBody>
          <a:bodyPr wrap="square" lIns="177800" tIns="177800" rIns="177800" bIns="17780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Ad hoc drivers in dynamic pickup-and-delivery (2019)</a:t>
            </a:r>
          </a:p>
        </p:txBody>
      </p:sp>
      <p:sp>
        <p:nvSpPr>
          <p:cNvPr id="210" name="Mechanism lane label">
            <a:extLst>
              <a:ext uri="{FF2B5EF4-FFF2-40B4-BE49-F238E27FC236}">
                <a16:creationId xmlns:a16="http://schemas.microsoft.com/office/drawing/2014/main" id="{E91E8A08-B025-4F31-D36D-EA3FD8929E0E}"/>
              </a:ext>
            </a:extLst>
          </p:cNvPr>
          <p:cNvSpPr/>
          <p:nvPr/>
        </p:nvSpPr>
        <p:spPr>
          <a:xfrm>
            <a:off x="1473200" y="6705600"/>
            <a:ext cx="2413000" cy="2184400"/>
          </a:xfrm>
          <a:prstGeom prst="roundRect">
            <a:avLst>
              <a:gd name="adj" fmla="val 8000"/>
            </a:avLst>
          </a:prstGeom>
          <a:solidFill>
            <a:srgbClr val="FFDE59"/>
          </a:solidFill>
          <a:ln>
            <a:noFill/>
          </a:ln>
        </p:spPr>
        <p:txBody>
          <a:bodyPr wrap="square" lIns="203200" tIns="203200" rIns="203200" bIns="20320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Mechanism / Markets</a:t>
            </a:r>
          </a:p>
        </p:txBody>
      </p:sp>
      <p:sp>
        <p:nvSpPr>
          <p:cNvPr id="211" name="Mechanism lane 1">
            <a:extLst>
              <a:ext uri="{FF2B5EF4-FFF2-40B4-BE49-F238E27FC236}">
                <a16:creationId xmlns:a16="http://schemas.microsoft.com/office/drawing/2014/main" id="{E9603A89-DCAA-CC34-25AB-91A260BCCDC1}"/>
              </a:ext>
            </a:extLst>
          </p:cNvPr>
          <p:cNvSpPr/>
          <p:nvPr/>
        </p:nvSpPr>
        <p:spPr>
          <a:xfrm>
            <a:off x="4038600" y="6705600"/>
            <a:ext cx="3082925" cy="2184400"/>
          </a:xfrm>
          <a:prstGeom prst="roundRect">
            <a:avLst>
              <a:gd name="adj" fmla="val 8000"/>
            </a:avLst>
          </a:prstGeom>
          <a:solidFill>
            <a:srgbClr val="FFDE59"/>
          </a:solidFill>
          <a:ln>
            <a:noFill/>
          </a:ln>
        </p:spPr>
        <p:txBody>
          <a:bodyPr wrap="square" lIns="177800" tIns="177800" rIns="177800" bIns="17780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Auction theory (Vickrey, 1961)</a:t>
            </a:r>
          </a:p>
        </p:txBody>
      </p:sp>
      <p:sp>
        <p:nvSpPr>
          <p:cNvPr id="212" name="Mechanism lane 2">
            <a:extLst>
              <a:ext uri="{FF2B5EF4-FFF2-40B4-BE49-F238E27FC236}">
                <a16:creationId xmlns:a16="http://schemas.microsoft.com/office/drawing/2014/main" id="{94CA1D7B-C264-AD74-1810-21F12EB2A871}"/>
              </a:ext>
            </a:extLst>
          </p:cNvPr>
          <p:cNvSpPr/>
          <p:nvPr/>
        </p:nvSpPr>
        <p:spPr>
          <a:xfrm>
            <a:off x="7273925" y="6705600"/>
            <a:ext cx="3082925" cy="2184400"/>
          </a:xfrm>
          <a:prstGeom prst="roundRect">
            <a:avLst>
              <a:gd name="adj" fmla="val 8000"/>
            </a:avLst>
          </a:prstGeom>
          <a:solidFill>
            <a:srgbClr val="FFDE59"/>
          </a:solidFill>
          <a:ln>
            <a:noFill/>
          </a:ln>
        </p:spPr>
        <p:txBody>
          <a:bodyPr wrap="square" lIns="177800" tIns="177800" rIns="177800" bIns="17780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Algorithmic mechanism design (1999/2001); combinatorial auctions for freight (2003)</a:t>
            </a:r>
          </a:p>
        </p:txBody>
      </p:sp>
      <p:sp>
        <p:nvSpPr>
          <p:cNvPr id="213" name="Mechanism lane 3">
            <a:extLst>
              <a:ext uri="{FF2B5EF4-FFF2-40B4-BE49-F238E27FC236}">
                <a16:creationId xmlns:a16="http://schemas.microsoft.com/office/drawing/2014/main" id="{DC9C42A3-0989-5776-BCC9-523F1ACFDD78}"/>
              </a:ext>
            </a:extLst>
          </p:cNvPr>
          <p:cNvSpPr/>
          <p:nvPr/>
        </p:nvSpPr>
        <p:spPr>
          <a:xfrm>
            <a:off x="10509250" y="6705600"/>
            <a:ext cx="3082925" cy="2184400"/>
          </a:xfrm>
          <a:prstGeom prst="roundRect">
            <a:avLst>
              <a:gd name="adj" fmla="val 8000"/>
            </a:avLst>
          </a:prstGeom>
          <a:solidFill>
            <a:srgbClr val="FFDE59"/>
          </a:solidFill>
          <a:ln>
            <a:noFill/>
          </a:ln>
        </p:spPr>
        <p:txBody>
          <a:bodyPr wrap="square" lIns="177800" tIns="177800" rIns="177800" bIns="17780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Auctions for ridesharing (2011–2012)</a:t>
            </a:r>
          </a:p>
        </p:txBody>
      </p:sp>
      <p:sp>
        <p:nvSpPr>
          <p:cNvPr id="214" name="Mechanism lane 4">
            <a:extLst>
              <a:ext uri="{FF2B5EF4-FFF2-40B4-BE49-F238E27FC236}">
                <a16:creationId xmlns:a16="http://schemas.microsoft.com/office/drawing/2014/main" id="{B443320C-4870-1E9D-B4BA-2D649C607C7A}"/>
              </a:ext>
            </a:extLst>
          </p:cNvPr>
          <p:cNvSpPr/>
          <p:nvPr/>
        </p:nvSpPr>
        <p:spPr>
          <a:xfrm>
            <a:off x="13744575" y="6705600"/>
            <a:ext cx="3082925" cy="2184400"/>
          </a:xfrm>
          <a:prstGeom prst="roundRect">
            <a:avLst>
              <a:gd name="adj" fmla="val 8000"/>
            </a:avLst>
          </a:prstGeom>
          <a:solidFill>
            <a:srgbClr val="FFDE59"/>
          </a:solidFill>
          <a:ln>
            <a:noFill/>
          </a:ln>
        </p:spPr>
        <p:txBody>
          <a:bodyPr wrap="square" lIns="177800" tIns="177800" rIns="177800" bIns="17780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Drivers are paid a preset compensation</a:t>
            </a:r>
          </a:p>
        </p:txBody>
      </p:sp>
      <p:sp>
        <p:nvSpPr>
          <p:cNvPr id="215" name="Footnote">
            <a:extLst>
              <a:ext uri="{FF2B5EF4-FFF2-40B4-BE49-F238E27FC236}">
                <a16:creationId xmlns:a16="http://schemas.microsoft.com/office/drawing/2014/main" id="{97C1A87C-D861-D7B4-7EA0-417EF03AA61F}"/>
              </a:ext>
            </a:extLst>
          </p:cNvPr>
          <p:cNvSpPr txBox="1"/>
          <p:nvPr/>
        </p:nvSpPr>
        <p:spPr>
          <a:xfrm>
            <a:off x="4038600" y="9118600"/>
            <a:ext cx="127889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i="1" dirty="0">
                <a:solidFill>
                  <a:srgbClr val="5A6B85"/>
                </a:solidFill>
                <a:latin typeface="Codec Pro"/>
                <a:ea typeface="Codec Pro"/>
                <a:cs typeface="Codec Pro"/>
                <a:sym typeface="Codec Pro"/>
              </a:rPr>
              <a:t>Representative landmarks, not a systematic survey. Dates are approximate.</a:t>
            </a:r>
          </a:p>
        </p:txBody>
      </p:sp>
    </p:spTree>
    <p:extLst>
      <p:ext uri="{BB962C8B-B14F-4D97-AF65-F5344CB8AC3E}">
        <p14:creationId xmlns:p14="http://schemas.microsoft.com/office/powerpoint/2010/main" val="3899238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0" y="-7962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5098" y="9258300"/>
            <a:ext cx="7315200" cy="1258824"/>
          </a:xfrm>
          <a:custGeom>
            <a:avLst/>
            <a:gdLst/>
            <a:ahLst/>
            <a:cxnLst/>
            <a:rect l="l" t="t" r="r" b="b"/>
            <a:pathLst>
              <a:path w="7315200" h="1258824">
                <a:moveTo>
                  <a:pt x="0" y="0"/>
                </a:moveTo>
                <a:lnTo>
                  <a:pt x="7315200" y="0"/>
                </a:lnTo>
                <a:lnTo>
                  <a:pt x="7315200" y="1258824"/>
                </a:lnTo>
                <a:lnTo>
                  <a:pt x="0" y="12588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 flipV="1">
            <a:off x="10972800" y="0"/>
            <a:ext cx="7315200" cy="1258824"/>
          </a:xfrm>
          <a:custGeom>
            <a:avLst/>
            <a:gdLst/>
            <a:ahLst/>
            <a:cxnLst/>
            <a:rect l="l" t="t" r="r" b="b"/>
            <a:pathLst>
              <a:path w="7315200" h="1258824">
                <a:moveTo>
                  <a:pt x="7315200" y="1258824"/>
                </a:moveTo>
                <a:lnTo>
                  <a:pt x="0" y="1258824"/>
                </a:lnTo>
                <a:lnTo>
                  <a:pt x="0" y="0"/>
                </a:lnTo>
                <a:lnTo>
                  <a:pt x="7315200" y="0"/>
                </a:lnTo>
                <a:lnTo>
                  <a:pt x="7315200" y="125882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061098" y="3600450"/>
            <a:ext cx="5054326" cy="991267"/>
            <a:chOff x="0" y="0"/>
            <a:chExt cx="1331181" cy="2610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31181" cy="261074"/>
            </a:xfrm>
            <a:custGeom>
              <a:avLst/>
              <a:gdLst/>
              <a:ahLst/>
              <a:cxnLst/>
              <a:rect l="l" t="t" r="r" b="b"/>
              <a:pathLst>
                <a:path w="1331181" h="261074">
                  <a:moveTo>
                    <a:pt x="39825" y="0"/>
                  </a:moveTo>
                  <a:lnTo>
                    <a:pt x="1291355" y="0"/>
                  </a:lnTo>
                  <a:cubicBezTo>
                    <a:pt x="1313350" y="0"/>
                    <a:pt x="1331181" y="17830"/>
                    <a:pt x="1331181" y="39825"/>
                  </a:cubicBezTo>
                  <a:lnTo>
                    <a:pt x="1331181" y="221249"/>
                  </a:lnTo>
                  <a:cubicBezTo>
                    <a:pt x="1331181" y="231812"/>
                    <a:pt x="1326985" y="241941"/>
                    <a:pt x="1319516" y="249410"/>
                  </a:cubicBezTo>
                  <a:cubicBezTo>
                    <a:pt x="1312047" y="256879"/>
                    <a:pt x="1301918" y="261074"/>
                    <a:pt x="1291355" y="261074"/>
                  </a:cubicBezTo>
                  <a:lnTo>
                    <a:pt x="39825" y="261074"/>
                  </a:lnTo>
                  <a:cubicBezTo>
                    <a:pt x="17830" y="261074"/>
                    <a:pt x="0" y="243244"/>
                    <a:pt x="0" y="221249"/>
                  </a:cubicBezTo>
                  <a:lnTo>
                    <a:pt x="0" y="39825"/>
                  </a:lnTo>
                  <a:cubicBezTo>
                    <a:pt x="0" y="17830"/>
                    <a:pt x="17830" y="0"/>
                    <a:pt x="39825" y="0"/>
                  </a:cubicBezTo>
                  <a:close/>
                </a:path>
              </a:pathLst>
            </a:custGeom>
            <a:solidFill>
              <a:srgbClr val="00599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31181" cy="29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16837" y="3706846"/>
            <a:ext cx="5054326" cy="991267"/>
            <a:chOff x="0" y="0"/>
            <a:chExt cx="1331181" cy="26107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31181" cy="261074"/>
            </a:xfrm>
            <a:custGeom>
              <a:avLst/>
              <a:gdLst/>
              <a:ahLst/>
              <a:cxnLst/>
              <a:rect l="l" t="t" r="r" b="b"/>
              <a:pathLst>
                <a:path w="1331181" h="261074">
                  <a:moveTo>
                    <a:pt x="39825" y="0"/>
                  </a:moveTo>
                  <a:lnTo>
                    <a:pt x="1291355" y="0"/>
                  </a:lnTo>
                  <a:cubicBezTo>
                    <a:pt x="1313350" y="0"/>
                    <a:pt x="1331181" y="17830"/>
                    <a:pt x="1331181" y="39825"/>
                  </a:cubicBezTo>
                  <a:lnTo>
                    <a:pt x="1331181" y="221249"/>
                  </a:lnTo>
                  <a:cubicBezTo>
                    <a:pt x="1331181" y="231812"/>
                    <a:pt x="1326985" y="241941"/>
                    <a:pt x="1319516" y="249410"/>
                  </a:cubicBezTo>
                  <a:cubicBezTo>
                    <a:pt x="1312047" y="256879"/>
                    <a:pt x="1301918" y="261074"/>
                    <a:pt x="1291355" y="261074"/>
                  </a:cubicBezTo>
                  <a:lnTo>
                    <a:pt x="39825" y="261074"/>
                  </a:lnTo>
                  <a:cubicBezTo>
                    <a:pt x="17830" y="261074"/>
                    <a:pt x="0" y="243244"/>
                    <a:pt x="0" y="221249"/>
                  </a:cubicBezTo>
                  <a:lnTo>
                    <a:pt x="0" y="39825"/>
                  </a:lnTo>
                  <a:cubicBezTo>
                    <a:pt x="0" y="17830"/>
                    <a:pt x="17830" y="0"/>
                    <a:pt x="39825" y="0"/>
                  </a:cubicBezTo>
                  <a:close/>
                </a:path>
              </a:pathLst>
            </a:custGeom>
            <a:solidFill>
              <a:srgbClr val="F7C61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31181" cy="29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172575" y="3813242"/>
            <a:ext cx="5054326" cy="991267"/>
            <a:chOff x="0" y="0"/>
            <a:chExt cx="1331181" cy="26107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31181" cy="261074"/>
            </a:xfrm>
            <a:custGeom>
              <a:avLst/>
              <a:gdLst/>
              <a:ahLst/>
              <a:cxnLst/>
              <a:rect l="l" t="t" r="r" b="b"/>
              <a:pathLst>
                <a:path w="1331181" h="261074">
                  <a:moveTo>
                    <a:pt x="39825" y="0"/>
                  </a:moveTo>
                  <a:lnTo>
                    <a:pt x="1291355" y="0"/>
                  </a:lnTo>
                  <a:cubicBezTo>
                    <a:pt x="1313350" y="0"/>
                    <a:pt x="1331181" y="17830"/>
                    <a:pt x="1331181" y="39825"/>
                  </a:cubicBezTo>
                  <a:lnTo>
                    <a:pt x="1331181" y="221249"/>
                  </a:lnTo>
                  <a:cubicBezTo>
                    <a:pt x="1331181" y="231812"/>
                    <a:pt x="1326985" y="241941"/>
                    <a:pt x="1319516" y="249410"/>
                  </a:cubicBezTo>
                  <a:cubicBezTo>
                    <a:pt x="1312047" y="256879"/>
                    <a:pt x="1301918" y="261074"/>
                    <a:pt x="1291355" y="261074"/>
                  </a:cubicBezTo>
                  <a:lnTo>
                    <a:pt x="39825" y="261074"/>
                  </a:lnTo>
                  <a:cubicBezTo>
                    <a:pt x="17830" y="261074"/>
                    <a:pt x="0" y="243244"/>
                    <a:pt x="0" y="221249"/>
                  </a:cubicBezTo>
                  <a:lnTo>
                    <a:pt x="0" y="39825"/>
                  </a:lnTo>
                  <a:cubicBezTo>
                    <a:pt x="0" y="17830"/>
                    <a:pt x="17830" y="0"/>
                    <a:pt x="39825" y="0"/>
                  </a:cubicBezTo>
                  <a:close/>
                </a:path>
              </a:pathLst>
            </a:custGeom>
            <a:solidFill>
              <a:srgbClr val="00599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31181" cy="29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93497" y="4804509"/>
            <a:ext cx="5054326" cy="991267"/>
            <a:chOff x="0" y="0"/>
            <a:chExt cx="1331181" cy="26107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31181" cy="261074"/>
            </a:xfrm>
            <a:custGeom>
              <a:avLst/>
              <a:gdLst/>
              <a:ahLst/>
              <a:cxnLst/>
              <a:rect l="l" t="t" r="r" b="b"/>
              <a:pathLst>
                <a:path w="1331181" h="261074">
                  <a:moveTo>
                    <a:pt x="39825" y="0"/>
                  </a:moveTo>
                  <a:lnTo>
                    <a:pt x="1291355" y="0"/>
                  </a:lnTo>
                  <a:cubicBezTo>
                    <a:pt x="1313350" y="0"/>
                    <a:pt x="1331181" y="17830"/>
                    <a:pt x="1331181" y="39825"/>
                  </a:cubicBezTo>
                  <a:lnTo>
                    <a:pt x="1331181" y="221249"/>
                  </a:lnTo>
                  <a:cubicBezTo>
                    <a:pt x="1331181" y="231812"/>
                    <a:pt x="1326985" y="241941"/>
                    <a:pt x="1319516" y="249410"/>
                  </a:cubicBezTo>
                  <a:cubicBezTo>
                    <a:pt x="1312047" y="256879"/>
                    <a:pt x="1301918" y="261074"/>
                    <a:pt x="1291355" y="261074"/>
                  </a:cubicBezTo>
                  <a:lnTo>
                    <a:pt x="39825" y="261074"/>
                  </a:lnTo>
                  <a:cubicBezTo>
                    <a:pt x="17830" y="261074"/>
                    <a:pt x="0" y="243244"/>
                    <a:pt x="0" y="221249"/>
                  </a:cubicBezTo>
                  <a:lnTo>
                    <a:pt x="0" y="39825"/>
                  </a:lnTo>
                  <a:cubicBezTo>
                    <a:pt x="0" y="17830"/>
                    <a:pt x="17830" y="0"/>
                    <a:pt x="39825" y="0"/>
                  </a:cubicBezTo>
                  <a:close/>
                </a:path>
              </a:pathLst>
            </a:custGeom>
            <a:solidFill>
              <a:srgbClr val="00599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331181" cy="29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649235" y="4910905"/>
            <a:ext cx="5054326" cy="991267"/>
            <a:chOff x="0" y="0"/>
            <a:chExt cx="1331181" cy="26107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31181" cy="261074"/>
            </a:xfrm>
            <a:custGeom>
              <a:avLst/>
              <a:gdLst/>
              <a:ahLst/>
              <a:cxnLst/>
              <a:rect l="l" t="t" r="r" b="b"/>
              <a:pathLst>
                <a:path w="1331181" h="261074">
                  <a:moveTo>
                    <a:pt x="39825" y="0"/>
                  </a:moveTo>
                  <a:lnTo>
                    <a:pt x="1291355" y="0"/>
                  </a:lnTo>
                  <a:cubicBezTo>
                    <a:pt x="1313350" y="0"/>
                    <a:pt x="1331181" y="17830"/>
                    <a:pt x="1331181" y="39825"/>
                  </a:cubicBezTo>
                  <a:lnTo>
                    <a:pt x="1331181" y="221249"/>
                  </a:lnTo>
                  <a:cubicBezTo>
                    <a:pt x="1331181" y="231812"/>
                    <a:pt x="1326985" y="241941"/>
                    <a:pt x="1319516" y="249410"/>
                  </a:cubicBezTo>
                  <a:cubicBezTo>
                    <a:pt x="1312047" y="256879"/>
                    <a:pt x="1301918" y="261074"/>
                    <a:pt x="1291355" y="261074"/>
                  </a:cubicBezTo>
                  <a:lnTo>
                    <a:pt x="39825" y="261074"/>
                  </a:lnTo>
                  <a:cubicBezTo>
                    <a:pt x="17830" y="261074"/>
                    <a:pt x="0" y="243244"/>
                    <a:pt x="0" y="221249"/>
                  </a:cubicBezTo>
                  <a:lnTo>
                    <a:pt x="0" y="39825"/>
                  </a:lnTo>
                  <a:cubicBezTo>
                    <a:pt x="0" y="17830"/>
                    <a:pt x="17830" y="0"/>
                    <a:pt x="39825" y="0"/>
                  </a:cubicBezTo>
                  <a:close/>
                </a:path>
              </a:pathLst>
            </a:custGeom>
            <a:solidFill>
              <a:srgbClr val="F7C61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331181" cy="29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204974" y="5017301"/>
            <a:ext cx="5054326" cy="991267"/>
            <a:chOff x="0" y="0"/>
            <a:chExt cx="1331181" cy="26107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31181" cy="261074"/>
            </a:xfrm>
            <a:custGeom>
              <a:avLst/>
              <a:gdLst/>
              <a:ahLst/>
              <a:cxnLst/>
              <a:rect l="l" t="t" r="r" b="b"/>
              <a:pathLst>
                <a:path w="1331181" h="261074">
                  <a:moveTo>
                    <a:pt x="39825" y="0"/>
                  </a:moveTo>
                  <a:lnTo>
                    <a:pt x="1291355" y="0"/>
                  </a:lnTo>
                  <a:cubicBezTo>
                    <a:pt x="1313350" y="0"/>
                    <a:pt x="1331181" y="17830"/>
                    <a:pt x="1331181" y="39825"/>
                  </a:cubicBezTo>
                  <a:lnTo>
                    <a:pt x="1331181" y="221249"/>
                  </a:lnTo>
                  <a:cubicBezTo>
                    <a:pt x="1331181" y="231812"/>
                    <a:pt x="1326985" y="241941"/>
                    <a:pt x="1319516" y="249410"/>
                  </a:cubicBezTo>
                  <a:cubicBezTo>
                    <a:pt x="1312047" y="256879"/>
                    <a:pt x="1301918" y="261074"/>
                    <a:pt x="1291355" y="261074"/>
                  </a:cubicBezTo>
                  <a:lnTo>
                    <a:pt x="39825" y="261074"/>
                  </a:lnTo>
                  <a:cubicBezTo>
                    <a:pt x="17830" y="261074"/>
                    <a:pt x="0" y="243244"/>
                    <a:pt x="0" y="221249"/>
                  </a:cubicBezTo>
                  <a:lnTo>
                    <a:pt x="0" y="39825"/>
                  </a:lnTo>
                  <a:cubicBezTo>
                    <a:pt x="0" y="17830"/>
                    <a:pt x="17830" y="0"/>
                    <a:pt x="39825" y="0"/>
                  </a:cubicBezTo>
                  <a:close/>
                </a:path>
              </a:pathLst>
            </a:custGeom>
            <a:solidFill>
              <a:srgbClr val="00599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331181" cy="29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838968" y="6219739"/>
            <a:ext cx="5054326" cy="991267"/>
            <a:chOff x="0" y="0"/>
            <a:chExt cx="1331181" cy="26107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31181" cy="261074"/>
            </a:xfrm>
            <a:custGeom>
              <a:avLst/>
              <a:gdLst/>
              <a:ahLst/>
              <a:cxnLst/>
              <a:rect l="l" t="t" r="r" b="b"/>
              <a:pathLst>
                <a:path w="1331181" h="261074">
                  <a:moveTo>
                    <a:pt x="39825" y="0"/>
                  </a:moveTo>
                  <a:lnTo>
                    <a:pt x="1291355" y="0"/>
                  </a:lnTo>
                  <a:cubicBezTo>
                    <a:pt x="1313350" y="0"/>
                    <a:pt x="1331181" y="17830"/>
                    <a:pt x="1331181" y="39825"/>
                  </a:cubicBezTo>
                  <a:lnTo>
                    <a:pt x="1331181" y="221249"/>
                  </a:lnTo>
                  <a:cubicBezTo>
                    <a:pt x="1331181" y="231812"/>
                    <a:pt x="1326985" y="241941"/>
                    <a:pt x="1319516" y="249410"/>
                  </a:cubicBezTo>
                  <a:cubicBezTo>
                    <a:pt x="1312047" y="256879"/>
                    <a:pt x="1301918" y="261074"/>
                    <a:pt x="1291355" y="261074"/>
                  </a:cubicBezTo>
                  <a:lnTo>
                    <a:pt x="39825" y="261074"/>
                  </a:lnTo>
                  <a:cubicBezTo>
                    <a:pt x="17830" y="261074"/>
                    <a:pt x="0" y="243244"/>
                    <a:pt x="0" y="221249"/>
                  </a:cubicBezTo>
                  <a:lnTo>
                    <a:pt x="0" y="39825"/>
                  </a:lnTo>
                  <a:cubicBezTo>
                    <a:pt x="0" y="17830"/>
                    <a:pt x="17830" y="0"/>
                    <a:pt x="39825" y="0"/>
                  </a:cubicBezTo>
                  <a:close/>
                </a:path>
              </a:pathLst>
            </a:custGeom>
            <a:solidFill>
              <a:srgbClr val="F7C61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331181" cy="29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394706" y="6326135"/>
            <a:ext cx="5054326" cy="991267"/>
            <a:chOff x="0" y="0"/>
            <a:chExt cx="1331181" cy="26107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31181" cy="261074"/>
            </a:xfrm>
            <a:custGeom>
              <a:avLst/>
              <a:gdLst/>
              <a:ahLst/>
              <a:cxnLst/>
              <a:rect l="l" t="t" r="r" b="b"/>
              <a:pathLst>
                <a:path w="1331181" h="261074">
                  <a:moveTo>
                    <a:pt x="39825" y="0"/>
                  </a:moveTo>
                  <a:lnTo>
                    <a:pt x="1291355" y="0"/>
                  </a:lnTo>
                  <a:cubicBezTo>
                    <a:pt x="1313350" y="0"/>
                    <a:pt x="1331181" y="17830"/>
                    <a:pt x="1331181" y="39825"/>
                  </a:cubicBezTo>
                  <a:lnTo>
                    <a:pt x="1331181" y="221249"/>
                  </a:lnTo>
                  <a:cubicBezTo>
                    <a:pt x="1331181" y="231812"/>
                    <a:pt x="1326985" y="241941"/>
                    <a:pt x="1319516" y="249410"/>
                  </a:cubicBezTo>
                  <a:cubicBezTo>
                    <a:pt x="1312047" y="256879"/>
                    <a:pt x="1301918" y="261074"/>
                    <a:pt x="1291355" y="261074"/>
                  </a:cubicBezTo>
                  <a:lnTo>
                    <a:pt x="39825" y="261074"/>
                  </a:lnTo>
                  <a:cubicBezTo>
                    <a:pt x="17830" y="261074"/>
                    <a:pt x="0" y="243244"/>
                    <a:pt x="0" y="221249"/>
                  </a:cubicBezTo>
                  <a:lnTo>
                    <a:pt x="0" y="39825"/>
                  </a:lnTo>
                  <a:cubicBezTo>
                    <a:pt x="0" y="17830"/>
                    <a:pt x="17830" y="0"/>
                    <a:pt x="39825" y="0"/>
                  </a:cubicBezTo>
                  <a:close/>
                </a:path>
              </a:pathLst>
            </a:custGeom>
            <a:solidFill>
              <a:srgbClr val="00599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331181" cy="29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6171019" y="1915087"/>
            <a:ext cx="5945962" cy="125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61"/>
              </a:lnSpc>
            </a:pPr>
            <a:r>
              <a:rPr lang="en-US" sz="9106">
                <a:solidFill>
                  <a:srgbClr val="005990"/>
                </a:solidFill>
                <a:latin typeface="Anton"/>
                <a:ea typeface="Anton"/>
                <a:cs typeface="Anton"/>
                <a:sym typeface="Anton"/>
              </a:rPr>
              <a:t>OVERVIEW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90477" y="3746567"/>
            <a:ext cx="3728067" cy="61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736" b="1" spc="18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Introduction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49235" y="3862488"/>
            <a:ext cx="5054326" cy="61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736" b="1" spc="18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Research Problem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934575" y="3937268"/>
            <a:ext cx="3728067" cy="61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736" b="1" spc="18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Literary Review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90477" y="4960151"/>
            <a:ext cx="3728067" cy="61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736" b="1" spc="18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Methodology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49235" y="5068418"/>
            <a:ext cx="5054326" cy="61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736" b="1" spc="18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Result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934575" y="5162550"/>
            <a:ext cx="3728067" cy="61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736" b="1" spc="18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Findings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838968" y="6426047"/>
            <a:ext cx="5054326" cy="61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736" b="1" spc="18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Discussion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049078" y="6513393"/>
            <a:ext cx="3728067" cy="61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736" b="1" spc="18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Conclusion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2080885" y="0"/>
            <a:ext cx="6207115" cy="4114800"/>
          </a:xfrm>
          <a:custGeom>
            <a:avLst/>
            <a:gdLst/>
            <a:ahLst/>
            <a:cxnLst/>
            <a:rect l="l" t="t" r="r" b="b"/>
            <a:pathLst>
              <a:path w="6207115" h="4114800">
                <a:moveTo>
                  <a:pt x="620711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07115" y="0"/>
                </a:lnTo>
                <a:lnTo>
                  <a:pt x="6207115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9568750" y="3173446"/>
            <a:ext cx="5246370" cy="6084854"/>
            <a:chOff x="0" y="0"/>
            <a:chExt cx="812800" cy="9427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942703"/>
            </a:xfrm>
            <a:custGeom>
              <a:avLst/>
              <a:gdLst/>
              <a:ahLst/>
              <a:cxnLst/>
              <a:rect l="l" t="t" r="r" b="b"/>
              <a:pathLst>
                <a:path w="812800" h="942703">
                  <a:moveTo>
                    <a:pt x="0" y="0"/>
                  </a:moveTo>
                  <a:lnTo>
                    <a:pt x="812800" y="0"/>
                  </a:lnTo>
                  <a:lnTo>
                    <a:pt x="812800" y="942703"/>
                  </a:lnTo>
                  <a:lnTo>
                    <a:pt x="0" y="942703"/>
                  </a:lnTo>
                  <a:close/>
                </a:path>
              </a:pathLst>
            </a:custGeom>
            <a:blipFill>
              <a:blip r:embed="rId4"/>
              <a:stretch>
                <a:fillRect l="-37041" r="-3704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105098" y="9258300"/>
            <a:ext cx="7315200" cy="1258824"/>
          </a:xfrm>
          <a:custGeom>
            <a:avLst/>
            <a:gdLst/>
            <a:ahLst/>
            <a:cxnLst/>
            <a:rect l="l" t="t" r="r" b="b"/>
            <a:pathLst>
              <a:path w="7315200" h="1258824">
                <a:moveTo>
                  <a:pt x="0" y="0"/>
                </a:moveTo>
                <a:lnTo>
                  <a:pt x="7315200" y="0"/>
                </a:lnTo>
                <a:lnTo>
                  <a:pt x="7315200" y="1258824"/>
                </a:lnTo>
                <a:lnTo>
                  <a:pt x="0" y="12588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474335" y="1914126"/>
            <a:ext cx="5945962" cy="125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5990"/>
                </a:solidFill>
                <a:latin typeface="Anton"/>
                <a:ea typeface="Anton"/>
                <a:cs typeface="Anton"/>
                <a:sym typeface="Anton"/>
              </a:rPr>
              <a:t>ABSTRACT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74335" y="3516527"/>
            <a:ext cx="8094415" cy="292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Phasellus a lacus sit amet urna tempor sollicitudin. Cras pretium tempor elit blandit egestas.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74335" y="6781066"/>
            <a:ext cx="8094415" cy="2102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0" y="-7962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5098" y="9258300"/>
            <a:ext cx="7315200" cy="1258824"/>
          </a:xfrm>
          <a:custGeom>
            <a:avLst/>
            <a:gdLst/>
            <a:ahLst/>
            <a:cxnLst/>
            <a:rect l="l" t="t" r="r" b="b"/>
            <a:pathLst>
              <a:path w="7315200" h="1258824">
                <a:moveTo>
                  <a:pt x="0" y="0"/>
                </a:moveTo>
                <a:lnTo>
                  <a:pt x="7315200" y="0"/>
                </a:lnTo>
                <a:lnTo>
                  <a:pt x="7315200" y="1258824"/>
                </a:lnTo>
                <a:lnTo>
                  <a:pt x="0" y="12588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 flipV="1">
            <a:off x="10972800" y="0"/>
            <a:ext cx="7315200" cy="1258824"/>
          </a:xfrm>
          <a:custGeom>
            <a:avLst/>
            <a:gdLst/>
            <a:ahLst/>
            <a:cxnLst/>
            <a:rect l="l" t="t" r="r" b="b"/>
            <a:pathLst>
              <a:path w="7315200" h="1258824">
                <a:moveTo>
                  <a:pt x="7315200" y="1258824"/>
                </a:moveTo>
                <a:lnTo>
                  <a:pt x="0" y="1258824"/>
                </a:lnTo>
                <a:lnTo>
                  <a:pt x="0" y="0"/>
                </a:lnTo>
                <a:lnTo>
                  <a:pt x="7315200" y="0"/>
                </a:lnTo>
                <a:lnTo>
                  <a:pt x="7315200" y="125882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061098" y="3600450"/>
            <a:ext cx="5054326" cy="991267"/>
            <a:chOff x="0" y="0"/>
            <a:chExt cx="1331181" cy="2610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31181" cy="261074"/>
            </a:xfrm>
            <a:custGeom>
              <a:avLst/>
              <a:gdLst/>
              <a:ahLst/>
              <a:cxnLst/>
              <a:rect l="l" t="t" r="r" b="b"/>
              <a:pathLst>
                <a:path w="1331181" h="261074">
                  <a:moveTo>
                    <a:pt x="39825" y="0"/>
                  </a:moveTo>
                  <a:lnTo>
                    <a:pt x="1291355" y="0"/>
                  </a:lnTo>
                  <a:cubicBezTo>
                    <a:pt x="1313350" y="0"/>
                    <a:pt x="1331181" y="17830"/>
                    <a:pt x="1331181" y="39825"/>
                  </a:cubicBezTo>
                  <a:lnTo>
                    <a:pt x="1331181" y="221249"/>
                  </a:lnTo>
                  <a:cubicBezTo>
                    <a:pt x="1331181" y="231812"/>
                    <a:pt x="1326985" y="241941"/>
                    <a:pt x="1319516" y="249410"/>
                  </a:cubicBezTo>
                  <a:cubicBezTo>
                    <a:pt x="1312047" y="256879"/>
                    <a:pt x="1301918" y="261074"/>
                    <a:pt x="1291355" y="261074"/>
                  </a:cubicBezTo>
                  <a:lnTo>
                    <a:pt x="39825" y="261074"/>
                  </a:lnTo>
                  <a:cubicBezTo>
                    <a:pt x="17830" y="261074"/>
                    <a:pt x="0" y="243244"/>
                    <a:pt x="0" y="221249"/>
                  </a:cubicBezTo>
                  <a:lnTo>
                    <a:pt x="0" y="39825"/>
                  </a:lnTo>
                  <a:cubicBezTo>
                    <a:pt x="0" y="17830"/>
                    <a:pt x="17830" y="0"/>
                    <a:pt x="39825" y="0"/>
                  </a:cubicBezTo>
                  <a:close/>
                </a:path>
              </a:pathLst>
            </a:custGeom>
            <a:solidFill>
              <a:srgbClr val="00599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31181" cy="29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16837" y="3706846"/>
            <a:ext cx="5054326" cy="991267"/>
            <a:chOff x="0" y="0"/>
            <a:chExt cx="1331181" cy="26107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31181" cy="261074"/>
            </a:xfrm>
            <a:custGeom>
              <a:avLst/>
              <a:gdLst/>
              <a:ahLst/>
              <a:cxnLst/>
              <a:rect l="l" t="t" r="r" b="b"/>
              <a:pathLst>
                <a:path w="1331181" h="261074">
                  <a:moveTo>
                    <a:pt x="39825" y="0"/>
                  </a:moveTo>
                  <a:lnTo>
                    <a:pt x="1291355" y="0"/>
                  </a:lnTo>
                  <a:cubicBezTo>
                    <a:pt x="1313350" y="0"/>
                    <a:pt x="1331181" y="17830"/>
                    <a:pt x="1331181" y="39825"/>
                  </a:cubicBezTo>
                  <a:lnTo>
                    <a:pt x="1331181" y="221249"/>
                  </a:lnTo>
                  <a:cubicBezTo>
                    <a:pt x="1331181" y="231812"/>
                    <a:pt x="1326985" y="241941"/>
                    <a:pt x="1319516" y="249410"/>
                  </a:cubicBezTo>
                  <a:cubicBezTo>
                    <a:pt x="1312047" y="256879"/>
                    <a:pt x="1301918" y="261074"/>
                    <a:pt x="1291355" y="261074"/>
                  </a:cubicBezTo>
                  <a:lnTo>
                    <a:pt x="39825" y="261074"/>
                  </a:lnTo>
                  <a:cubicBezTo>
                    <a:pt x="17830" y="261074"/>
                    <a:pt x="0" y="243244"/>
                    <a:pt x="0" y="221249"/>
                  </a:cubicBezTo>
                  <a:lnTo>
                    <a:pt x="0" y="39825"/>
                  </a:lnTo>
                  <a:cubicBezTo>
                    <a:pt x="0" y="17830"/>
                    <a:pt x="17830" y="0"/>
                    <a:pt x="39825" y="0"/>
                  </a:cubicBezTo>
                  <a:close/>
                </a:path>
              </a:pathLst>
            </a:custGeom>
            <a:solidFill>
              <a:srgbClr val="F7C61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31181" cy="29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172575" y="3813242"/>
            <a:ext cx="5054326" cy="991267"/>
            <a:chOff x="0" y="0"/>
            <a:chExt cx="1331181" cy="26107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31181" cy="261074"/>
            </a:xfrm>
            <a:custGeom>
              <a:avLst/>
              <a:gdLst/>
              <a:ahLst/>
              <a:cxnLst/>
              <a:rect l="l" t="t" r="r" b="b"/>
              <a:pathLst>
                <a:path w="1331181" h="261074">
                  <a:moveTo>
                    <a:pt x="39825" y="0"/>
                  </a:moveTo>
                  <a:lnTo>
                    <a:pt x="1291355" y="0"/>
                  </a:lnTo>
                  <a:cubicBezTo>
                    <a:pt x="1313350" y="0"/>
                    <a:pt x="1331181" y="17830"/>
                    <a:pt x="1331181" y="39825"/>
                  </a:cubicBezTo>
                  <a:lnTo>
                    <a:pt x="1331181" y="221249"/>
                  </a:lnTo>
                  <a:cubicBezTo>
                    <a:pt x="1331181" y="231812"/>
                    <a:pt x="1326985" y="241941"/>
                    <a:pt x="1319516" y="249410"/>
                  </a:cubicBezTo>
                  <a:cubicBezTo>
                    <a:pt x="1312047" y="256879"/>
                    <a:pt x="1301918" y="261074"/>
                    <a:pt x="1291355" y="261074"/>
                  </a:cubicBezTo>
                  <a:lnTo>
                    <a:pt x="39825" y="261074"/>
                  </a:lnTo>
                  <a:cubicBezTo>
                    <a:pt x="17830" y="261074"/>
                    <a:pt x="0" y="243244"/>
                    <a:pt x="0" y="221249"/>
                  </a:cubicBezTo>
                  <a:lnTo>
                    <a:pt x="0" y="39825"/>
                  </a:lnTo>
                  <a:cubicBezTo>
                    <a:pt x="0" y="17830"/>
                    <a:pt x="17830" y="0"/>
                    <a:pt x="39825" y="0"/>
                  </a:cubicBezTo>
                  <a:close/>
                </a:path>
              </a:pathLst>
            </a:custGeom>
            <a:solidFill>
              <a:srgbClr val="00599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31181" cy="29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93497" y="4804509"/>
            <a:ext cx="5054326" cy="991267"/>
            <a:chOff x="0" y="0"/>
            <a:chExt cx="1331181" cy="26107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31181" cy="261074"/>
            </a:xfrm>
            <a:custGeom>
              <a:avLst/>
              <a:gdLst/>
              <a:ahLst/>
              <a:cxnLst/>
              <a:rect l="l" t="t" r="r" b="b"/>
              <a:pathLst>
                <a:path w="1331181" h="261074">
                  <a:moveTo>
                    <a:pt x="39825" y="0"/>
                  </a:moveTo>
                  <a:lnTo>
                    <a:pt x="1291355" y="0"/>
                  </a:lnTo>
                  <a:cubicBezTo>
                    <a:pt x="1313350" y="0"/>
                    <a:pt x="1331181" y="17830"/>
                    <a:pt x="1331181" y="39825"/>
                  </a:cubicBezTo>
                  <a:lnTo>
                    <a:pt x="1331181" y="221249"/>
                  </a:lnTo>
                  <a:cubicBezTo>
                    <a:pt x="1331181" y="231812"/>
                    <a:pt x="1326985" y="241941"/>
                    <a:pt x="1319516" y="249410"/>
                  </a:cubicBezTo>
                  <a:cubicBezTo>
                    <a:pt x="1312047" y="256879"/>
                    <a:pt x="1301918" y="261074"/>
                    <a:pt x="1291355" y="261074"/>
                  </a:cubicBezTo>
                  <a:lnTo>
                    <a:pt x="39825" y="261074"/>
                  </a:lnTo>
                  <a:cubicBezTo>
                    <a:pt x="17830" y="261074"/>
                    <a:pt x="0" y="243244"/>
                    <a:pt x="0" y="221249"/>
                  </a:cubicBezTo>
                  <a:lnTo>
                    <a:pt x="0" y="39825"/>
                  </a:lnTo>
                  <a:cubicBezTo>
                    <a:pt x="0" y="17830"/>
                    <a:pt x="17830" y="0"/>
                    <a:pt x="39825" y="0"/>
                  </a:cubicBezTo>
                  <a:close/>
                </a:path>
              </a:pathLst>
            </a:custGeom>
            <a:solidFill>
              <a:srgbClr val="00599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331181" cy="29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649235" y="4910905"/>
            <a:ext cx="5054326" cy="991267"/>
            <a:chOff x="0" y="0"/>
            <a:chExt cx="1331181" cy="26107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31181" cy="261074"/>
            </a:xfrm>
            <a:custGeom>
              <a:avLst/>
              <a:gdLst/>
              <a:ahLst/>
              <a:cxnLst/>
              <a:rect l="l" t="t" r="r" b="b"/>
              <a:pathLst>
                <a:path w="1331181" h="261074">
                  <a:moveTo>
                    <a:pt x="39825" y="0"/>
                  </a:moveTo>
                  <a:lnTo>
                    <a:pt x="1291355" y="0"/>
                  </a:lnTo>
                  <a:cubicBezTo>
                    <a:pt x="1313350" y="0"/>
                    <a:pt x="1331181" y="17830"/>
                    <a:pt x="1331181" y="39825"/>
                  </a:cubicBezTo>
                  <a:lnTo>
                    <a:pt x="1331181" y="221249"/>
                  </a:lnTo>
                  <a:cubicBezTo>
                    <a:pt x="1331181" y="231812"/>
                    <a:pt x="1326985" y="241941"/>
                    <a:pt x="1319516" y="249410"/>
                  </a:cubicBezTo>
                  <a:cubicBezTo>
                    <a:pt x="1312047" y="256879"/>
                    <a:pt x="1301918" y="261074"/>
                    <a:pt x="1291355" y="261074"/>
                  </a:cubicBezTo>
                  <a:lnTo>
                    <a:pt x="39825" y="261074"/>
                  </a:lnTo>
                  <a:cubicBezTo>
                    <a:pt x="17830" y="261074"/>
                    <a:pt x="0" y="243244"/>
                    <a:pt x="0" y="221249"/>
                  </a:cubicBezTo>
                  <a:lnTo>
                    <a:pt x="0" y="39825"/>
                  </a:lnTo>
                  <a:cubicBezTo>
                    <a:pt x="0" y="17830"/>
                    <a:pt x="17830" y="0"/>
                    <a:pt x="39825" y="0"/>
                  </a:cubicBezTo>
                  <a:close/>
                </a:path>
              </a:pathLst>
            </a:custGeom>
            <a:solidFill>
              <a:srgbClr val="F7C61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331181" cy="29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204974" y="5017301"/>
            <a:ext cx="5054326" cy="991267"/>
            <a:chOff x="0" y="0"/>
            <a:chExt cx="1331181" cy="26107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31181" cy="261074"/>
            </a:xfrm>
            <a:custGeom>
              <a:avLst/>
              <a:gdLst/>
              <a:ahLst/>
              <a:cxnLst/>
              <a:rect l="l" t="t" r="r" b="b"/>
              <a:pathLst>
                <a:path w="1331181" h="261074">
                  <a:moveTo>
                    <a:pt x="39825" y="0"/>
                  </a:moveTo>
                  <a:lnTo>
                    <a:pt x="1291355" y="0"/>
                  </a:lnTo>
                  <a:cubicBezTo>
                    <a:pt x="1313350" y="0"/>
                    <a:pt x="1331181" y="17830"/>
                    <a:pt x="1331181" y="39825"/>
                  </a:cubicBezTo>
                  <a:lnTo>
                    <a:pt x="1331181" y="221249"/>
                  </a:lnTo>
                  <a:cubicBezTo>
                    <a:pt x="1331181" y="231812"/>
                    <a:pt x="1326985" y="241941"/>
                    <a:pt x="1319516" y="249410"/>
                  </a:cubicBezTo>
                  <a:cubicBezTo>
                    <a:pt x="1312047" y="256879"/>
                    <a:pt x="1301918" y="261074"/>
                    <a:pt x="1291355" y="261074"/>
                  </a:cubicBezTo>
                  <a:lnTo>
                    <a:pt x="39825" y="261074"/>
                  </a:lnTo>
                  <a:cubicBezTo>
                    <a:pt x="17830" y="261074"/>
                    <a:pt x="0" y="243244"/>
                    <a:pt x="0" y="221249"/>
                  </a:cubicBezTo>
                  <a:lnTo>
                    <a:pt x="0" y="39825"/>
                  </a:lnTo>
                  <a:cubicBezTo>
                    <a:pt x="0" y="17830"/>
                    <a:pt x="17830" y="0"/>
                    <a:pt x="39825" y="0"/>
                  </a:cubicBezTo>
                  <a:close/>
                </a:path>
              </a:pathLst>
            </a:custGeom>
            <a:solidFill>
              <a:srgbClr val="00599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331181" cy="29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838968" y="6219739"/>
            <a:ext cx="5054326" cy="991267"/>
            <a:chOff x="0" y="0"/>
            <a:chExt cx="1331181" cy="26107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31181" cy="261074"/>
            </a:xfrm>
            <a:custGeom>
              <a:avLst/>
              <a:gdLst/>
              <a:ahLst/>
              <a:cxnLst/>
              <a:rect l="l" t="t" r="r" b="b"/>
              <a:pathLst>
                <a:path w="1331181" h="261074">
                  <a:moveTo>
                    <a:pt x="39825" y="0"/>
                  </a:moveTo>
                  <a:lnTo>
                    <a:pt x="1291355" y="0"/>
                  </a:lnTo>
                  <a:cubicBezTo>
                    <a:pt x="1313350" y="0"/>
                    <a:pt x="1331181" y="17830"/>
                    <a:pt x="1331181" y="39825"/>
                  </a:cubicBezTo>
                  <a:lnTo>
                    <a:pt x="1331181" y="221249"/>
                  </a:lnTo>
                  <a:cubicBezTo>
                    <a:pt x="1331181" y="231812"/>
                    <a:pt x="1326985" y="241941"/>
                    <a:pt x="1319516" y="249410"/>
                  </a:cubicBezTo>
                  <a:cubicBezTo>
                    <a:pt x="1312047" y="256879"/>
                    <a:pt x="1301918" y="261074"/>
                    <a:pt x="1291355" y="261074"/>
                  </a:cubicBezTo>
                  <a:lnTo>
                    <a:pt x="39825" y="261074"/>
                  </a:lnTo>
                  <a:cubicBezTo>
                    <a:pt x="17830" y="261074"/>
                    <a:pt x="0" y="243244"/>
                    <a:pt x="0" y="221249"/>
                  </a:cubicBezTo>
                  <a:lnTo>
                    <a:pt x="0" y="39825"/>
                  </a:lnTo>
                  <a:cubicBezTo>
                    <a:pt x="0" y="17830"/>
                    <a:pt x="17830" y="0"/>
                    <a:pt x="39825" y="0"/>
                  </a:cubicBezTo>
                  <a:close/>
                </a:path>
              </a:pathLst>
            </a:custGeom>
            <a:solidFill>
              <a:srgbClr val="F7C61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331181" cy="29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394706" y="6326135"/>
            <a:ext cx="5054326" cy="991267"/>
            <a:chOff x="0" y="0"/>
            <a:chExt cx="1331181" cy="26107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31181" cy="261074"/>
            </a:xfrm>
            <a:custGeom>
              <a:avLst/>
              <a:gdLst/>
              <a:ahLst/>
              <a:cxnLst/>
              <a:rect l="l" t="t" r="r" b="b"/>
              <a:pathLst>
                <a:path w="1331181" h="261074">
                  <a:moveTo>
                    <a:pt x="39825" y="0"/>
                  </a:moveTo>
                  <a:lnTo>
                    <a:pt x="1291355" y="0"/>
                  </a:lnTo>
                  <a:cubicBezTo>
                    <a:pt x="1313350" y="0"/>
                    <a:pt x="1331181" y="17830"/>
                    <a:pt x="1331181" y="39825"/>
                  </a:cubicBezTo>
                  <a:lnTo>
                    <a:pt x="1331181" y="221249"/>
                  </a:lnTo>
                  <a:cubicBezTo>
                    <a:pt x="1331181" y="231812"/>
                    <a:pt x="1326985" y="241941"/>
                    <a:pt x="1319516" y="249410"/>
                  </a:cubicBezTo>
                  <a:cubicBezTo>
                    <a:pt x="1312047" y="256879"/>
                    <a:pt x="1301918" y="261074"/>
                    <a:pt x="1291355" y="261074"/>
                  </a:cubicBezTo>
                  <a:lnTo>
                    <a:pt x="39825" y="261074"/>
                  </a:lnTo>
                  <a:cubicBezTo>
                    <a:pt x="17830" y="261074"/>
                    <a:pt x="0" y="243244"/>
                    <a:pt x="0" y="221249"/>
                  </a:cubicBezTo>
                  <a:lnTo>
                    <a:pt x="0" y="39825"/>
                  </a:lnTo>
                  <a:cubicBezTo>
                    <a:pt x="0" y="17830"/>
                    <a:pt x="17830" y="0"/>
                    <a:pt x="39825" y="0"/>
                  </a:cubicBezTo>
                  <a:close/>
                </a:path>
              </a:pathLst>
            </a:custGeom>
            <a:solidFill>
              <a:srgbClr val="00599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331181" cy="29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6171019" y="1915087"/>
            <a:ext cx="5945962" cy="125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61"/>
              </a:lnSpc>
            </a:pPr>
            <a:r>
              <a:rPr lang="en-US" sz="9106">
                <a:solidFill>
                  <a:srgbClr val="005990"/>
                </a:solidFill>
                <a:latin typeface="Anton"/>
                <a:ea typeface="Anton"/>
                <a:cs typeface="Anton"/>
                <a:sym typeface="Anton"/>
              </a:rPr>
              <a:t>OVERVIEW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90477" y="3746567"/>
            <a:ext cx="3728067" cy="61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736" b="1" spc="18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Introduction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49235" y="3862488"/>
            <a:ext cx="5054326" cy="61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736" b="1" spc="18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Research Problem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934575" y="3937268"/>
            <a:ext cx="3728067" cy="61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736" b="1" spc="18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Literary Review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90477" y="4960151"/>
            <a:ext cx="3728067" cy="61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736" b="1" spc="18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Methodology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49235" y="5068418"/>
            <a:ext cx="5054326" cy="61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736" b="1" spc="18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Result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934575" y="5162550"/>
            <a:ext cx="3728067" cy="61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736" b="1" spc="18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Findings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838968" y="6426047"/>
            <a:ext cx="5054326" cy="61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736" b="1" spc="18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Discussion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049078" y="6513393"/>
            <a:ext cx="3728067" cy="61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736" b="1" spc="18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Conclusion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1846435" y="1336714"/>
            <a:ext cx="5412865" cy="7203997"/>
            <a:chOff x="0" y="0"/>
            <a:chExt cx="708319" cy="9427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08319" cy="942703"/>
            </a:xfrm>
            <a:custGeom>
              <a:avLst/>
              <a:gdLst/>
              <a:ahLst/>
              <a:cxnLst/>
              <a:rect l="l" t="t" r="r" b="b"/>
              <a:pathLst>
                <a:path w="708319" h="942703">
                  <a:moveTo>
                    <a:pt x="44339" y="0"/>
                  </a:moveTo>
                  <a:lnTo>
                    <a:pt x="663980" y="0"/>
                  </a:lnTo>
                  <a:cubicBezTo>
                    <a:pt x="675739" y="0"/>
                    <a:pt x="687017" y="4671"/>
                    <a:pt x="695332" y="12987"/>
                  </a:cubicBezTo>
                  <a:cubicBezTo>
                    <a:pt x="703647" y="21302"/>
                    <a:pt x="708319" y="32579"/>
                    <a:pt x="708319" y="44339"/>
                  </a:cubicBezTo>
                  <a:lnTo>
                    <a:pt x="708319" y="898364"/>
                  </a:lnTo>
                  <a:cubicBezTo>
                    <a:pt x="708319" y="910124"/>
                    <a:pt x="703647" y="921402"/>
                    <a:pt x="695332" y="929717"/>
                  </a:cubicBezTo>
                  <a:cubicBezTo>
                    <a:pt x="687017" y="938032"/>
                    <a:pt x="675739" y="942703"/>
                    <a:pt x="663980" y="942703"/>
                  </a:cubicBezTo>
                  <a:lnTo>
                    <a:pt x="44339" y="942703"/>
                  </a:lnTo>
                  <a:cubicBezTo>
                    <a:pt x="19851" y="942703"/>
                    <a:pt x="0" y="922852"/>
                    <a:pt x="0" y="898364"/>
                  </a:cubicBezTo>
                  <a:lnTo>
                    <a:pt x="0" y="44339"/>
                  </a:lnTo>
                  <a:cubicBezTo>
                    <a:pt x="0" y="32579"/>
                    <a:pt x="4671" y="21302"/>
                    <a:pt x="12987" y="12987"/>
                  </a:cubicBezTo>
                  <a:cubicBezTo>
                    <a:pt x="21302" y="4671"/>
                    <a:pt x="32579" y="0"/>
                    <a:pt x="44339" y="0"/>
                  </a:cubicBezTo>
                  <a:close/>
                </a:path>
              </a:pathLst>
            </a:custGeom>
            <a:blipFill>
              <a:blip r:embed="rId3"/>
              <a:stretch>
                <a:fillRect t="-6387" b="-638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-62926" y="7594147"/>
            <a:ext cx="3074523" cy="3328306"/>
          </a:xfrm>
          <a:custGeom>
            <a:avLst/>
            <a:gdLst/>
            <a:ahLst/>
            <a:cxnLst/>
            <a:rect l="l" t="t" r="r" b="b"/>
            <a:pathLst>
              <a:path w="3074523" h="3328306">
                <a:moveTo>
                  <a:pt x="0" y="0"/>
                </a:moveTo>
                <a:lnTo>
                  <a:pt x="3074523" y="0"/>
                </a:lnTo>
                <a:lnTo>
                  <a:pt x="3074523" y="3328306"/>
                </a:lnTo>
                <a:lnTo>
                  <a:pt x="0" y="33283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15213477" y="0"/>
            <a:ext cx="3074523" cy="3328306"/>
          </a:xfrm>
          <a:custGeom>
            <a:avLst/>
            <a:gdLst/>
            <a:ahLst/>
            <a:cxnLst/>
            <a:rect l="l" t="t" r="r" b="b"/>
            <a:pathLst>
              <a:path w="3074523" h="3328306">
                <a:moveTo>
                  <a:pt x="3074523" y="3328306"/>
                </a:moveTo>
                <a:lnTo>
                  <a:pt x="0" y="3328306"/>
                </a:lnTo>
                <a:lnTo>
                  <a:pt x="0" y="0"/>
                </a:lnTo>
                <a:lnTo>
                  <a:pt x="3074523" y="0"/>
                </a:lnTo>
                <a:lnTo>
                  <a:pt x="3074523" y="332830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436826" y="6208407"/>
            <a:ext cx="10139241" cy="2828630"/>
            <a:chOff x="0" y="0"/>
            <a:chExt cx="2670417" cy="7449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670417" cy="744989"/>
            </a:xfrm>
            <a:custGeom>
              <a:avLst/>
              <a:gdLst/>
              <a:ahLst/>
              <a:cxnLst/>
              <a:rect l="l" t="t" r="r" b="b"/>
              <a:pathLst>
                <a:path w="2670417" h="744989">
                  <a:moveTo>
                    <a:pt x="19089" y="0"/>
                  </a:moveTo>
                  <a:lnTo>
                    <a:pt x="2651328" y="0"/>
                  </a:lnTo>
                  <a:cubicBezTo>
                    <a:pt x="2656391" y="0"/>
                    <a:pt x="2661246" y="2011"/>
                    <a:pt x="2664826" y="5591"/>
                  </a:cubicBezTo>
                  <a:cubicBezTo>
                    <a:pt x="2668406" y="9171"/>
                    <a:pt x="2670417" y="14026"/>
                    <a:pt x="2670417" y="19089"/>
                  </a:cubicBezTo>
                  <a:lnTo>
                    <a:pt x="2670417" y="725900"/>
                  </a:lnTo>
                  <a:cubicBezTo>
                    <a:pt x="2670417" y="730963"/>
                    <a:pt x="2668406" y="735818"/>
                    <a:pt x="2664826" y="739398"/>
                  </a:cubicBezTo>
                  <a:cubicBezTo>
                    <a:pt x="2661246" y="742978"/>
                    <a:pt x="2656391" y="744989"/>
                    <a:pt x="2651328" y="744989"/>
                  </a:cubicBezTo>
                  <a:lnTo>
                    <a:pt x="19089" y="744989"/>
                  </a:lnTo>
                  <a:cubicBezTo>
                    <a:pt x="14026" y="744989"/>
                    <a:pt x="9171" y="742978"/>
                    <a:pt x="5591" y="739398"/>
                  </a:cubicBezTo>
                  <a:cubicBezTo>
                    <a:pt x="2011" y="735818"/>
                    <a:pt x="0" y="730963"/>
                    <a:pt x="0" y="725900"/>
                  </a:cubicBezTo>
                  <a:lnTo>
                    <a:pt x="0" y="19089"/>
                  </a:lnTo>
                  <a:cubicBezTo>
                    <a:pt x="0" y="14026"/>
                    <a:pt x="2011" y="9171"/>
                    <a:pt x="5591" y="5591"/>
                  </a:cubicBezTo>
                  <a:cubicBezTo>
                    <a:pt x="9171" y="2011"/>
                    <a:pt x="14026" y="0"/>
                    <a:pt x="19089" y="0"/>
                  </a:cubicBezTo>
                  <a:close/>
                </a:path>
              </a:pathLst>
            </a:custGeom>
            <a:solidFill>
              <a:srgbClr val="00599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670417" cy="783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65173" y="6463729"/>
            <a:ext cx="692481" cy="692481"/>
          </a:xfrm>
          <a:custGeom>
            <a:avLst/>
            <a:gdLst/>
            <a:ahLst/>
            <a:cxnLst/>
            <a:rect l="l" t="t" r="r" b="b"/>
            <a:pathLst>
              <a:path w="692481" h="692481">
                <a:moveTo>
                  <a:pt x="0" y="0"/>
                </a:moveTo>
                <a:lnTo>
                  <a:pt x="692481" y="0"/>
                </a:lnTo>
                <a:lnTo>
                  <a:pt x="692481" y="692481"/>
                </a:lnTo>
                <a:lnTo>
                  <a:pt x="0" y="69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474335" y="3658868"/>
            <a:ext cx="10026122" cy="2512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Phasellus a lacus sit amet urna tempor sollicitudin. Cras pretium tempor elit blandit egestas.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74335" y="1914126"/>
            <a:ext cx="7669665" cy="125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INTRODUCTION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57654" y="6455130"/>
            <a:ext cx="7929607" cy="57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3399" b="1" spc="16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Research Purposes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57654" y="6983099"/>
            <a:ext cx="8920367" cy="1692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683331" y="3328306"/>
            <a:ext cx="5595996" cy="5929994"/>
            <a:chOff x="0" y="0"/>
            <a:chExt cx="1473843" cy="156180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73843" cy="1561809"/>
            </a:xfrm>
            <a:custGeom>
              <a:avLst/>
              <a:gdLst/>
              <a:ahLst/>
              <a:cxnLst/>
              <a:rect l="l" t="t" r="r" b="b"/>
              <a:pathLst>
                <a:path w="1473843" h="1561809">
                  <a:moveTo>
                    <a:pt x="34587" y="0"/>
                  </a:moveTo>
                  <a:lnTo>
                    <a:pt x="1439256" y="0"/>
                  </a:lnTo>
                  <a:cubicBezTo>
                    <a:pt x="1458357" y="0"/>
                    <a:pt x="1473843" y="15485"/>
                    <a:pt x="1473843" y="34587"/>
                  </a:cubicBezTo>
                  <a:lnTo>
                    <a:pt x="1473843" y="1527222"/>
                  </a:lnTo>
                  <a:cubicBezTo>
                    <a:pt x="1473843" y="1546324"/>
                    <a:pt x="1458357" y="1561809"/>
                    <a:pt x="1439256" y="1561809"/>
                  </a:cubicBezTo>
                  <a:lnTo>
                    <a:pt x="34587" y="1561809"/>
                  </a:lnTo>
                  <a:cubicBezTo>
                    <a:pt x="15485" y="1561809"/>
                    <a:pt x="0" y="1546324"/>
                    <a:pt x="0" y="1527222"/>
                  </a:cubicBezTo>
                  <a:lnTo>
                    <a:pt x="0" y="34587"/>
                  </a:lnTo>
                  <a:cubicBezTo>
                    <a:pt x="0" y="15485"/>
                    <a:pt x="15485" y="0"/>
                    <a:pt x="34587" y="0"/>
                  </a:cubicBezTo>
                  <a:close/>
                </a:path>
              </a:pathLst>
            </a:custGeom>
            <a:solidFill>
              <a:srgbClr val="00599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73843" cy="1599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46002" y="3328306"/>
            <a:ext cx="5595996" cy="5929994"/>
            <a:chOff x="0" y="0"/>
            <a:chExt cx="1473843" cy="156180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73843" cy="1561809"/>
            </a:xfrm>
            <a:custGeom>
              <a:avLst/>
              <a:gdLst/>
              <a:ahLst/>
              <a:cxnLst/>
              <a:rect l="l" t="t" r="r" b="b"/>
              <a:pathLst>
                <a:path w="1473843" h="1561809">
                  <a:moveTo>
                    <a:pt x="34587" y="0"/>
                  </a:moveTo>
                  <a:lnTo>
                    <a:pt x="1439256" y="0"/>
                  </a:lnTo>
                  <a:cubicBezTo>
                    <a:pt x="1458357" y="0"/>
                    <a:pt x="1473843" y="15485"/>
                    <a:pt x="1473843" y="34587"/>
                  </a:cubicBezTo>
                  <a:lnTo>
                    <a:pt x="1473843" y="1527222"/>
                  </a:lnTo>
                  <a:cubicBezTo>
                    <a:pt x="1473843" y="1546324"/>
                    <a:pt x="1458357" y="1561809"/>
                    <a:pt x="1439256" y="1561809"/>
                  </a:cubicBezTo>
                  <a:lnTo>
                    <a:pt x="34587" y="1561809"/>
                  </a:lnTo>
                  <a:cubicBezTo>
                    <a:pt x="15485" y="1561809"/>
                    <a:pt x="0" y="1546324"/>
                    <a:pt x="0" y="1527222"/>
                  </a:cubicBezTo>
                  <a:lnTo>
                    <a:pt x="0" y="34587"/>
                  </a:lnTo>
                  <a:cubicBezTo>
                    <a:pt x="0" y="15485"/>
                    <a:pt x="15485" y="0"/>
                    <a:pt x="34587" y="0"/>
                  </a:cubicBezTo>
                  <a:close/>
                </a:path>
              </a:pathLst>
            </a:custGeom>
            <a:solidFill>
              <a:srgbClr val="F7C61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73843" cy="1599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008673" y="3328306"/>
            <a:ext cx="5595996" cy="5929994"/>
            <a:chOff x="0" y="0"/>
            <a:chExt cx="1473843" cy="15618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73843" cy="1561809"/>
            </a:xfrm>
            <a:custGeom>
              <a:avLst/>
              <a:gdLst/>
              <a:ahLst/>
              <a:cxnLst/>
              <a:rect l="l" t="t" r="r" b="b"/>
              <a:pathLst>
                <a:path w="1473843" h="1561809">
                  <a:moveTo>
                    <a:pt x="34587" y="0"/>
                  </a:moveTo>
                  <a:lnTo>
                    <a:pt x="1439256" y="0"/>
                  </a:lnTo>
                  <a:cubicBezTo>
                    <a:pt x="1458357" y="0"/>
                    <a:pt x="1473843" y="15485"/>
                    <a:pt x="1473843" y="34587"/>
                  </a:cubicBezTo>
                  <a:lnTo>
                    <a:pt x="1473843" y="1527222"/>
                  </a:lnTo>
                  <a:cubicBezTo>
                    <a:pt x="1473843" y="1546324"/>
                    <a:pt x="1458357" y="1561809"/>
                    <a:pt x="1439256" y="1561809"/>
                  </a:cubicBezTo>
                  <a:lnTo>
                    <a:pt x="34587" y="1561809"/>
                  </a:lnTo>
                  <a:cubicBezTo>
                    <a:pt x="15485" y="1561809"/>
                    <a:pt x="0" y="1546324"/>
                    <a:pt x="0" y="1527222"/>
                  </a:cubicBezTo>
                  <a:lnTo>
                    <a:pt x="0" y="34587"/>
                  </a:lnTo>
                  <a:cubicBezTo>
                    <a:pt x="0" y="15485"/>
                    <a:pt x="15485" y="0"/>
                    <a:pt x="34587" y="0"/>
                  </a:cubicBezTo>
                  <a:close/>
                </a:path>
              </a:pathLst>
            </a:custGeom>
            <a:solidFill>
              <a:srgbClr val="00599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73843" cy="1599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-261626" y="8939784"/>
            <a:ext cx="7315200" cy="1347216"/>
          </a:xfrm>
          <a:custGeom>
            <a:avLst/>
            <a:gdLst/>
            <a:ahLst/>
            <a:cxnLst/>
            <a:rect l="l" t="t" r="r" b="b"/>
            <a:pathLst>
              <a:path w="7315200" h="1347216">
                <a:moveTo>
                  <a:pt x="0" y="0"/>
                </a:moveTo>
                <a:lnTo>
                  <a:pt x="7315200" y="0"/>
                </a:lnTo>
                <a:lnTo>
                  <a:pt x="7315200" y="1347216"/>
                </a:lnTo>
                <a:lnTo>
                  <a:pt x="0" y="13472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028700" y="1637548"/>
            <a:ext cx="16230600" cy="125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RESEARCH PROBLEM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3706303"/>
            <a:ext cx="4888424" cy="57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3399" b="1" spc="16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1.Knowledge Gap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3651" y="4650005"/>
            <a:ext cx="4135357" cy="415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85349" y="3706303"/>
            <a:ext cx="5341374" cy="57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3399" b="1" spc="16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2. Practical Challenge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76322" y="4650005"/>
            <a:ext cx="4135357" cy="415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51548" y="3706304"/>
            <a:ext cx="5299888" cy="57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3399" b="1" spc="16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3. Theoritical Debate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738993" y="4650005"/>
            <a:ext cx="4135357" cy="415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</a:t>
            </a:r>
            <a:r>
              <a:rPr lang="en-US" sz="2751" spc="13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amet</a:t>
            </a:r>
            <a:r>
              <a:rPr lang="en-US" sz="2751" spc="13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, </a:t>
            </a:r>
            <a:r>
              <a:rPr lang="en-US" sz="2751" spc="13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consectetur</a:t>
            </a:r>
            <a:r>
              <a:rPr lang="en-US" sz="2751" spc="13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751" spc="13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adipiscing</a:t>
            </a:r>
            <a:r>
              <a:rPr lang="en-US" sz="2751" spc="13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751" spc="13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elit</a:t>
            </a:r>
            <a:r>
              <a:rPr lang="en-US" sz="2751" spc="13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. </a:t>
            </a:r>
            <a:r>
              <a:rPr lang="en-US" sz="2751" spc="13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Quisque</a:t>
            </a:r>
            <a:r>
              <a:rPr lang="en-US" sz="2751" spc="13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non </a:t>
            </a:r>
            <a:r>
              <a:rPr lang="en-US" sz="2751" spc="13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elit</a:t>
            </a:r>
            <a:r>
              <a:rPr lang="en-US" sz="2751" spc="13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751" spc="13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mauris</a:t>
            </a:r>
            <a:r>
              <a:rPr lang="en-US" sz="2751" spc="13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. Cras </a:t>
            </a:r>
            <a:r>
              <a:rPr lang="en-US" sz="2751" spc="13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euismod</a:t>
            </a:r>
            <a:r>
              <a:rPr lang="en-US" sz="2751" spc="13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, </a:t>
            </a:r>
            <a:r>
              <a:rPr lang="en-US" sz="2751" spc="13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metus</a:t>
            </a:r>
            <a:r>
              <a:rPr lang="en-US" sz="2751" spc="13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ac </a:t>
            </a:r>
            <a:r>
              <a:rPr lang="en-US" sz="2751" spc="13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finibus</a:t>
            </a:r>
            <a:r>
              <a:rPr lang="en-US" sz="2751" spc="13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751" spc="13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finibus</a:t>
            </a:r>
            <a:r>
              <a:rPr lang="en-US" sz="2751" spc="13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, </a:t>
            </a:r>
            <a:r>
              <a:rPr lang="en-US" sz="2751" spc="13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felis</a:t>
            </a:r>
            <a:r>
              <a:rPr lang="en-US" sz="2751" spc="13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dui </a:t>
            </a:r>
            <a:r>
              <a:rPr lang="en-US" sz="2751" spc="13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suscipit</a:t>
            </a:r>
            <a:r>
              <a:rPr lang="en-US" sz="2751" spc="13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751" spc="13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purus</a:t>
            </a:r>
            <a:r>
              <a:rPr lang="en-US" sz="2751" spc="13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, a maximus </a:t>
            </a:r>
            <a:r>
              <a:rPr lang="en-US" sz="2751" spc="13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leo</a:t>
            </a:r>
            <a:r>
              <a:rPr lang="en-US" sz="2751" spc="13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ligula at dolor. Morbi et </a:t>
            </a:r>
            <a:r>
              <a:rPr lang="en-US" sz="2751" spc="13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malesuada</a:t>
            </a:r>
            <a:r>
              <a:rPr lang="en-US" sz="2751" spc="13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751" spc="13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purus</a:t>
            </a:r>
            <a:r>
              <a:rPr lang="en-US" sz="2751" spc="13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. </a:t>
            </a:r>
          </a:p>
        </p:txBody>
      </p:sp>
      <p:sp>
        <p:nvSpPr>
          <p:cNvPr id="20" name="Freeform 20"/>
          <p:cNvSpPr/>
          <p:nvPr/>
        </p:nvSpPr>
        <p:spPr>
          <a:xfrm flipH="1" flipV="1">
            <a:off x="11149071" y="0"/>
            <a:ext cx="7315200" cy="1347216"/>
          </a:xfrm>
          <a:custGeom>
            <a:avLst/>
            <a:gdLst/>
            <a:ahLst/>
            <a:cxnLst/>
            <a:rect l="l" t="t" r="r" b="b"/>
            <a:pathLst>
              <a:path w="7315200" h="1347216">
                <a:moveTo>
                  <a:pt x="7315200" y="1347216"/>
                </a:moveTo>
                <a:lnTo>
                  <a:pt x="0" y="1347216"/>
                </a:lnTo>
                <a:lnTo>
                  <a:pt x="0" y="0"/>
                </a:lnTo>
                <a:lnTo>
                  <a:pt x="7315200" y="0"/>
                </a:lnTo>
                <a:lnTo>
                  <a:pt x="7315200" y="13472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36826" y="4371140"/>
            <a:ext cx="7186902" cy="4610164"/>
            <a:chOff x="0" y="0"/>
            <a:chExt cx="1892847" cy="1214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92846" cy="1214200"/>
            </a:xfrm>
            <a:custGeom>
              <a:avLst/>
              <a:gdLst/>
              <a:ahLst/>
              <a:cxnLst/>
              <a:rect l="l" t="t" r="r" b="b"/>
              <a:pathLst>
                <a:path w="1892846" h="1214200">
                  <a:moveTo>
                    <a:pt x="26931" y="0"/>
                  </a:moveTo>
                  <a:lnTo>
                    <a:pt x="1865916" y="0"/>
                  </a:lnTo>
                  <a:cubicBezTo>
                    <a:pt x="1873058" y="0"/>
                    <a:pt x="1879908" y="2837"/>
                    <a:pt x="1884959" y="7888"/>
                  </a:cubicBezTo>
                  <a:cubicBezTo>
                    <a:pt x="1890009" y="12938"/>
                    <a:pt x="1892846" y="19788"/>
                    <a:pt x="1892846" y="26931"/>
                  </a:cubicBezTo>
                  <a:lnTo>
                    <a:pt x="1892846" y="1187269"/>
                  </a:lnTo>
                  <a:cubicBezTo>
                    <a:pt x="1892846" y="1194411"/>
                    <a:pt x="1890009" y="1201261"/>
                    <a:pt x="1884959" y="1206312"/>
                  </a:cubicBezTo>
                  <a:cubicBezTo>
                    <a:pt x="1879908" y="1211362"/>
                    <a:pt x="1873058" y="1214200"/>
                    <a:pt x="1865916" y="1214200"/>
                  </a:cubicBezTo>
                  <a:lnTo>
                    <a:pt x="26931" y="1214200"/>
                  </a:lnTo>
                  <a:cubicBezTo>
                    <a:pt x="19788" y="1214200"/>
                    <a:pt x="12938" y="1211362"/>
                    <a:pt x="7888" y="1206312"/>
                  </a:cubicBezTo>
                  <a:cubicBezTo>
                    <a:pt x="2837" y="1201261"/>
                    <a:pt x="0" y="1194411"/>
                    <a:pt x="0" y="1187269"/>
                  </a:cubicBezTo>
                  <a:lnTo>
                    <a:pt x="0" y="26931"/>
                  </a:lnTo>
                  <a:cubicBezTo>
                    <a:pt x="0" y="19788"/>
                    <a:pt x="2837" y="12938"/>
                    <a:pt x="7888" y="7888"/>
                  </a:cubicBezTo>
                  <a:cubicBezTo>
                    <a:pt x="12938" y="2837"/>
                    <a:pt x="19788" y="0"/>
                    <a:pt x="26931" y="0"/>
                  </a:cubicBezTo>
                  <a:close/>
                </a:path>
              </a:pathLst>
            </a:custGeom>
            <a:solidFill>
              <a:srgbClr val="00599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92847" cy="125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0" y="4371140"/>
            <a:ext cx="7186902" cy="4610164"/>
            <a:chOff x="0" y="0"/>
            <a:chExt cx="1892847" cy="1214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92846" cy="1214200"/>
            </a:xfrm>
            <a:custGeom>
              <a:avLst/>
              <a:gdLst/>
              <a:ahLst/>
              <a:cxnLst/>
              <a:rect l="l" t="t" r="r" b="b"/>
              <a:pathLst>
                <a:path w="1892846" h="1214200">
                  <a:moveTo>
                    <a:pt x="26931" y="0"/>
                  </a:moveTo>
                  <a:lnTo>
                    <a:pt x="1865916" y="0"/>
                  </a:lnTo>
                  <a:cubicBezTo>
                    <a:pt x="1873058" y="0"/>
                    <a:pt x="1879908" y="2837"/>
                    <a:pt x="1884959" y="7888"/>
                  </a:cubicBezTo>
                  <a:cubicBezTo>
                    <a:pt x="1890009" y="12938"/>
                    <a:pt x="1892846" y="19788"/>
                    <a:pt x="1892846" y="26931"/>
                  </a:cubicBezTo>
                  <a:lnTo>
                    <a:pt x="1892846" y="1187269"/>
                  </a:lnTo>
                  <a:cubicBezTo>
                    <a:pt x="1892846" y="1194411"/>
                    <a:pt x="1890009" y="1201261"/>
                    <a:pt x="1884959" y="1206312"/>
                  </a:cubicBezTo>
                  <a:cubicBezTo>
                    <a:pt x="1879908" y="1211362"/>
                    <a:pt x="1873058" y="1214200"/>
                    <a:pt x="1865916" y="1214200"/>
                  </a:cubicBezTo>
                  <a:lnTo>
                    <a:pt x="26931" y="1214200"/>
                  </a:lnTo>
                  <a:cubicBezTo>
                    <a:pt x="19788" y="1214200"/>
                    <a:pt x="12938" y="1211362"/>
                    <a:pt x="7888" y="1206312"/>
                  </a:cubicBezTo>
                  <a:cubicBezTo>
                    <a:pt x="2837" y="1201261"/>
                    <a:pt x="0" y="1194411"/>
                    <a:pt x="0" y="1187269"/>
                  </a:cubicBezTo>
                  <a:lnTo>
                    <a:pt x="0" y="26931"/>
                  </a:lnTo>
                  <a:cubicBezTo>
                    <a:pt x="0" y="19788"/>
                    <a:pt x="2837" y="12938"/>
                    <a:pt x="7888" y="7888"/>
                  </a:cubicBezTo>
                  <a:cubicBezTo>
                    <a:pt x="12938" y="2837"/>
                    <a:pt x="19788" y="0"/>
                    <a:pt x="26931" y="0"/>
                  </a:cubicBez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892847" cy="125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771122" y="7908442"/>
            <a:ext cx="4490914" cy="4114800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0" y="0"/>
                </a:moveTo>
                <a:lnTo>
                  <a:pt x="4490914" y="0"/>
                </a:lnTo>
                <a:lnTo>
                  <a:pt x="4490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474335" y="3125821"/>
            <a:ext cx="15355189" cy="873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4335" y="1885551"/>
            <a:ext cx="11447053" cy="125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LITERARY REVIEW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14413" y="4749641"/>
            <a:ext cx="6325115" cy="57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3399" b="1" spc="16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Literary Review - 1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14413" y="5396378"/>
            <a:ext cx="6571839" cy="2512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35468" y="4749641"/>
            <a:ext cx="6343673" cy="57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3399" b="1" spc="16">
                <a:solidFill>
                  <a:srgbClr val="093F6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Literary Review - 2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35468" y="5396378"/>
            <a:ext cx="6571839" cy="2512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093F6D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</a:t>
            </a:r>
          </a:p>
        </p:txBody>
      </p:sp>
      <p:sp>
        <p:nvSpPr>
          <p:cNvPr id="16" name="Freeform 16"/>
          <p:cNvSpPr/>
          <p:nvPr/>
        </p:nvSpPr>
        <p:spPr>
          <a:xfrm flipH="1" flipV="1">
            <a:off x="14085445" y="-528284"/>
            <a:ext cx="4490914" cy="4114800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4490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90914" y="0"/>
                </a:lnTo>
                <a:lnTo>
                  <a:pt x="4490914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36826" y="5320252"/>
            <a:ext cx="7186902" cy="3661052"/>
            <a:chOff x="0" y="0"/>
            <a:chExt cx="1892847" cy="96422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92846" cy="964228"/>
            </a:xfrm>
            <a:custGeom>
              <a:avLst/>
              <a:gdLst/>
              <a:ahLst/>
              <a:cxnLst/>
              <a:rect l="l" t="t" r="r" b="b"/>
              <a:pathLst>
                <a:path w="1892846" h="964228">
                  <a:moveTo>
                    <a:pt x="26931" y="0"/>
                  </a:moveTo>
                  <a:lnTo>
                    <a:pt x="1865916" y="0"/>
                  </a:lnTo>
                  <a:cubicBezTo>
                    <a:pt x="1873058" y="0"/>
                    <a:pt x="1879908" y="2837"/>
                    <a:pt x="1884959" y="7888"/>
                  </a:cubicBezTo>
                  <a:cubicBezTo>
                    <a:pt x="1890009" y="12938"/>
                    <a:pt x="1892846" y="19788"/>
                    <a:pt x="1892846" y="26931"/>
                  </a:cubicBezTo>
                  <a:lnTo>
                    <a:pt x="1892846" y="937297"/>
                  </a:lnTo>
                  <a:cubicBezTo>
                    <a:pt x="1892846" y="944439"/>
                    <a:pt x="1890009" y="951289"/>
                    <a:pt x="1884959" y="956340"/>
                  </a:cubicBezTo>
                  <a:cubicBezTo>
                    <a:pt x="1879908" y="961390"/>
                    <a:pt x="1873058" y="964228"/>
                    <a:pt x="1865916" y="964228"/>
                  </a:cubicBezTo>
                  <a:lnTo>
                    <a:pt x="26931" y="964228"/>
                  </a:lnTo>
                  <a:cubicBezTo>
                    <a:pt x="19788" y="964228"/>
                    <a:pt x="12938" y="961390"/>
                    <a:pt x="7888" y="956340"/>
                  </a:cubicBezTo>
                  <a:cubicBezTo>
                    <a:pt x="2837" y="951289"/>
                    <a:pt x="0" y="944439"/>
                    <a:pt x="0" y="937297"/>
                  </a:cubicBezTo>
                  <a:lnTo>
                    <a:pt x="0" y="26931"/>
                  </a:lnTo>
                  <a:cubicBezTo>
                    <a:pt x="0" y="19788"/>
                    <a:pt x="2837" y="12938"/>
                    <a:pt x="7888" y="7888"/>
                  </a:cubicBezTo>
                  <a:cubicBezTo>
                    <a:pt x="12938" y="2837"/>
                    <a:pt x="19788" y="0"/>
                    <a:pt x="26931" y="0"/>
                  </a:cubicBezTo>
                  <a:close/>
                </a:path>
              </a:pathLst>
            </a:custGeom>
            <a:solidFill>
              <a:srgbClr val="00599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92847" cy="10023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0" y="5320252"/>
            <a:ext cx="7186902" cy="3661052"/>
            <a:chOff x="0" y="0"/>
            <a:chExt cx="1892847" cy="9642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92846" cy="964228"/>
            </a:xfrm>
            <a:custGeom>
              <a:avLst/>
              <a:gdLst/>
              <a:ahLst/>
              <a:cxnLst/>
              <a:rect l="l" t="t" r="r" b="b"/>
              <a:pathLst>
                <a:path w="1892846" h="964228">
                  <a:moveTo>
                    <a:pt x="26931" y="0"/>
                  </a:moveTo>
                  <a:lnTo>
                    <a:pt x="1865916" y="0"/>
                  </a:lnTo>
                  <a:cubicBezTo>
                    <a:pt x="1873058" y="0"/>
                    <a:pt x="1879908" y="2837"/>
                    <a:pt x="1884959" y="7888"/>
                  </a:cubicBezTo>
                  <a:cubicBezTo>
                    <a:pt x="1890009" y="12938"/>
                    <a:pt x="1892846" y="19788"/>
                    <a:pt x="1892846" y="26931"/>
                  </a:cubicBezTo>
                  <a:lnTo>
                    <a:pt x="1892846" y="937297"/>
                  </a:lnTo>
                  <a:cubicBezTo>
                    <a:pt x="1892846" y="944439"/>
                    <a:pt x="1890009" y="951289"/>
                    <a:pt x="1884959" y="956340"/>
                  </a:cubicBezTo>
                  <a:cubicBezTo>
                    <a:pt x="1879908" y="961390"/>
                    <a:pt x="1873058" y="964228"/>
                    <a:pt x="1865916" y="964228"/>
                  </a:cubicBezTo>
                  <a:lnTo>
                    <a:pt x="26931" y="964228"/>
                  </a:lnTo>
                  <a:cubicBezTo>
                    <a:pt x="19788" y="964228"/>
                    <a:pt x="12938" y="961390"/>
                    <a:pt x="7888" y="956340"/>
                  </a:cubicBezTo>
                  <a:cubicBezTo>
                    <a:pt x="2837" y="951289"/>
                    <a:pt x="0" y="944439"/>
                    <a:pt x="0" y="937297"/>
                  </a:cubicBezTo>
                  <a:lnTo>
                    <a:pt x="0" y="26931"/>
                  </a:lnTo>
                  <a:cubicBezTo>
                    <a:pt x="0" y="19788"/>
                    <a:pt x="2837" y="12938"/>
                    <a:pt x="7888" y="7888"/>
                  </a:cubicBezTo>
                  <a:cubicBezTo>
                    <a:pt x="12938" y="2837"/>
                    <a:pt x="19788" y="0"/>
                    <a:pt x="26931" y="0"/>
                  </a:cubicBez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892847" cy="10023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0" y="1432026"/>
            <a:ext cx="7623832" cy="3796284"/>
            <a:chOff x="0" y="0"/>
            <a:chExt cx="1181131" cy="58814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81131" cy="588144"/>
            </a:xfrm>
            <a:custGeom>
              <a:avLst/>
              <a:gdLst/>
              <a:ahLst/>
              <a:cxnLst/>
              <a:rect l="l" t="t" r="r" b="b"/>
              <a:pathLst>
                <a:path w="1181131" h="588144">
                  <a:moveTo>
                    <a:pt x="0" y="0"/>
                  </a:moveTo>
                  <a:lnTo>
                    <a:pt x="1181131" y="0"/>
                  </a:lnTo>
                  <a:lnTo>
                    <a:pt x="1181131" y="588144"/>
                  </a:lnTo>
                  <a:lnTo>
                    <a:pt x="0" y="588144"/>
                  </a:lnTo>
                  <a:close/>
                </a:path>
              </a:pathLst>
            </a:custGeom>
            <a:blipFill>
              <a:blip r:embed="rId3"/>
              <a:stretch>
                <a:fillRect t="-16899" b="-1689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Freeform 11"/>
          <p:cNvSpPr/>
          <p:nvPr/>
        </p:nvSpPr>
        <p:spPr>
          <a:xfrm>
            <a:off x="-487700" y="7120890"/>
            <a:ext cx="3849053" cy="4114800"/>
          </a:xfrm>
          <a:custGeom>
            <a:avLst/>
            <a:gdLst/>
            <a:ahLst/>
            <a:cxnLst/>
            <a:rect l="l" t="t" r="r" b="b"/>
            <a:pathLst>
              <a:path w="3849053" h="4114800">
                <a:moveTo>
                  <a:pt x="0" y="0"/>
                </a:moveTo>
                <a:lnTo>
                  <a:pt x="3849052" y="0"/>
                </a:lnTo>
                <a:lnTo>
                  <a:pt x="38490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0972800" y="0"/>
            <a:ext cx="7315200" cy="1792224"/>
          </a:xfrm>
          <a:custGeom>
            <a:avLst/>
            <a:gdLst/>
            <a:ahLst/>
            <a:cxnLst/>
            <a:rect l="l" t="t" r="r" b="b"/>
            <a:pathLst>
              <a:path w="7315200" h="1792224">
                <a:moveTo>
                  <a:pt x="0" y="0"/>
                </a:moveTo>
                <a:lnTo>
                  <a:pt x="7315200" y="0"/>
                </a:lnTo>
                <a:lnTo>
                  <a:pt x="7315200" y="1792224"/>
                </a:lnTo>
                <a:lnTo>
                  <a:pt x="0" y="1792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436826" y="2992655"/>
            <a:ext cx="7149392" cy="2102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36826" y="1555851"/>
            <a:ext cx="7598851" cy="125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METHODOLOGY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14413" y="5559266"/>
            <a:ext cx="6089091" cy="57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3399" b="1" spc="16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Literary Review - 1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14413" y="6082252"/>
            <a:ext cx="6571839" cy="2512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35468" y="5559266"/>
            <a:ext cx="6695433" cy="57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3399" b="1" spc="16">
                <a:solidFill>
                  <a:srgbClr val="093F6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Literary Review - 2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35468" y="6082252"/>
            <a:ext cx="6571839" cy="2512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093F6D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1336714"/>
            <a:ext cx="5412865" cy="7203997"/>
            <a:chOff x="0" y="0"/>
            <a:chExt cx="708319" cy="9427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08319" cy="942703"/>
            </a:xfrm>
            <a:custGeom>
              <a:avLst/>
              <a:gdLst/>
              <a:ahLst/>
              <a:cxnLst/>
              <a:rect l="l" t="t" r="r" b="b"/>
              <a:pathLst>
                <a:path w="708319" h="942703">
                  <a:moveTo>
                    <a:pt x="44339" y="0"/>
                  </a:moveTo>
                  <a:lnTo>
                    <a:pt x="663980" y="0"/>
                  </a:lnTo>
                  <a:cubicBezTo>
                    <a:pt x="675739" y="0"/>
                    <a:pt x="687017" y="4671"/>
                    <a:pt x="695332" y="12987"/>
                  </a:cubicBezTo>
                  <a:cubicBezTo>
                    <a:pt x="703647" y="21302"/>
                    <a:pt x="708319" y="32579"/>
                    <a:pt x="708319" y="44339"/>
                  </a:cubicBezTo>
                  <a:lnTo>
                    <a:pt x="708319" y="898364"/>
                  </a:lnTo>
                  <a:cubicBezTo>
                    <a:pt x="708319" y="910124"/>
                    <a:pt x="703647" y="921402"/>
                    <a:pt x="695332" y="929717"/>
                  </a:cubicBezTo>
                  <a:cubicBezTo>
                    <a:pt x="687017" y="938032"/>
                    <a:pt x="675739" y="942703"/>
                    <a:pt x="663980" y="942703"/>
                  </a:cubicBezTo>
                  <a:lnTo>
                    <a:pt x="44339" y="942703"/>
                  </a:lnTo>
                  <a:cubicBezTo>
                    <a:pt x="19851" y="942703"/>
                    <a:pt x="0" y="922852"/>
                    <a:pt x="0" y="898364"/>
                  </a:cubicBezTo>
                  <a:lnTo>
                    <a:pt x="0" y="44339"/>
                  </a:lnTo>
                  <a:cubicBezTo>
                    <a:pt x="0" y="32579"/>
                    <a:pt x="4671" y="21302"/>
                    <a:pt x="12987" y="12987"/>
                  </a:cubicBezTo>
                  <a:cubicBezTo>
                    <a:pt x="21302" y="4671"/>
                    <a:pt x="32579" y="0"/>
                    <a:pt x="44339" y="0"/>
                  </a:cubicBezTo>
                  <a:close/>
                </a:path>
              </a:pathLst>
            </a:custGeom>
            <a:blipFill>
              <a:blip r:embed="rId3"/>
              <a:stretch>
                <a:fillRect l="-20636" t="-44805" r="-25517" b="-2002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040274" y="4938712"/>
            <a:ext cx="10139241" cy="3948032"/>
            <a:chOff x="0" y="0"/>
            <a:chExt cx="2670417" cy="10398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70417" cy="1039811"/>
            </a:xfrm>
            <a:custGeom>
              <a:avLst/>
              <a:gdLst/>
              <a:ahLst/>
              <a:cxnLst/>
              <a:rect l="l" t="t" r="r" b="b"/>
              <a:pathLst>
                <a:path w="2670417" h="1039811">
                  <a:moveTo>
                    <a:pt x="19089" y="0"/>
                  </a:moveTo>
                  <a:lnTo>
                    <a:pt x="2651328" y="0"/>
                  </a:lnTo>
                  <a:cubicBezTo>
                    <a:pt x="2656391" y="0"/>
                    <a:pt x="2661246" y="2011"/>
                    <a:pt x="2664826" y="5591"/>
                  </a:cubicBezTo>
                  <a:cubicBezTo>
                    <a:pt x="2668406" y="9171"/>
                    <a:pt x="2670417" y="14026"/>
                    <a:pt x="2670417" y="19089"/>
                  </a:cubicBezTo>
                  <a:lnTo>
                    <a:pt x="2670417" y="1020722"/>
                  </a:lnTo>
                  <a:cubicBezTo>
                    <a:pt x="2670417" y="1025785"/>
                    <a:pt x="2668406" y="1030640"/>
                    <a:pt x="2664826" y="1034220"/>
                  </a:cubicBezTo>
                  <a:cubicBezTo>
                    <a:pt x="2661246" y="1037800"/>
                    <a:pt x="2656391" y="1039811"/>
                    <a:pt x="2651328" y="1039811"/>
                  </a:cubicBezTo>
                  <a:lnTo>
                    <a:pt x="19089" y="1039811"/>
                  </a:lnTo>
                  <a:cubicBezTo>
                    <a:pt x="14026" y="1039811"/>
                    <a:pt x="9171" y="1037800"/>
                    <a:pt x="5591" y="1034220"/>
                  </a:cubicBezTo>
                  <a:cubicBezTo>
                    <a:pt x="2011" y="1030640"/>
                    <a:pt x="0" y="1025785"/>
                    <a:pt x="0" y="1020722"/>
                  </a:cubicBezTo>
                  <a:lnTo>
                    <a:pt x="0" y="19089"/>
                  </a:lnTo>
                  <a:cubicBezTo>
                    <a:pt x="0" y="14026"/>
                    <a:pt x="2011" y="9171"/>
                    <a:pt x="5591" y="5591"/>
                  </a:cubicBezTo>
                  <a:cubicBezTo>
                    <a:pt x="9171" y="2011"/>
                    <a:pt x="14026" y="0"/>
                    <a:pt x="19089" y="0"/>
                  </a:cubicBezTo>
                  <a:close/>
                </a:path>
              </a:pathLst>
            </a:custGeom>
            <a:solidFill>
              <a:srgbClr val="00599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670417" cy="10779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7412452" y="5462272"/>
            <a:ext cx="832443" cy="817876"/>
          </a:xfrm>
          <a:custGeom>
            <a:avLst/>
            <a:gdLst/>
            <a:ahLst/>
            <a:cxnLst/>
            <a:rect l="l" t="t" r="r" b="b"/>
            <a:pathLst>
              <a:path w="832443" h="817876">
                <a:moveTo>
                  <a:pt x="0" y="0"/>
                </a:moveTo>
                <a:lnTo>
                  <a:pt x="832443" y="0"/>
                </a:lnTo>
                <a:lnTo>
                  <a:pt x="832443" y="817876"/>
                </a:lnTo>
                <a:lnTo>
                  <a:pt x="0" y="8178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85368" y="4832389"/>
            <a:ext cx="3820500" cy="5454611"/>
          </a:xfrm>
          <a:custGeom>
            <a:avLst/>
            <a:gdLst/>
            <a:ahLst/>
            <a:cxnLst/>
            <a:rect l="l" t="t" r="r" b="b"/>
            <a:pathLst>
              <a:path w="3820500" h="5454611">
                <a:moveTo>
                  <a:pt x="0" y="0"/>
                </a:moveTo>
                <a:lnTo>
                  <a:pt x="3820501" y="0"/>
                </a:lnTo>
                <a:lnTo>
                  <a:pt x="3820501" y="5454611"/>
                </a:lnTo>
                <a:lnTo>
                  <a:pt x="0" y="54546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flipH="1">
            <a:off x="13731295" y="9447807"/>
            <a:ext cx="4556705" cy="839193"/>
          </a:xfrm>
          <a:custGeom>
            <a:avLst/>
            <a:gdLst/>
            <a:ahLst/>
            <a:cxnLst/>
            <a:rect l="l" t="t" r="r" b="b"/>
            <a:pathLst>
              <a:path w="4556705" h="839193">
                <a:moveTo>
                  <a:pt x="4556705" y="0"/>
                </a:moveTo>
                <a:lnTo>
                  <a:pt x="0" y="0"/>
                </a:lnTo>
                <a:lnTo>
                  <a:pt x="0" y="839193"/>
                </a:lnTo>
                <a:lnTo>
                  <a:pt x="4556705" y="839193"/>
                </a:lnTo>
                <a:lnTo>
                  <a:pt x="45567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6992689" y="2672234"/>
            <a:ext cx="10026122" cy="1692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92689" y="1460539"/>
            <a:ext cx="7669665" cy="125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RESULT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68082" y="5461735"/>
            <a:ext cx="6657285" cy="57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3399" b="1" spc="16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Signifikan Trends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68082" y="6041334"/>
            <a:ext cx="7878475" cy="2102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973731" y="1336714"/>
            <a:ext cx="6285569" cy="4557857"/>
            <a:chOff x="0" y="0"/>
            <a:chExt cx="822519" cy="5964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22519" cy="596434"/>
            </a:xfrm>
            <a:custGeom>
              <a:avLst/>
              <a:gdLst/>
              <a:ahLst/>
              <a:cxnLst/>
              <a:rect l="l" t="t" r="r" b="b"/>
              <a:pathLst>
                <a:path w="822519" h="596434">
                  <a:moveTo>
                    <a:pt x="38183" y="0"/>
                  </a:moveTo>
                  <a:lnTo>
                    <a:pt x="784337" y="0"/>
                  </a:lnTo>
                  <a:cubicBezTo>
                    <a:pt x="794463" y="0"/>
                    <a:pt x="804175" y="4023"/>
                    <a:pt x="811336" y="11183"/>
                  </a:cubicBezTo>
                  <a:cubicBezTo>
                    <a:pt x="818496" y="18344"/>
                    <a:pt x="822519" y="28056"/>
                    <a:pt x="822519" y="38183"/>
                  </a:cubicBezTo>
                  <a:lnTo>
                    <a:pt x="822519" y="558251"/>
                  </a:lnTo>
                  <a:cubicBezTo>
                    <a:pt x="822519" y="568378"/>
                    <a:pt x="818496" y="578090"/>
                    <a:pt x="811336" y="585250"/>
                  </a:cubicBezTo>
                  <a:cubicBezTo>
                    <a:pt x="804175" y="592411"/>
                    <a:pt x="794463" y="596434"/>
                    <a:pt x="784337" y="596434"/>
                  </a:cubicBezTo>
                  <a:lnTo>
                    <a:pt x="38183" y="596434"/>
                  </a:lnTo>
                  <a:cubicBezTo>
                    <a:pt x="28056" y="596434"/>
                    <a:pt x="18344" y="592411"/>
                    <a:pt x="11183" y="585250"/>
                  </a:cubicBezTo>
                  <a:cubicBezTo>
                    <a:pt x="4023" y="578090"/>
                    <a:pt x="0" y="568378"/>
                    <a:pt x="0" y="558251"/>
                  </a:cubicBezTo>
                  <a:lnTo>
                    <a:pt x="0" y="38183"/>
                  </a:lnTo>
                  <a:cubicBezTo>
                    <a:pt x="0" y="28056"/>
                    <a:pt x="4023" y="18344"/>
                    <a:pt x="11183" y="11183"/>
                  </a:cubicBezTo>
                  <a:cubicBezTo>
                    <a:pt x="18344" y="4023"/>
                    <a:pt x="28056" y="0"/>
                    <a:pt x="38183" y="0"/>
                  </a:cubicBezTo>
                  <a:close/>
                </a:path>
              </a:pathLst>
            </a:custGeom>
            <a:blipFill>
              <a:blip r:embed="rId3"/>
              <a:stretch>
                <a:fillRect l="-5248" r="-524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74335" y="3382507"/>
            <a:ext cx="8904499" cy="2512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Phasellus a lacus sit amet urna tempor sollicitudin. Cras pretium tempor elit blandit egestas.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74335" y="1914126"/>
            <a:ext cx="7669665" cy="125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FINDINGS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32763" y="6208407"/>
            <a:ext cx="15822474" cy="2941164"/>
            <a:chOff x="0" y="0"/>
            <a:chExt cx="4167236" cy="7746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167236" cy="774628"/>
            </a:xfrm>
            <a:custGeom>
              <a:avLst/>
              <a:gdLst/>
              <a:ahLst/>
              <a:cxnLst/>
              <a:rect l="l" t="t" r="r" b="b"/>
              <a:pathLst>
                <a:path w="4167236" h="774628">
                  <a:moveTo>
                    <a:pt x="12232" y="0"/>
                  </a:moveTo>
                  <a:lnTo>
                    <a:pt x="4155003" y="0"/>
                  </a:lnTo>
                  <a:cubicBezTo>
                    <a:pt x="4158248" y="0"/>
                    <a:pt x="4161359" y="1289"/>
                    <a:pt x="4163653" y="3583"/>
                  </a:cubicBezTo>
                  <a:cubicBezTo>
                    <a:pt x="4165947" y="5877"/>
                    <a:pt x="4167236" y="8988"/>
                    <a:pt x="4167236" y="12232"/>
                  </a:cubicBezTo>
                  <a:lnTo>
                    <a:pt x="4167236" y="762395"/>
                  </a:lnTo>
                  <a:cubicBezTo>
                    <a:pt x="4167236" y="765639"/>
                    <a:pt x="4165947" y="768751"/>
                    <a:pt x="4163653" y="771045"/>
                  </a:cubicBezTo>
                  <a:cubicBezTo>
                    <a:pt x="4161359" y="773339"/>
                    <a:pt x="4158248" y="774628"/>
                    <a:pt x="4155003" y="774628"/>
                  </a:cubicBezTo>
                  <a:lnTo>
                    <a:pt x="12232" y="774628"/>
                  </a:lnTo>
                  <a:cubicBezTo>
                    <a:pt x="8988" y="774628"/>
                    <a:pt x="5877" y="773339"/>
                    <a:pt x="3583" y="771045"/>
                  </a:cubicBezTo>
                  <a:cubicBezTo>
                    <a:pt x="1289" y="768751"/>
                    <a:pt x="0" y="765639"/>
                    <a:pt x="0" y="762395"/>
                  </a:cubicBezTo>
                  <a:lnTo>
                    <a:pt x="0" y="12232"/>
                  </a:lnTo>
                  <a:cubicBezTo>
                    <a:pt x="0" y="8988"/>
                    <a:pt x="1289" y="5877"/>
                    <a:pt x="3583" y="3583"/>
                  </a:cubicBezTo>
                  <a:cubicBezTo>
                    <a:pt x="5877" y="1289"/>
                    <a:pt x="8988" y="0"/>
                    <a:pt x="12232" y="0"/>
                  </a:cubicBezTo>
                  <a:close/>
                </a:path>
              </a:pathLst>
            </a:custGeom>
            <a:solidFill>
              <a:srgbClr val="00599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167236" cy="812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971702" y="6406579"/>
            <a:ext cx="5936470" cy="57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1"/>
              </a:lnSpc>
            </a:pPr>
            <a:r>
              <a:rPr lang="en-US" sz="3399" b="1" spc="16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Unexpected Finding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46999" y="7186740"/>
            <a:ext cx="14385877" cy="1283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</a:pPr>
            <a:r>
              <a:rPr lang="en-US" sz="2751" spc="13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</a:t>
            </a:r>
          </a:p>
        </p:txBody>
      </p:sp>
      <p:sp>
        <p:nvSpPr>
          <p:cNvPr id="12" name="Freeform 12"/>
          <p:cNvSpPr/>
          <p:nvPr/>
        </p:nvSpPr>
        <p:spPr>
          <a:xfrm>
            <a:off x="11125200" y="152400"/>
            <a:ext cx="7315200" cy="1792224"/>
          </a:xfrm>
          <a:custGeom>
            <a:avLst/>
            <a:gdLst/>
            <a:ahLst/>
            <a:cxnLst/>
            <a:rect l="l" t="t" r="r" b="b"/>
            <a:pathLst>
              <a:path w="7315200" h="1792224">
                <a:moveTo>
                  <a:pt x="0" y="0"/>
                </a:moveTo>
                <a:lnTo>
                  <a:pt x="7315200" y="0"/>
                </a:lnTo>
                <a:lnTo>
                  <a:pt x="7315200" y="1792224"/>
                </a:lnTo>
                <a:lnTo>
                  <a:pt x="0" y="1792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flipH="1" flipV="1">
            <a:off x="0" y="8727254"/>
            <a:ext cx="7315200" cy="1792224"/>
          </a:xfrm>
          <a:custGeom>
            <a:avLst/>
            <a:gdLst/>
            <a:ahLst/>
            <a:cxnLst/>
            <a:rect l="l" t="t" r="r" b="b"/>
            <a:pathLst>
              <a:path w="7315200" h="1792224">
                <a:moveTo>
                  <a:pt x="7315200" y="1792224"/>
                </a:moveTo>
                <a:lnTo>
                  <a:pt x="0" y="1792224"/>
                </a:lnTo>
                <a:lnTo>
                  <a:pt x="0" y="0"/>
                </a:lnTo>
                <a:lnTo>
                  <a:pt x="7315200" y="0"/>
                </a:lnTo>
                <a:lnTo>
                  <a:pt x="7315200" y="179222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36826" y="5320252"/>
            <a:ext cx="7186902" cy="3661052"/>
            <a:chOff x="0" y="0"/>
            <a:chExt cx="1892847" cy="96422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92846" cy="964228"/>
            </a:xfrm>
            <a:custGeom>
              <a:avLst/>
              <a:gdLst/>
              <a:ahLst/>
              <a:cxnLst/>
              <a:rect l="l" t="t" r="r" b="b"/>
              <a:pathLst>
                <a:path w="1892846" h="964228">
                  <a:moveTo>
                    <a:pt x="26931" y="0"/>
                  </a:moveTo>
                  <a:lnTo>
                    <a:pt x="1865916" y="0"/>
                  </a:lnTo>
                  <a:cubicBezTo>
                    <a:pt x="1873058" y="0"/>
                    <a:pt x="1879908" y="2837"/>
                    <a:pt x="1884959" y="7888"/>
                  </a:cubicBezTo>
                  <a:cubicBezTo>
                    <a:pt x="1890009" y="12938"/>
                    <a:pt x="1892846" y="19788"/>
                    <a:pt x="1892846" y="26931"/>
                  </a:cubicBezTo>
                  <a:lnTo>
                    <a:pt x="1892846" y="937297"/>
                  </a:lnTo>
                  <a:cubicBezTo>
                    <a:pt x="1892846" y="944439"/>
                    <a:pt x="1890009" y="951289"/>
                    <a:pt x="1884959" y="956340"/>
                  </a:cubicBezTo>
                  <a:cubicBezTo>
                    <a:pt x="1879908" y="961390"/>
                    <a:pt x="1873058" y="964228"/>
                    <a:pt x="1865916" y="964228"/>
                  </a:cubicBezTo>
                  <a:lnTo>
                    <a:pt x="26931" y="964228"/>
                  </a:lnTo>
                  <a:cubicBezTo>
                    <a:pt x="19788" y="964228"/>
                    <a:pt x="12938" y="961390"/>
                    <a:pt x="7888" y="956340"/>
                  </a:cubicBezTo>
                  <a:cubicBezTo>
                    <a:pt x="2837" y="951289"/>
                    <a:pt x="0" y="944439"/>
                    <a:pt x="0" y="937297"/>
                  </a:cubicBezTo>
                  <a:lnTo>
                    <a:pt x="0" y="26931"/>
                  </a:lnTo>
                  <a:cubicBezTo>
                    <a:pt x="0" y="19788"/>
                    <a:pt x="2837" y="12938"/>
                    <a:pt x="7888" y="7888"/>
                  </a:cubicBezTo>
                  <a:cubicBezTo>
                    <a:pt x="12938" y="2837"/>
                    <a:pt x="19788" y="0"/>
                    <a:pt x="26931" y="0"/>
                  </a:cubicBezTo>
                  <a:close/>
                </a:path>
              </a:pathLst>
            </a:custGeom>
            <a:solidFill>
              <a:srgbClr val="00599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92847" cy="10023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0" y="5320252"/>
            <a:ext cx="7186902" cy="3661052"/>
            <a:chOff x="0" y="0"/>
            <a:chExt cx="1892847" cy="9642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92846" cy="964228"/>
            </a:xfrm>
            <a:custGeom>
              <a:avLst/>
              <a:gdLst/>
              <a:ahLst/>
              <a:cxnLst/>
              <a:rect l="l" t="t" r="r" b="b"/>
              <a:pathLst>
                <a:path w="1892846" h="964228">
                  <a:moveTo>
                    <a:pt x="26931" y="0"/>
                  </a:moveTo>
                  <a:lnTo>
                    <a:pt x="1865916" y="0"/>
                  </a:lnTo>
                  <a:cubicBezTo>
                    <a:pt x="1873058" y="0"/>
                    <a:pt x="1879908" y="2837"/>
                    <a:pt x="1884959" y="7888"/>
                  </a:cubicBezTo>
                  <a:cubicBezTo>
                    <a:pt x="1890009" y="12938"/>
                    <a:pt x="1892846" y="19788"/>
                    <a:pt x="1892846" y="26931"/>
                  </a:cubicBezTo>
                  <a:lnTo>
                    <a:pt x="1892846" y="937297"/>
                  </a:lnTo>
                  <a:cubicBezTo>
                    <a:pt x="1892846" y="944439"/>
                    <a:pt x="1890009" y="951289"/>
                    <a:pt x="1884959" y="956340"/>
                  </a:cubicBezTo>
                  <a:cubicBezTo>
                    <a:pt x="1879908" y="961390"/>
                    <a:pt x="1873058" y="964228"/>
                    <a:pt x="1865916" y="964228"/>
                  </a:cubicBezTo>
                  <a:lnTo>
                    <a:pt x="26931" y="964228"/>
                  </a:lnTo>
                  <a:cubicBezTo>
                    <a:pt x="19788" y="964228"/>
                    <a:pt x="12938" y="961390"/>
                    <a:pt x="7888" y="956340"/>
                  </a:cubicBezTo>
                  <a:cubicBezTo>
                    <a:pt x="2837" y="951289"/>
                    <a:pt x="0" y="944439"/>
                    <a:pt x="0" y="937297"/>
                  </a:cubicBezTo>
                  <a:lnTo>
                    <a:pt x="0" y="26931"/>
                  </a:lnTo>
                  <a:cubicBezTo>
                    <a:pt x="0" y="19788"/>
                    <a:pt x="2837" y="12938"/>
                    <a:pt x="7888" y="7888"/>
                  </a:cubicBezTo>
                  <a:cubicBezTo>
                    <a:pt x="12938" y="2837"/>
                    <a:pt x="19788" y="0"/>
                    <a:pt x="26931" y="0"/>
                  </a:cubicBez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892847" cy="10023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88417" y="1347216"/>
            <a:ext cx="7623832" cy="3796284"/>
            <a:chOff x="0" y="0"/>
            <a:chExt cx="1181131" cy="58814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81131" cy="588144"/>
            </a:xfrm>
            <a:custGeom>
              <a:avLst/>
              <a:gdLst/>
              <a:ahLst/>
              <a:cxnLst/>
              <a:rect l="l" t="t" r="r" b="b"/>
              <a:pathLst>
                <a:path w="1181131" h="588144">
                  <a:moveTo>
                    <a:pt x="0" y="0"/>
                  </a:moveTo>
                  <a:lnTo>
                    <a:pt x="1181131" y="0"/>
                  </a:lnTo>
                  <a:lnTo>
                    <a:pt x="1181131" y="588144"/>
                  </a:lnTo>
                  <a:lnTo>
                    <a:pt x="0" y="588144"/>
                  </a:lnTo>
                  <a:close/>
                </a:path>
              </a:pathLst>
            </a:custGeom>
            <a:blipFill>
              <a:blip r:embed="rId3"/>
              <a:stretch>
                <a:fillRect t="-16773" b="-1677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144000" y="2899144"/>
            <a:ext cx="7894241" cy="1692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46"/>
              </a:lnSpc>
            </a:pPr>
            <a:r>
              <a:rPr lang="en-US" sz="2751" spc="13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86252" y="1687449"/>
            <a:ext cx="8950869" cy="125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DISCUSSION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14413" y="5559266"/>
            <a:ext cx="6089091" cy="57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3399" b="1" spc="16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Interpretation of Result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14413" y="6082252"/>
            <a:ext cx="6571839" cy="2512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35468" y="5559266"/>
            <a:ext cx="6695433" cy="57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3399" b="1" spc="16">
                <a:solidFill>
                  <a:srgbClr val="093F6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Practical implication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35468" y="6082252"/>
            <a:ext cx="6571839" cy="2512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093F6D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</a:t>
            </a:r>
          </a:p>
        </p:txBody>
      </p:sp>
      <p:sp>
        <p:nvSpPr>
          <p:cNvPr id="17" name="Freeform 17"/>
          <p:cNvSpPr/>
          <p:nvPr/>
        </p:nvSpPr>
        <p:spPr>
          <a:xfrm flipH="1" flipV="1">
            <a:off x="15091664" y="-2196731"/>
            <a:ext cx="4490914" cy="4114800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4490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90914" y="0"/>
                </a:lnTo>
                <a:lnTo>
                  <a:pt x="4490914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0" y="8939784"/>
            <a:ext cx="7315200" cy="1347216"/>
          </a:xfrm>
          <a:custGeom>
            <a:avLst/>
            <a:gdLst/>
            <a:ahLst/>
            <a:cxnLst/>
            <a:rect l="l" t="t" r="r" b="b"/>
            <a:pathLst>
              <a:path w="7315200" h="1347216">
                <a:moveTo>
                  <a:pt x="0" y="0"/>
                </a:moveTo>
                <a:lnTo>
                  <a:pt x="7315200" y="0"/>
                </a:lnTo>
                <a:lnTo>
                  <a:pt x="7315200" y="1347216"/>
                </a:lnTo>
                <a:lnTo>
                  <a:pt x="0" y="13472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887610" y="6536299"/>
            <a:ext cx="692481" cy="692481"/>
          </a:xfrm>
          <a:custGeom>
            <a:avLst/>
            <a:gdLst/>
            <a:ahLst/>
            <a:cxnLst/>
            <a:rect l="l" t="t" r="r" b="b"/>
            <a:pathLst>
              <a:path w="692481" h="692481">
                <a:moveTo>
                  <a:pt x="0" y="0"/>
                </a:moveTo>
                <a:lnTo>
                  <a:pt x="692481" y="0"/>
                </a:lnTo>
                <a:lnTo>
                  <a:pt x="692481" y="692481"/>
                </a:lnTo>
                <a:lnTo>
                  <a:pt x="0" y="69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1609235" y="3764235"/>
            <a:ext cx="5275870" cy="7532473"/>
          </a:xfrm>
          <a:custGeom>
            <a:avLst/>
            <a:gdLst/>
            <a:ahLst/>
            <a:cxnLst/>
            <a:rect l="l" t="t" r="r" b="b"/>
            <a:pathLst>
              <a:path w="5275870" h="7532473">
                <a:moveTo>
                  <a:pt x="0" y="0"/>
                </a:moveTo>
                <a:lnTo>
                  <a:pt x="5275870" y="0"/>
                </a:lnTo>
                <a:lnTo>
                  <a:pt x="5275870" y="7532473"/>
                </a:lnTo>
                <a:lnTo>
                  <a:pt x="0" y="75324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289859" y="3658868"/>
            <a:ext cx="13708281" cy="1692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</a:pPr>
            <a:r>
              <a:rPr lang="en-US" sz="2751" spc="13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Phasellus a lacus sit amet urna tempor sollicitudin. Cras pretium tempor elit blandit egestas.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09168" y="1914126"/>
            <a:ext cx="7669665" cy="125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89859" y="5837557"/>
            <a:ext cx="13708281" cy="1692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</a:pPr>
            <a:r>
              <a:rPr lang="en-US" sz="2751" spc="13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Phasellus a lacus sit amet urna tempor sollicitudin. Cras pretium tempor elit blandit egestas.</a:t>
            </a:r>
          </a:p>
        </p:txBody>
      </p:sp>
      <p:sp>
        <p:nvSpPr>
          <p:cNvPr id="8" name="Freeform 8"/>
          <p:cNvSpPr/>
          <p:nvPr/>
        </p:nvSpPr>
        <p:spPr>
          <a:xfrm flipH="1" flipV="1">
            <a:off x="14621365" y="0"/>
            <a:ext cx="5275870" cy="7532473"/>
          </a:xfrm>
          <a:custGeom>
            <a:avLst/>
            <a:gdLst/>
            <a:ahLst/>
            <a:cxnLst/>
            <a:rect l="l" t="t" r="r" b="b"/>
            <a:pathLst>
              <a:path w="5275870" h="7532473">
                <a:moveTo>
                  <a:pt x="5275870" y="7532473"/>
                </a:moveTo>
                <a:lnTo>
                  <a:pt x="0" y="7532473"/>
                </a:lnTo>
                <a:lnTo>
                  <a:pt x="0" y="0"/>
                </a:lnTo>
                <a:lnTo>
                  <a:pt x="5275870" y="0"/>
                </a:lnTo>
                <a:lnTo>
                  <a:pt x="5275870" y="753247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B77C720-FB14-46ED-B2D3-94C275EBFF7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26450567-c0d5-4515-9cdf-bac95fea544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2731</TotalTime>
  <Words>4315</Words>
  <Application>Microsoft Office PowerPoint</Application>
  <PresentationFormat>Custom</PresentationFormat>
  <Paragraphs>751</Paragraphs>
  <Slides>35</Slides>
  <Notes>2</Notes>
  <HiddenSlides>18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Codec Pro Bold</vt:lpstr>
      <vt:lpstr>Agency FB</vt:lpstr>
      <vt:lpstr>Aptos</vt:lpstr>
      <vt:lpstr>Arial</vt:lpstr>
      <vt:lpstr>Anton</vt:lpstr>
      <vt:lpstr>Codec Pro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Proposal</dc:title>
  <dc:creator>An Khoa</dc:creator>
  <cp:lastModifiedBy>An Khoa</cp:lastModifiedBy>
  <cp:revision>6</cp:revision>
  <dcterms:created xsi:type="dcterms:W3CDTF">2006-08-16T00:00:00Z</dcterms:created>
  <dcterms:modified xsi:type="dcterms:W3CDTF">2026-10-05T02:56:18Z</dcterms:modified>
  <dc:identifier>DAHW3RejU20</dc:identifier>
</cp:coreProperties>
</file>